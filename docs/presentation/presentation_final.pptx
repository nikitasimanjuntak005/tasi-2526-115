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x="18288000" cy="10287000"/>
  <p:notesSz cx="6858000" cy="9144000"/>
  <p:embeddedFontLst>
    <p:embeddedFont>
      <p:font typeface="Montserrat Ultra-Bold" charset="1" panose="00000900000000000000"/>
      <p:regular r:id="rId39"/>
    </p:embeddedFont>
    <p:embeddedFont>
      <p:font typeface="Montserrat Medium" charset="1" panose="00000600000000000000"/>
      <p:regular r:id="rId40"/>
    </p:embeddedFont>
    <p:embeddedFont>
      <p:font typeface="Montserrat" charset="1" panose="00000500000000000000"/>
      <p:regular r:id="rId41"/>
    </p:embeddedFont>
    <p:embeddedFont>
      <p:font typeface="Poppins Semi-Bold" charset="1" panose="00000700000000000000"/>
      <p:regular r:id="rId42"/>
    </p:embeddedFont>
    <p:embeddedFont>
      <p:font typeface="Montserrat Bold" charset="1" panose="00000800000000000000"/>
      <p:regular r:id="rId43"/>
    </p:embeddedFont>
    <p:embeddedFont>
      <p:font typeface="Montserrat Italics" charset="1" panose="00000500000000000000"/>
      <p:regular r:id="rId44"/>
    </p:embeddedFont>
    <p:embeddedFont>
      <p:font typeface="Poppins Bold" charset="1" panose="00000800000000000000"/>
      <p:regular r:id="rId45"/>
    </p:embeddedFont>
    <p:embeddedFont>
      <p:font typeface="Poppins" charset="1" panose="00000500000000000000"/>
      <p:regular r:id="rId4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jpeg" Type="http://schemas.openxmlformats.org/officeDocument/2006/relationships/image"/><Relationship Id="rId4" Target="../media/image5.png" Type="http://schemas.openxmlformats.org/officeDocument/2006/relationships/image"/><Relationship Id="rId5" Target="../media/image2.png" Type="http://schemas.openxmlformats.org/officeDocument/2006/relationships/image"/><Relationship Id="rId6" Target="../media/image6.jpeg" Type="http://schemas.openxmlformats.org/officeDocument/2006/relationships/image"/><Relationship Id="rId7" Target="../media/image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2.png" Type="http://schemas.openxmlformats.org/officeDocument/2006/relationships/image"/><Relationship Id="rId4" Target="../media/image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2.png" Type="http://schemas.openxmlformats.org/officeDocument/2006/relationships/image"/><Relationship Id="rId4" Target="../media/image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2.png" Type="http://schemas.openxmlformats.org/officeDocument/2006/relationships/image"/><Relationship Id="rId4" Target="../media/image10.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2.png" Type="http://schemas.openxmlformats.org/officeDocument/2006/relationships/image"/><Relationship Id="rId4" Target="../media/image11.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2.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2.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12.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2.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2.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13.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2.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2.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2.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14.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2.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9259" t="0" r="-9259" b="0"/>
            </a:stretch>
          </a:blipFill>
        </p:spPr>
      </p:sp>
      <p:grpSp>
        <p:nvGrpSpPr>
          <p:cNvPr name="Group 3" id="3"/>
          <p:cNvGrpSpPr/>
          <p:nvPr/>
        </p:nvGrpSpPr>
        <p:grpSpPr>
          <a:xfrm rot="0">
            <a:off x="17398178" y="-234246"/>
            <a:ext cx="330630" cy="10755493"/>
            <a:chOff x="0" y="0"/>
            <a:chExt cx="87079" cy="2832722"/>
          </a:xfrm>
        </p:grpSpPr>
        <p:sp>
          <p:nvSpPr>
            <p:cNvPr name="Freeform 4" id="4"/>
            <p:cNvSpPr/>
            <p:nvPr/>
          </p:nvSpPr>
          <p:spPr>
            <a:xfrm flipH="false" flipV="false" rot="0">
              <a:off x="0" y="0"/>
              <a:ext cx="87079" cy="2832722"/>
            </a:xfrm>
            <a:custGeom>
              <a:avLst/>
              <a:gdLst/>
              <a:ahLst/>
              <a:cxnLst/>
              <a:rect r="r" b="b" t="t" l="l"/>
              <a:pathLst>
                <a:path h="2832722" w="87079">
                  <a:moveTo>
                    <a:pt x="0" y="0"/>
                  </a:moveTo>
                  <a:lnTo>
                    <a:pt x="87079" y="0"/>
                  </a:lnTo>
                  <a:lnTo>
                    <a:pt x="87079" y="2832722"/>
                  </a:lnTo>
                  <a:lnTo>
                    <a:pt x="0" y="2832722"/>
                  </a:lnTo>
                  <a:close/>
                </a:path>
              </a:pathLst>
            </a:custGeom>
            <a:solidFill>
              <a:srgbClr val="002254"/>
            </a:solidFill>
          </p:spPr>
        </p:sp>
        <p:sp>
          <p:nvSpPr>
            <p:cNvPr name="TextBox 5" id="5"/>
            <p:cNvSpPr txBox="true"/>
            <p:nvPr/>
          </p:nvSpPr>
          <p:spPr>
            <a:xfrm>
              <a:off x="0" y="-38100"/>
              <a:ext cx="87079" cy="2870822"/>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6723937" y="-234246"/>
            <a:ext cx="330630" cy="10755493"/>
            <a:chOff x="0" y="0"/>
            <a:chExt cx="87079" cy="2832722"/>
          </a:xfrm>
        </p:grpSpPr>
        <p:sp>
          <p:nvSpPr>
            <p:cNvPr name="Freeform 7" id="7"/>
            <p:cNvSpPr/>
            <p:nvPr/>
          </p:nvSpPr>
          <p:spPr>
            <a:xfrm flipH="false" flipV="false" rot="0">
              <a:off x="0" y="0"/>
              <a:ext cx="87079" cy="2832722"/>
            </a:xfrm>
            <a:custGeom>
              <a:avLst/>
              <a:gdLst/>
              <a:ahLst/>
              <a:cxnLst/>
              <a:rect r="r" b="b" t="t" l="l"/>
              <a:pathLst>
                <a:path h="2832722" w="87079">
                  <a:moveTo>
                    <a:pt x="0" y="0"/>
                  </a:moveTo>
                  <a:lnTo>
                    <a:pt x="87079" y="0"/>
                  </a:lnTo>
                  <a:lnTo>
                    <a:pt x="87079" y="2832722"/>
                  </a:lnTo>
                  <a:lnTo>
                    <a:pt x="0" y="2832722"/>
                  </a:lnTo>
                  <a:close/>
                </a:path>
              </a:pathLst>
            </a:custGeom>
            <a:solidFill>
              <a:srgbClr val="002254"/>
            </a:solidFill>
          </p:spPr>
        </p:sp>
        <p:sp>
          <p:nvSpPr>
            <p:cNvPr name="TextBox 8" id="8"/>
            <p:cNvSpPr txBox="true"/>
            <p:nvPr/>
          </p:nvSpPr>
          <p:spPr>
            <a:xfrm>
              <a:off x="0" y="-38100"/>
              <a:ext cx="87079" cy="2870822"/>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028700" y="3409942"/>
            <a:ext cx="12072940" cy="3079748"/>
          </a:xfrm>
          <a:prstGeom prst="rect">
            <a:avLst/>
          </a:prstGeom>
        </p:spPr>
        <p:txBody>
          <a:bodyPr anchor="t" rtlCol="false" tIns="0" lIns="0" bIns="0" rIns="0">
            <a:spAutoFit/>
          </a:bodyPr>
          <a:lstStyle/>
          <a:p>
            <a:pPr algn="l">
              <a:lnSpc>
                <a:spcPts val="4849"/>
              </a:lnSpc>
            </a:pPr>
            <a:r>
              <a:rPr lang="en-US" sz="4999" b="true">
                <a:solidFill>
                  <a:srgbClr val="002254"/>
                </a:solidFill>
                <a:latin typeface="Montserrat Ultra-Bold"/>
                <a:ea typeface="Montserrat Ultra-Bold"/>
                <a:cs typeface="Montserrat Ultra-Bold"/>
                <a:sym typeface="Montserrat Ultra-Bold"/>
              </a:rPr>
              <a:t>HYBRID STACKING ENSEMBLE INTEGRATED WITH RULE-BASED FILTERING FOR PHISHING WEBSITE DETECTION: A PERFORMANCE AND EXPLAINABILITY STUDY</a:t>
            </a:r>
          </a:p>
        </p:txBody>
      </p:sp>
      <p:sp>
        <p:nvSpPr>
          <p:cNvPr name="TextBox 10" id="10"/>
          <p:cNvSpPr txBox="true"/>
          <p:nvPr/>
        </p:nvSpPr>
        <p:spPr>
          <a:xfrm rot="0">
            <a:off x="1028700" y="6933645"/>
            <a:ext cx="7717514" cy="606415"/>
          </a:xfrm>
          <a:prstGeom prst="rect">
            <a:avLst/>
          </a:prstGeom>
        </p:spPr>
        <p:txBody>
          <a:bodyPr anchor="t" rtlCol="false" tIns="0" lIns="0" bIns="0" rIns="0">
            <a:spAutoFit/>
          </a:bodyPr>
          <a:lstStyle/>
          <a:p>
            <a:pPr algn="l">
              <a:lnSpc>
                <a:spcPts val="4900"/>
              </a:lnSpc>
            </a:pPr>
            <a:r>
              <a:rPr lang="en-US" sz="3500" b="true">
                <a:solidFill>
                  <a:srgbClr val="002254"/>
                </a:solidFill>
                <a:latin typeface="Montserrat Ultra-Bold"/>
                <a:ea typeface="Montserrat Ultra-Bold"/>
                <a:cs typeface="Montserrat Ultra-Bold"/>
                <a:sym typeface="Montserrat Ultra-Bold"/>
              </a:rPr>
              <a:t>TASI-2526-115</a:t>
            </a:r>
          </a:p>
        </p:txBody>
      </p:sp>
      <p:sp>
        <p:nvSpPr>
          <p:cNvPr name="TextBox 11" id="11"/>
          <p:cNvSpPr txBox="true"/>
          <p:nvPr/>
        </p:nvSpPr>
        <p:spPr>
          <a:xfrm rot="0">
            <a:off x="1028700" y="8012714"/>
            <a:ext cx="10398963" cy="1298639"/>
          </a:xfrm>
          <a:prstGeom prst="rect">
            <a:avLst/>
          </a:prstGeom>
        </p:spPr>
        <p:txBody>
          <a:bodyPr anchor="t" rtlCol="false" tIns="0" lIns="0" bIns="0" rIns="0">
            <a:spAutoFit/>
          </a:bodyPr>
          <a:lstStyle/>
          <a:p>
            <a:pPr algn="l">
              <a:lnSpc>
                <a:spcPts val="3500"/>
              </a:lnSpc>
            </a:pPr>
            <a:r>
              <a:rPr lang="en-US" sz="2500" b="true">
                <a:solidFill>
                  <a:srgbClr val="002254"/>
                </a:solidFill>
                <a:latin typeface="Montserrat Medium"/>
                <a:ea typeface="Montserrat Medium"/>
                <a:cs typeface="Montserrat Medium"/>
                <a:sym typeface="Montserrat Medium"/>
              </a:rPr>
              <a:t>Supervisor  : Sarah Rosdiana Tambunan, S.Kom.,M.Cs.</a:t>
            </a:r>
          </a:p>
          <a:p>
            <a:pPr algn="l">
              <a:lnSpc>
                <a:spcPts val="3500"/>
              </a:lnSpc>
            </a:pPr>
            <a:r>
              <a:rPr lang="en-US" sz="2500" b="true">
                <a:solidFill>
                  <a:srgbClr val="002254"/>
                </a:solidFill>
                <a:latin typeface="Montserrat Medium"/>
                <a:ea typeface="Montserrat Medium"/>
                <a:cs typeface="Montserrat Medium"/>
                <a:sym typeface="Montserrat Medium"/>
              </a:rPr>
              <a:t>Exeminer I  : Junita Amalia, S.Pd., M.Si</a:t>
            </a:r>
          </a:p>
          <a:p>
            <a:pPr algn="l">
              <a:lnSpc>
                <a:spcPts val="3500"/>
              </a:lnSpc>
            </a:pPr>
            <a:r>
              <a:rPr lang="en-US" sz="2500" b="true">
                <a:solidFill>
                  <a:srgbClr val="002254"/>
                </a:solidFill>
                <a:latin typeface="Montserrat Medium"/>
                <a:ea typeface="Montserrat Medium"/>
                <a:cs typeface="Montserrat Medium"/>
                <a:sym typeface="Montserrat Medium"/>
              </a:rPr>
              <a:t>Exeminer II : Chandro Pardede, S.Kom., M.Sc.</a:t>
            </a:r>
          </a:p>
        </p:txBody>
      </p:sp>
      <p:sp>
        <p:nvSpPr>
          <p:cNvPr name="TextBox 12" id="12"/>
          <p:cNvSpPr txBox="true"/>
          <p:nvPr/>
        </p:nvSpPr>
        <p:spPr>
          <a:xfrm rot="0">
            <a:off x="1028700" y="2206811"/>
            <a:ext cx="7717514" cy="606415"/>
          </a:xfrm>
          <a:prstGeom prst="rect">
            <a:avLst/>
          </a:prstGeom>
        </p:spPr>
        <p:txBody>
          <a:bodyPr anchor="t" rtlCol="false" tIns="0" lIns="0" bIns="0" rIns="0">
            <a:spAutoFit/>
          </a:bodyPr>
          <a:lstStyle/>
          <a:p>
            <a:pPr algn="l">
              <a:lnSpc>
                <a:spcPts val="4900"/>
              </a:lnSpc>
            </a:pPr>
            <a:r>
              <a:rPr lang="en-US" sz="3500">
                <a:solidFill>
                  <a:srgbClr val="002254"/>
                </a:solidFill>
                <a:latin typeface="Montserrat"/>
                <a:ea typeface="Montserrat"/>
                <a:cs typeface="Montserrat"/>
                <a:sym typeface="Montserrat"/>
              </a:rPr>
              <a:t>Sidang Akhir</a:t>
            </a:r>
          </a:p>
        </p:txBody>
      </p:sp>
      <p:sp>
        <p:nvSpPr>
          <p:cNvPr name="Freeform 13" id="13"/>
          <p:cNvSpPr/>
          <p:nvPr/>
        </p:nvSpPr>
        <p:spPr>
          <a:xfrm flipH="false" flipV="false" rot="0">
            <a:off x="692764" y="400218"/>
            <a:ext cx="963762" cy="963762"/>
          </a:xfrm>
          <a:custGeom>
            <a:avLst/>
            <a:gdLst/>
            <a:ahLst/>
            <a:cxnLst/>
            <a:rect r="r" b="b" t="t" l="l"/>
            <a:pathLst>
              <a:path h="963762" w="963762">
                <a:moveTo>
                  <a:pt x="0" y="0"/>
                </a:moveTo>
                <a:lnTo>
                  <a:pt x="963761" y="0"/>
                </a:lnTo>
                <a:lnTo>
                  <a:pt x="963761" y="963762"/>
                </a:lnTo>
                <a:lnTo>
                  <a:pt x="0" y="963762"/>
                </a:lnTo>
                <a:lnTo>
                  <a:pt x="0" y="0"/>
                </a:lnTo>
                <a:close/>
              </a:path>
            </a:pathLst>
          </a:custGeom>
          <a:blipFill>
            <a:blip r:embed="rId3"/>
            <a:stretch>
              <a:fillRect l="0" t="0" r="0" b="0"/>
            </a:stretch>
          </a:blipFill>
        </p:spPr>
      </p:sp>
      <p:sp>
        <p:nvSpPr>
          <p:cNvPr name="TextBox 14" id="14"/>
          <p:cNvSpPr txBox="true"/>
          <p:nvPr/>
        </p:nvSpPr>
        <p:spPr>
          <a:xfrm rot="0">
            <a:off x="1864064" y="681990"/>
            <a:ext cx="3686274" cy="346710"/>
          </a:xfrm>
          <a:prstGeom prst="rect">
            <a:avLst/>
          </a:prstGeom>
        </p:spPr>
        <p:txBody>
          <a:bodyPr anchor="t" rtlCol="false" tIns="0" lIns="0" bIns="0" rIns="0">
            <a:spAutoFit/>
          </a:bodyPr>
          <a:lstStyle/>
          <a:p>
            <a:pPr algn="ctr">
              <a:lnSpc>
                <a:spcPts val="2400"/>
              </a:lnSpc>
              <a:spcBef>
                <a:spcPct val="0"/>
              </a:spcBef>
            </a:pPr>
            <a:r>
              <a:rPr lang="en-US" b="true" sz="2400">
                <a:solidFill>
                  <a:srgbClr val="0B3454"/>
                </a:solidFill>
                <a:latin typeface="Poppins Semi-Bold"/>
                <a:ea typeface="Poppins Semi-Bold"/>
                <a:cs typeface="Poppins Semi-Bold"/>
                <a:sym typeface="Poppins Semi-Bold"/>
              </a:rPr>
              <a:t>INSTITUT TEKNOLOGI DEL</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9259" t="0" r="-9259" b="0"/>
            </a:stretch>
          </a:blipFill>
        </p:spPr>
      </p:sp>
      <p:grpSp>
        <p:nvGrpSpPr>
          <p:cNvPr name="Group 3" id="3"/>
          <p:cNvGrpSpPr/>
          <p:nvPr/>
        </p:nvGrpSpPr>
        <p:grpSpPr>
          <a:xfrm rot="0">
            <a:off x="1250540" y="3951991"/>
            <a:ext cx="3898354" cy="3898354"/>
            <a:chOff x="0" y="0"/>
            <a:chExt cx="13716000" cy="13716000"/>
          </a:xfrm>
        </p:grpSpPr>
        <p:sp>
          <p:nvSpPr>
            <p:cNvPr name="Freeform 4" id="4"/>
            <p:cNvSpPr/>
            <p:nvPr/>
          </p:nvSpPr>
          <p:spPr>
            <a:xfrm flipH="false" flipV="false" rot="0">
              <a:off x="0" y="0"/>
              <a:ext cx="13716000" cy="13716000"/>
            </a:xfrm>
            <a:custGeom>
              <a:avLst/>
              <a:gdLst/>
              <a:ahLst/>
              <a:cxnLst/>
              <a:rect r="r" b="b" t="t" l="l"/>
              <a:pathLst>
                <a:path h="13716000" w="13716000">
                  <a:moveTo>
                    <a:pt x="6858000" y="0"/>
                  </a:moveTo>
                  <a:cubicBezTo>
                    <a:pt x="3070431" y="0"/>
                    <a:pt x="0" y="3070431"/>
                    <a:pt x="0" y="6858000"/>
                  </a:cubicBezTo>
                  <a:cubicBezTo>
                    <a:pt x="0" y="10645569"/>
                    <a:pt x="3070431" y="13716000"/>
                    <a:pt x="6858000" y="13716000"/>
                  </a:cubicBezTo>
                  <a:cubicBezTo>
                    <a:pt x="10645569" y="13716000"/>
                    <a:pt x="13716000" y="10645569"/>
                    <a:pt x="13716000" y="6858000"/>
                  </a:cubicBezTo>
                  <a:cubicBezTo>
                    <a:pt x="13716000" y="3070431"/>
                    <a:pt x="10645569" y="0"/>
                    <a:pt x="6858000" y="0"/>
                  </a:cubicBezTo>
                  <a:close/>
                </a:path>
              </a:pathLst>
            </a:custGeom>
            <a:blipFill>
              <a:blip r:embed="rId3"/>
              <a:stretch>
                <a:fillRect l="-78303" t="0" r="-78303" b="0"/>
              </a:stretch>
            </a:blipFill>
          </p:spPr>
        </p:sp>
      </p:grpSp>
      <p:grpSp>
        <p:nvGrpSpPr>
          <p:cNvPr name="Group 5" id="5"/>
          <p:cNvGrpSpPr/>
          <p:nvPr/>
        </p:nvGrpSpPr>
        <p:grpSpPr>
          <a:xfrm rot="0">
            <a:off x="13139106" y="3799591"/>
            <a:ext cx="3898354" cy="3898354"/>
            <a:chOff x="0" y="0"/>
            <a:chExt cx="13716000" cy="13716000"/>
          </a:xfrm>
        </p:grpSpPr>
        <p:sp>
          <p:nvSpPr>
            <p:cNvPr name="Freeform 6" id="6"/>
            <p:cNvSpPr/>
            <p:nvPr/>
          </p:nvSpPr>
          <p:spPr>
            <a:xfrm flipH="false" flipV="false" rot="0">
              <a:off x="0" y="0"/>
              <a:ext cx="13716000" cy="13716000"/>
            </a:xfrm>
            <a:custGeom>
              <a:avLst/>
              <a:gdLst/>
              <a:ahLst/>
              <a:cxnLst/>
              <a:rect r="r" b="b" t="t" l="l"/>
              <a:pathLst>
                <a:path h="13716000" w="13716000">
                  <a:moveTo>
                    <a:pt x="6858000" y="0"/>
                  </a:moveTo>
                  <a:cubicBezTo>
                    <a:pt x="3070431" y="0"/>
                    <a:pt x="0" y="3070431"/>
                    <a:pt x="0" y="6858000"/>
                  </a:cubicBezTo>
                  <a:cubicBezTo>
                    <a:pt x="0" y="10645569"/>
                    <a:pt x="3070431" y="13716000"/>
                    <a:pt x="6858000" y="13716000"/>
                  </a:cubicBezTo>
                  <a:cubicBezTo>
                    <a:pt x="10645569" y="13716000"/>
                    <a:pt x="13716000" y="10645569"/>
                    <a:pt x="13716000" y="6858000"/>
                  </a:cubicBezTo>
                  <a:cubicBezTo>
                    <a:pt x="13716000" y="3070431"/>
                    <a:pt x="10645569" y="0"/>
                    <a:pt x="6858000" y="0"/>
                  </a:cubicBezTo>
                  <a:close/>
                </a:path>
              </a:pathLst>
            </a:custGeom>
            <a:blipFill>
              <a:blip r:embed="rId4"/>
              <a:stretch>
                <a:fillRect l="0" t="-3420" r="0" b="-46673"/>
              </a:stretch>
            </a:blipFill>
          </p:spPr>
        </p:sp>
      </p:grpSp>
      <p:sp>
        <p:nvSpPr>
          <p:cNvPr name="Freeform 7" id="7"/>
          <p:cNvSpPr/>
          <p:nvPr/>
        </p:nvSpPr>
        <p:spPr>
          <a:xfrm flipH="false" flipV="false" rot="0">
            <a:off x="692764" y="400218"/>
            <a:ext cx="963762" cy="963762"/>
          </a:xfrm>
          <a:custGeom>
            <a:avLst/>
            <a:gdLst/>
            <a:ahLst/>
            <a:cxnLst/>
            <a:rect r="r" b="b" t="t" l="l"/>
            <a:pathLst>
              <a:path h="963762" w="963762">
                <a:moveTo>
                  <a:pt x="0" y="0"/>
                </a:moveTo>
                <a:lnTo>
                  <a:pt x="963761" y="0"/>
                </a:lnTo>
                <a:lnTo>
                  <a:pt x="963761" y="963762"/>
                </a:lnTo>
                <a:lnTo>
                  <a:pt x="0" y="963762"/>
                </a:lnTo>
                <a:lnTo>
                  <a:pt x="0" y="0"/>
                </a:lnTo>
                <a:close/>
              </a:path>
            </a:pathLst>
          </a:custGeom>
          <a:blipFill>
            <a:blip r:embed="rId5"/>
            <a:stretch>
              <a:fillRect l="0" t="0" r="0" b="0"/>
            </a:stretch>
          </a:blipFill>
        </p:spPr>
      </p:sp>
      <p:grpSp>
        <p:nvGrpSpPr>
          <p:cNvPr name="Group 8" id="8"/>
          <p:cNvGrpSpPr/>
          <p:nvPr/>
        </p:nvGrpSpPr>
        <p:grpSpPr>
          <a:xfrm rot="0">
            <a:off x="7194823" y="3951991"/>
            <a:ext cx="3898354" cy="3898354"/>
            <a:chOff x="0" y="0"/>
            <a:chExt cx="13716000" cy="13716000"/>
          </a:xfrm>
        </p:grpSpPr>
        <p:sp>
          <p:nvSpPr>
            <p:cNvPr name="Freeform 9" id="9"/>
            <p:cNvSpPr/>
            <p:nvPr/>
          </p:nvSpPr>
          <p:spPr>
            <a:xfrm flipH="false" flipV="false" rot="0">
              <a:off x="0" y="0"/>
              <a:ext cx="13716000" cy="13716000"/>
            </a:xfrm>
            <a:custGeom>
              <a:avLst/>
              <a:gdLst/>
              <a:ahLst/>
              <a:cxnLst/>
              <a:rect r="r" b="b" t="t" l="l"/>
              <a:pathLst>
                <a:path h="13716000" w="13716000">
                  <a:moveTo>
                    <a:pt x="6858000" y="0"/>
                  </a:moveTo>
                  <a:cubicBezTo>
                    <a:pt x="3070431" y="0"/>
                    <a:pt x="0" y="3070431"/>
                    <a:pt x="0" y="6858000"/>
                  </a:cubicBezTo>
                  <a:cubicBezTo>
                    <a:pt x="0" y="10645569"/>
                    <a:pt x="3070431" y="13716000"/>
                    <a:pt x="6858000" y="13716000"/>
                  </a:cubicBezTo>
                  <a:cubicBezTo>
                    <a:pt x="10645569" y="13716000"/>
                    <a:pt x="13716000" y="10645569"/>
                    <a:pt x="13716000" y="6858000"/>
                  </a:cubicBezTo>
                  <a:cubicBezTo>
                    <a:pt x="13716000" y="3070431"/>
                    <a:pt x="10645569" y="0"/>
                    <a:pt x="6858000" y="0"/>
                  </a:cubicBezTo>
                  <a:close/>
                </a:path>
              </a:pathLst>
            </a:custGeom>
            <a:blipFill>
              <a:blip r:embed="rId6"/>
              <a:stretch>
                <a:fillRect l="0" t="-25046" r="0" b="-25046"/>
              </a:stretch>
            </a:blipFill>
          </p:spPr>
        </p:sp>
      </p:grpSp>
      <p:sp>
        <p:nvSpPr>
          <p:cNvPr name="TextBox 10" id="10"/>
          <p:cNvSpPr txBox="true"/>
          <p:nvPr/>
        </p:nvSpPr>
        <p:spPr>
          <a:xfrm rot="0">
            <a:off x="5285243" y="1566578"/>
            <a:ext cx="7717514" cy="1028750"/>
          </a:xfrm>
          <a:prstGeom prst="rect">
            <a:avLst/>
          </a:prstGeom>
        </p:spPr>
        <p:txBody>
          <a:bodyPr anchor="t" rtlCol="false" tIns="0" lIns="0" bIns="0" rIns="0">
            <a:spAutoFit/>
          </a:bodyPr>
          <a:lstStyle/>
          <a:p>
            <a:pPr algn="ctr">
              <a:lnSpc>
                <a:spcPts val="8400"/>
              </a:lnSpc>
            </a:pPr>
            <a:r>
              <a:rPr lang="en-US" sz="6000" b="true">
                <a:solidFill>
                  <a:srgbClr val="002254"/>
                </a:solidFill>
                <a:latin typeface="Montserrat Ultra-Bold"/>
                <a:ea typeface="Montserrat Ultra-Bold"/>
                <a:cs typeface="Montserrat Ultra-Bold"/>
                <a:sym typeface="Montserrat Ultra-Bold"/>
              </a:rPr>
              <a:t>TASI-2526-115</a:t>
            </a:r>
          </a:p>
        </p:txBody>
      </p:sp>
      <p:sp>
        <p:nvSpPr>
          <p:cNvPr name="TextBox 11" id="11"/>
          <p:cNvSpPr txBox="true"/>
          <p:nvPr/>
        </p:nvSpPr>
        <p:spPr>
          <a:xfrm rot="0">
            <a:off x="1030749" y="8397836"/>
            <a:ext cx="4342034" cy="860464"/>
          </a:xfrm>
          <a:prstGeom prst="rect">
            <a:avLst/>
          </a:prstGeom>
        </p:spPr>
        <p:txBody>
          <a:bodyPr anchor="t" rtlCol="false" tIns="0" lIns="0" bIns="0" rIns="0">
            <a:spAutoFit/>
          </a:bodyPr>
          <a:lstStyle/>
          <a:p>
            <a:pPr algn="ctr">
              <a:lnSpc>
                <a:spcPts val="3500"/>
              </a:lnSpc>
            </a:pPr>
            <a:r>
              <a:rPr lang="en-US" sz="2500" b="true">
                <a:solidFill>
                  <a:srgbClr val="002254"/>
                </a:solidFill>
                <a:latin typeface="Montserrat Bold"/>
                <a:ea typeface="Montserrat Bold"/>
                <a:cs typeface="Montserrat Bold"/>
                <a:sym typeface="Montserrat Bold"/>
              </a:rPr>
              <a:t>12S22005 </a:t>
            </a:r>
          </a:p>
          <a:p>
            <a:pPr algn="ctr">
              <a:lnSpc>
                <a:spcPts val="3500"/>
              </a:lnSpc>
            </a:pPr>
            <a:r>
              <a:rPr lang="en-US" sz="2500">
                <a:solidFill>
                  <a:srgbClr val="002254"/>
                </a:solidFill>
                <a:latin typeface="Montserrat"/>
                <a:ea typeface="Montserrat"/>
                <a:cs typeface="Montserrat"/>
                <a:sym typeface="Montserrat"/>
              </a:rPr>
              <a:t>Nikita Simanjuntak</a:t>
            </a:r>
          </a:p>
        </p:txBody>
      </p:sp>
      <p:sp>
        <p:nvSpPr>
          <p:cNvPr name="TextBox 12" id="12"/>
          <p:cNvSpPr txBox="true"/>
          <p:nvPr/>
        </p:nvSpPr>
        <p:spPr>
          <a:xfrm rot="0">
            <a:off x="6972983" y="8288496"/>
            <a:ext cx="4342034" cy="860464"/>
          </a:xfrm>
          <a:prstGeom prst="rect">
            <a:avLst/>
          </a:prstGeom>
        </p:spPr>
        <p:txBody>
          <a:bodyPr anchor="t" rtlCol="false" tIns="0" lIns="0" bIns="0" rIns="0">
            <a:spAutoFit/>
          </a:bodyPr>
          <a:lstStyle/>
          <a:p>
            <a:pPr algn="ctr">
              <a:lnSpc>
                <a:spcPts val="3500"/>
              </a:lnSpc>
            </a:pPr>
            <a:r>
              <a:rPr lang="en-US" sz="2500" b="true">
                <a:solidFill>
                  <a:srgbClr val="002254"/>
                </a:solidFill>
                <a:latin typeface="Montserrat Bold"/>
                <a:ea typeface="Montserrat Bold"/>
                <a:cs typeface="Montserrat Bold"/>
                <a:sym typeface="Montserrat Bold"/>
              </a:rPr>
              <a:t>12S22022</a:t>
            </a:r>
          </a:p>
          <a:p>
            <a:pPr algn="ctr">
              <a:lnSpc>
                <a:spcPts val="3500"/>
              </a:lnSpc>
            </a:pPr>
            <a:r>
              <a:rPr lang="en-US" sz="2500">
                <a:solidFill>
                  <a:srgbClr val="002254"/>
                </a:solidFill>
                <a:latin typeface="Montserrat"/>
                <a:ea typeface="Montserrat"/>
                <a:cs typeface="Montserrat"/>
                <a:sym typeface="Montserrat"/>
              </a:rPr>
              <a:t>Grace Arintya Siahaan</a:t>
            </a:r>
          </a:p>
        </p:txBody>
      </p:sp>
      <p:sp>
        <p:nvSpPr>
          <p:cNvPr name="TextBox 13" id="13"/>
          <p:cNvSpPr txBox="true"/>
          <p:nvPr/>
        </p:nvSpPr>
        <p:spPr>
          <a:xfrm rot="0">
            <a:off x="12917266" y="8397836"/>
            <a:ext cx="4342034" cy="860464"/>
          </a:xfrm>
          <a:prstGeom prst="rect">
            <a:avLst/>
          </a:prstGeom>
        </p:spPr>
        <p:txBody>
          <a:bodyPr anchor="t" rtlCol="false" tIns="0" lIns="0" bIns="0" rIns="0">
            <a:spAutoFit/>
          </a:bodyPr>
          <a:lstStyle/>
          <a:p>
            <a:pPr algn="ctr">
              <a:lnSpc>
                <a:spcPts val="3500"/>
              </a:lnSpc>
            </a:pPr>
            <a:r>
              <a:rPr lang="en-US" sz="2500" b="true">
                <a:solidFill>
                  <a:srgbClr val="002254"/>
                </a:solidFill>
                <a:latin typeface="Montserrat Bold"/>
                <a:ea typeface="Montserrat Bold"/>
                <a:cs typeface="Montserrat Bold"/>
                <a:sym typeface="Montserrat Bold"/>
              </a:rPr>
              <a:t>12S22026</a:t>
            </a:r>
          </a:p>
          <a:p>
            <a:pPr algn="ctr">
              <a:lnSpc>
                <a:spcPts val="3500"/>
              </a:lnSpc>
            </a:pPr>
            <a:r>
              <a:rPr lang="en-US" sz="2500">
                <a:solidFill>
                  <a:srgbClr val="002254"/>
                </a:solidFill>
                <a:latin typeface="Montserrat"/>
                <a:ea typeface="Montserrat"/>
                <a:cs typeface="Montserrat"/>
                <a:sym typeface="Montserrat"/>
              </a:rPr>
              <a:t>Ruben Sianipar</a:t>
            </a:r>
          </a:p>
        </p:txBody>
      </p:sp>
      <p:sp>
        <p:nvSpPr>
          <p:cNvPr name="TextBox 14" id="14"/>
          <p:cNvSpPr txBox="true"/>
          <p:nvPr/>
        </p:nvSpPr>
        <p:spPr>
          <a:xfrm rot="0">
            <a:off x="1864064" y="681990"/>
            <a:ext cx="3686274" cy="346710"/>
          </a:xfrm>
          <a:prstGeom prst="rect">
            <a:avLst/>
          </a:prstGeom>
        </p:spPr>
        <p:txBody>
          <a:bodyPr anchor="t" rtlCol="false" tIns="0" lIns="0" bIns="0" rIns="0">
            <a:spAutoFit/>
          </a:bodyPr>
          <a:lstStyle/>
          <a:p>
            <a:pPr algn="ctr">
              <a:lnSpc>
                <a:spcPts val="2400"/>
              </a:lnSpc>
              <a:spcBef>
                <a:spcPct val="0"/>
              </a:spcBef>
            </a:pPr>
            <a:r>
              <a:rPr lang="en-US" b="true" sz="2400">
                <a:solidFill>
                  <a:srgbClr val="0B3454"/>
                </a:solidFill>
                <a:latin typeface="Poppins Semi-Bold"/>
                <a:ea typeface="Poppins Semi-Bold"/>
                <a:cs typeface="Poppins Semi-Bold"/>
                <a:sym typeface="Poppins Semi-Bold"/>
              </a:rPr>
              <a:t>INSTITUT TEKNOLOGI DEL</a:t>
            </a:r>
          </a:p>
        </p:txBody>
      </p:sp>
      <p:grpSp>
        <p:nvGrpSpPr>
          <p:cNvPr name="Group 15" id="15"/>
          <p:cNvGrpSpPr/>
          <p:nvPr/>
        </p:nvGrpSpPr>
        <p:grpSpPr>
          <a:xfrm rot="0">
            <a:off x="1248593" y="3951991"/>
            <a:ext cx="3898354" cy="3898354"/>
            <a:chOff x="0" y="0"/>
            <a:chExt cx="13716000" cy="13716000"/>
          </a:xfrm>
        </p:grpSpPr>
        <p:sp>
          <p:nvSpPr>
            <p:cNvPr name="Freeform 16" id="16"/>
            <p:cNvSpPr/>
            <p:nvPr/>
          </p:nvSpPr>
          <p:spPr>
            <a:xfrm flipH="false" flipV="false" rot="0">
              <a:off x="0" y="0"/>
              <a:ext cx="13716000" cy="13716000"/>
            </a:xfrm>
            <a:custGeom>
              <a:avLst/>
              <a:gdLst/>
              <a:ahLst/>
              <a:cxnLst/>
              <a:rect r="r" b="b" t="t" l="l"/>
              <a:pathLst>
                <a:path h="13716000" w="13716000">
                  <a:moveTo>
                    <a:pt x="6858000" y="0"/>
                  </a:moveTo>
                  <a:cubicBezTo>
                    <a:pt x="3070431" y="0"/>
                    <a:pt x="0" y="3070431"/>
                    <a:pt x="0" y="6858000"/>
                  </a:cubicBezTo>
                  <a:cubicBezTo>
                    <a:pt x="0" y="10645569"/>
                    <a:pt x="3070431" y="13716000"/>
                    <a:pt x="6858000" y="13716000"/>
                  </a:cubicBezTo>
                  <a:cubicBezTo>
                    <a:pt x="10645569" y="13716000"/>
                    <a:pt x="13716000" y="10645569"/>
                    <a:pt x="13716000" y="6858000"/>
                  </a:cubicBezTo>
                  <a:cubicBezTo>
                    <a:pt x="13716000" y="3070431"/>
                    <a:pt x="10645569" y="0"/>
                    <a:pt x="6858000" y="0"/>
                  </a:cubicBezTo>
                  <a:close/>
                </a:path>
              </a:pathLst>
            </a:custGeom>
            <a:blipFill>
              <a:blip r:embed="rId7"/>
              <a:stretch>
                <a:fillRect l="0" t="-16666" r="0" b="-16666"/>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9259" t="0" r="-9259" b="0"/>
            </a:stretch>
          </a:blipFill>
        </p:spPr>
      </p:sp>
      <p:grpSp>
        <p:nvGrpSpPr>
          <p:cNvPr name="Group 3" id="3"/>
          <p:cNvGrpSpPr/>
          <p:nvPr/>
        </p:nvGrpSpPr>
        <p:grpSpPr>
          <a:xfrm rot="0">
            <a:off x="-337463" y="-235409"/>
            <a:ext cx="2060453" cy="11245354"/>
            <a:chOff x="0" y="0"/>
            <a:chExt cx="542671" cy="2961739"/>
          </a:xfrm>
        </p:grpSpPr>
        <p:sp>
          <p:nvSpPr>
            <p:cNvPr name="Freeform 4" id="4"/>
            <p:cNvSpPr/>
            <p:nvPr/>
          </p:nvSpPr>
          <p:spPr>
            <a:xfrm flipH="false" flipV="false" rot="0">
              <a:off x="0" y="0"/>
              <a:ext cx="542671" cy="2961739"/>
            </a:xfrm>
            <a:custGeom>
              <a:avLst/>
              <a:gdLst/>
              <a:ahLst/>
              <a:cxnLst/>
              <a:rect r="r" b="b" t="t" l="l"/>
              <a:pathLst>
                <a:path h="2961739" w="542671">
                  <a:moveTo>
                    <a:pt x="0" y="0"/>
                  </a:moveTo>
                  <a:lnTo>
                    <a:pt x="542671" y="0"/>
                  </a:lnTo>
                  <a:lnTo>
                    <a:pt x="542671" y="2961739"/>
                  </a:lnTo>
                  <a:lnTo>
                    <a:pt x="0" y="2961739"/>
                  </a:lnTo>
                  <a:close/>
                </a:path>
              </a:pathLst>
            </a:custGeom>
            <a:solidFill>
              <a:srgbClr val="002254"/>
            </a:solidFill>
          </p:spPr>
        </p:sp>
        <p:sp>
          <p:nvSpPr>
            <p:cNvPr name="TextBox 5" id="5"/>
            <p:cNvSpPr txBox="true"/>
            <p:nvPr/>
          </p:nvSpPr>
          <p:spPr>
            <a:xfrm>
              <a:off x="0" y="-38100"/>
              <a:ext cx="542671" cy="2999839"/>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5400000">
            <a:off x="4118385" y="-219811"/>
            <a:ext cx="47625" cy="3836200"/>
            <a:chOff x="0" y="0"/>
            <a:chExt cx="12543" cy="1010357"/>
          </a:xfrm>
        </p:grpSpPr>
        <p:sp>
          <p:nvSpPr>
            <p:cNvPr name="Freeform 7" id="7"/>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8" id="8"/>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5400000">
            <a:off x="4118385" y="-36794"/>
            <a:ext cx="47625" cy="3836200"/>
            <a:chOff x="0" y="0"/>
            <a:chExt cx="12543" cy="1010357"/>
          </a:xfrm>
        </p:grpSpPr>
        <p:sp>
          <p:nvSpPr>
            <p:cNvPr name="Freeform 10" id="10"/>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11" id="11"/>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2224097" y="2265657"/>
            <a:ext cx="7717514" cy="1028750"/>
          </a:xfrm>
          <a:prstGeom prst="rect">
            <a:avLst/>
          </a:prstGeom>
        </p:spPr>
        <p:txBody>
          <a:bodyPr anchor="t" rtlCol="false" tIns="0" lIns="0" bIns="0" rIns="0">
            <a:spAutoFit/>
          </a:bodyPr>
          <a:lstStyle/>
          <a:p>
            <a:pPr algn="l">
              <a:lnSpc>
                <a:spcPts val="8400"/>
              </a:lnSpc>
            </a:pPr>
            <a:r>
              <a:rPr lang="en-US" sz="6000" b="true">
                <a:solidFill>
                  <a:srgbClr val="002254"/>
                </a:solidFill>
                <a:latin typeface="Montserrat Ultra-Bold"/>
                <a:ea typeface="Montserrat Ultra-Bold"/>
                <a:cs typeface="Montserrat Ultra-Bold"/>
                <a:sym typeface="Montserrat Ultra-Bold"/>
              </a:rPr>
              <a:t>Outline</a:t>
            </a:r>
          </a:p>
        </p:txBody>
      </p:sp>
      <p:grpSp>
        <p:nvGrpSpPr>
          <p:cNvPr name="Group 13" id="13"/>
          <p:cNvGrpSpPr/>
          <p:nvPr/>
        </p:nvGrpSpPr>
        <p:grpSpPr>
          <a:xfrm rot="0">
            <a:off x="15927912" y="6148578"/>
            <a:ext cx="2060453" cy="11245354"/>
            <a:chOff x="0" y="0"/>
            <a:chExt cx="542671" cy="2961739"/>
          </a:xfrm>
        </p:grpSpPr>
        <p:sp>
          <p:nvSpPr>
            <p:cNvPr name="Freeform 14" id="14"/>
            <p:cNvSpPr/>
            <p:nvPr/>
          </p:nvSpPr>
          <p:spPr>
            <a:xfrm flipH="false" flipV="false" rot="0">
              <a:off x="0" y="0"/>
              <a:ext cx="542671" cy="2961739"/>
            </a:xfrm>
            <a:custGeom>
              <a:avLst/>
              <a:gdLst/>
              <a:ahLst/>
              <a:cxnLst/>
              <a:rect r="r" b="b" t="t" l="l"/>
              <a:pathLst>
                <a:path h="2961739" w="542671">
                  <a:moveTo>
                    <a:pt x="0" y="0"/>
                  </a:moveTo>
                  <a:lnTo>
                    <a:pt x="542671" y="0"/>
                  </a:lnTo>
                  <a:lnTo>
                    <a:pt x="542671" y="2961739"/>
                  </a:lnTo>
                  <a:lnTo>
                    <a:pt x="0" y="2961739"/>
                  </a:lnTo>
                  <a:close/>
                </a:path>
              </a:pathLst>
            </a:custGeom>
            <a:solidFill>
              <a:srgbClr val="002254"/>
            </a:solidFill>
          </p:spPr>
        </p:sp>
        <p:sp>
          <p:nvSpPr>
            <p:cNvPr name="TextBox 15" id="15"/>
            <p:cNvSpPr txBox="true"/>
            <p:nvPr/>
          </p:nvSpPr>
          <p:spPr>
            <a:xfrm>
              <a:off x="0" y="-38100"/>
              <a:ext cx="542671" cy="2999839"/>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3031638" y="3856897"/>
            <a:ext cx="11033872" cy="4781763"/>
          </a:xfrm>
          <a:prstGeom prst="rect">
            <a:avLst/>
          </a:prstGeom>
        </p:spPr>
        <p:txBody>
          <a:bodyPr anchor="t" rtlCol="false" tIns="0" lIns="0" bIns="0" rIns="0">
            <a:spAutoFit/>
          </a:bodyPr>
          <a:lstStyle/>
          <a:p>
            <a:pPr algn="l" marL="647789" indent="-323895" lvl="1">
              <a:lnSpc>
                <a:spcPts val="4200"/>
              </a:lnSpc>
              <a:buAutoNum type="arabicPeriod" startAt="1"/>
            </a:pPr>
            <a:r>
              <a:rPr lang="en-US" sz="3000">
                <a:solidFill>
                  <a:srgbClr val="002254"/>
                </a:solidFill>
                <a:latin typeface="Montserrat"/>
                <a:ea typeface="Montserrat"/>
                <a:cs typeface="Montserrat"/>
                <a:sym typeface="Montserrat"/>
              </a:rPr>
              <a:t> Background</a:t>
            </a:r>
          </a:p>
          <a:p>
            <a:pPr algn="l" marL="647789" indent="-323895" lvl="1">
              <a:lnSpc>
                <a:spcPts val="4200"/>
              </a:lnSpc>
              <a:buAutoNum type="arabicPeriod" startAt="1"/>
            </a:pPr>
            <a:r>
              <a:rPr lang="en-US" sz="3000">
                <a:solidFill>
                  <a:srgbClr val="002254"/>
                </a:solidFill>
                <a:latin typeface="Montserrat"/>
                <a:ea typeface="Montserrat"/>
                <a:cs typeface="Montserrat"/>
                <a:sym typeface="Montserrat"/>
              </a:rPr>
              <a:t> Research Question</a:t>
            </a:r>
          </a:p>
          <a:p>
            <a:pPr algn="l" marL="647789" indent="-323895" lvl="1">
              <a:lnSpc>
                <a:spcPts val="4200"/>
              </a:lnSpc>
              <a:buAutoNum type="arabicPeriod" startAt="1"/>
            </a:pPr>
            <a:r>
              <a:rPr lang="en-US" sz="3000">
                <a:solidFill>
                  <a:srgbClr val="002254"/>
                </a:solidFill>
                <a:latin typeface="Montserrat"/>
                <a:ea typeface="Montserrat"/>
                <a:cs typeface="Montserrat"/>
                <a:sym typeface="Montserrat"/>
              </a:rPr>
              <a:t> Research Purpose</a:t>
            </a:r>
          </a:p>
          <a:p>
            <a:pPr algn="l" marL="647789" indent="-323895" lvl="1">
              <a:lnSpc>
                <a:spcPts val="4200"/>
              </a:lnSpc>
              <a:buAutoNum type="arabicPeriod" startAt="1"/>
            </a:pPr>
            <a:r>
              <a:rPr lang="en-US" sz="3000">
                <a:solidFill>
                  <a:srgbClr val="002254"/>
                </a:solidFill>
                <a:latin typeface="Montserrat"/>
                <a:ea typeface="Montserrat"/>
                <a:cs typeface="Montserrat"/>
                <a:sym typeface="Montserrat"/>
              </a:rPr>
              <a:t> Scope</a:t>
            </a:r>
          </a:p>
          <a:p>
            <a:pPr algn="l" marL="647789" indent="-323895" lvl="1">
              <a:lnSpc>
                <a:spcPts val="4200"/>
              </a:lnSpc>
              <a:buAutoNum type="arabicPeriod" startAt="1"/>
            </a:pPr>
            <a:r>
              <a:rPr lang="en-US" sz="3000">
                <a:solidFill>
                  <a:srgbClr val="002254"/>
                </a:solidFill>
                <a:latin typeface="Montserrat"/>
                <a:ea typeface="Montserrat"/>
                <a:cs typeface="Montserrat"/>
                <a:sym typeface="Montserrat"/>
              </a:rPr>
              <a:t> Research meth</a:t>
            </a:r>
            <a:r>
              <a:rPr lang="en-US" sz="3000">
                <a:solidFill>
                  <a:srgbClr val="002254"/>
                </a:solidFill>
                <a:latin typeface="Montserrat"/>
                <a:ea typeface="Montserrat"/>
                <a:cs typeface="Montserrat"/>
                <a:sym typeface="Montserrat"/>
              </a:rPr>
              <a:t>odology</a:t>
            </a:r>
          </a:p>
          <a:p>
            <a:pPr algn="l" marL="647789" indent="-323895" lvl="1">
              <a:lnSpc>
                <a:spcPts val="4200"/>
              </a:lnSpc>
              <a:buAutoNum type="arabicPeriod" startAt="1"/>
            </a:pPr>
            <a:r>
              <a:rPr lang="en-US" sz="3000">
                <a:solidFill>
                  <a:srgbClr val="002254"/>
                </a:solidFill>
                <a:latin typeface="Montserrat"/>
                <a:ea typeface="Montserrat"/>
                <a:cs typeface="Montserrat"/>
                <a:sym typeface="Montserrat"/>
              </a:rPr>
              <a:t> </a:t>
            </a:r>
            <a:r>
              <a:rPr lang="en-US" sz="3000">
                <a:solidFill>
                  <a:srgbClr val="002254"/>
                </a:solidFill>
                <a:latin typeface="Montserrat"/>
                <a:ea typeface="Montserrat"/>
                <a:cs typeface="Montserrat"/>
                <a:sym typeface="Montserrat"/>
              </a:rPr>
              <a:t>Research analysis</a:t>
            </a:r>
          </a:p>
          <a:p>
            <a:pPr algn="l" marL="647789" indent="-323895" lvl="1">
              <a:lnSpc>
                <a:spcPts val="4200"/>
              </a:lnSpc>
              <a:buAutoNum type="arabicPeriod" startAt="1"/>
            </a:pPr>
            <a:r>
              <a:rPr lang="en-US" sz="3000">
                <a:solidFill>
                  <a:srgbClr val="002254"/>
                </a:solidFill>
                <a:latin typeface="Montserrat"/>
                <a:ea typeface="Montserrat"/>
                <a:cs typeface="Montserrat"/>
                <a:sym typeface="Montserrat"/>
              </a:rPr>
              <a:t> </a:t>
            </a:r>
            <a:r>
              <a:rPr lang="en-US" sz="3000">
                <a:solidFill>
                  <a:srgbClr val="002254"/>
                </a:solidFill>
                <a:latin typeface="Montserrat"/>
                <a:ea typeface="Montserrat"/>
                <a:cs typeface="Montserrat"/>
                <a:sym typeface="Montserrat"/>
              </a:rPr>
              <a:t>Design</a:t>
            </a:r>
          </a:p>
          <a:p>
            <a:pPr algn="l" marL="647789" indent="-323895" lvl="1">
              <a:lnSpc>
                <a:spcPts val="4200"/>
              </a:lnSpc>
              <a:buAutoNum type="arabicPeriod" startAt="1"/>
            </a:pPr>
            <a:r>
              <a:rPr lang="en-US" sz="3000">
                <a:solidFill>
                  <a:srgbClr val="002254"/>
                </a:solidFill>
                <a:latin typeface="Montserrat"/>
                <a:ea typeface="Montserrat"/>
                <a:cs typeface="Montserrat"/>
                <a:sym typeface="Montserrat"/>
              </a:rPr>
              <a:t> Implementation</a:t>
            </a:r>
          </a:p>
          <a:p>
            <a:pPr algn="l" marL="647789" indent="-323895" lvl="1">
              <a:lnSpc>
                <a:spcPts val="4200"/>
              </a:lnSpc>
              <a:buAutoNum type="arabicPeriod" startAt="1"/>
            </a:pPr>
            <a:r>
              <a:rPr lang="en-US" sz="3000">
                <a:solidFill>
                  <a:srgbClr val="002254"/>
                </a:solidFill>
                <a:latin typeface="Montserrat"/>
                <a:ea typeface="Montserrat"/>
                <a:cs typeface="Montserrat"/>
                <a:sym typeface="Montserrat"/>
              </a:rPr>
              <a:t> Result &amp; Discussion</a:t>
            </a:r>
          </a:p>
        </p:txBody>
      </p:sp>
      <p:grpSp>
        <p:nvGrpSpPr>
          <p:cNvPr name="Group 17" id="17"/>
          <p:cNvGrpSpPr/>
          <p:nvPr/>
        </p:nvGrpSpPr>
        <p:grpSpPr>
          <a:xfrm rot="5400000">
            <a:off x="13383524" y="7364012"/>
            <a:ext cx="47625" cy="3836200"/>
            <a:chOff x="0" y="0"/>
            <a:chExt cx="12543" cy="1010357"/>
          </a:xfrm>
        </p:grpSpPr>
        <p:sp>
          <p:nvSpPr>
            <p:cNvPr name="Freeform 18" id="18"/>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19" id="19"/>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grpSp>
        <p:nvGrpSpPr>
          <p:cNvPr name="Group 20" id="20"/>
          <p:cNvGrpSpPr/>
          <p:nvPr/>
        </p:nvGrpSpPr>
        <p:grpSpPr>
          <a:xfrm rot="5400000">
            <a:off x="13383524" y="7547029"/>
            <a:ext cx="47625" cy="3836200"/>
            <a:chOff x="0" y="0"/>
            <a:chExt cx="12543" cy="1010357"/>
          </a:xfrm>
        </p:grpSpPr>
        <p:sp>
          <p:nvSpPr>
            <p:cNvPr name="Freeform 21" id="21"/>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22" id="22"/>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sp>
        <p:nvSpPr>
          <p:cNvPr name="Freeform 23" id="23"/>
          <p:cNvSpPr/>
          <p:nvPr/>
        </p:nvSpPr>
        <p:spPr>
          <a:xfrm flipH="false" flipV="false" rot="0">
            <a:off x="692764" y="400218"/>
            <a:ext cx="963762" cy="963762"/>
          </a:xfrm>
          <a:custGeom>
            <a:avLst/>
            <a:gdLst/>
            <a:ahLst/>
            <a:cxnLst/>
            <a:rect r="r" b="b" t="t" l="l"/>
            <a:pathLst>
              <a:path h="963762" w="963762">
                <a:moveTo>
                  <a:pt x="0" y="0"/>
                </a:moveTo>
                <a:lnTo>
                  <a:pt x="963761" y="0"/>
                </a:lnTo>
                <a:lnTo>
                  <a:pt x="963761" y="963762"/>
                </a:lnTo>
                <a:lnTo>
                  <a:pt x="0" y="963762"/>
                </a:lnTo>
                <a:lnTo>
                  <a:pt x="0" y="0"/>
                </a:lnTo>
                <a:close/>
              </a:path>
            </a:pathLst>
          </a:custGeom>
          <a:blipFill>
            <a:blip r:embed="rId3"/>
            <a:stretch>
              <a:fillRect l="0" t="0" r="0" b="0"/>
            </a:stretch>
          </a:blipFill>
        </p:spPr>
      </p:sp>
      <p:sp>
        <p:nvSpPr>
          <p:cNvPr name="TextBox 24" id="24"/>
          <p:cNvSpPr txBox="true"/>
          <p:nvPr/>
        </p:nvSpPr>
        <p:spPr>
          <a:xfrm rot="0">
            <a:off x="1864064" y="681990"/>
            <a:ext cx="3686274" cy="346710"/>
          </a:xfrm>
          <a:prstGeom prst="rect">
            <a:avLst/>
          </a:prstGeom>
        </p:spPr>
        <p:txBody>
          <a:bodyPr anchor="t" rtlCol="false" tIns="0" lIns="0" bIns="0" rIns="0">
            <a:spAutoFit/>
          </a:bodyPr>
          <a:lstStyle/>
          <a:p>
            <a:pPr algn="ctr">
              <a:lnSpc>
                <a:spcPts val="2400"/>
              </a:lnSpc>
              <a:spcBef>
                <a:spcPct val="0"/>
              </a:spcBef>
            </a:pPr>
            <a:r>
              <a:rPr lang="en-US" b="true" sz="2400">
                <a:solidFill>
                  <a:srgbClr val="0B3454"/>
                </a:solidFill>
                <a:latin typeface="Poppins Semi-Bold"/>
                <a:ea typeface="Poppins Semi-Bold"/>
                <a:cs typeface="Poppins Semi-Bold"/>
                <a:sym typeface="Poppins Semi-Bold"/>
              </a:rPr>
              <a:t>INSTITUT TEKNOLOGI DEL</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9259" t="0" r="-9259" b="0"/>
            </a:stretch>
          </a:blipFill>
        </p:spPr>
      </p:sp>
      <p:grpSp>
        <p:nvGrpSpPr>
          <p:cNvPr name="Group 3" id="3"/>
          <p:cNvGrpSpPr/>
          <p:nvPr/>
        </p:nvGrpSpPr>
        <p:grpSpPr>
          <a:xfrm rot="0">
            <a:off x="-329739" y="-237765"/>
            <a:ext cx="2060453" cy="11245354"/>
            <a:chOff x="0" y="0"/>
            <a:chExt cx="542671" cy="2961739"/>
          </a:xfrm>
        </p:grpSpPr>
        <p:sp>
          <p:nvSpPr>
            <p:cNvPr name="Freeform 4" id="4"/>
            <p:cNvSpPr/>
            <p:nvPr/>
          </p:nvSpPr>
          <p:spPr>
            <a:xfrm flipH="false" flipV="false" rot="0">
              <a:off x="0" y="0"/>
              <a:ext cx="542671" cy="2961739"/>
            </a:xfrm>
            <a:custGeom>
              <a:avLst/>
              <a:gdLst/>
              <a:ahLst/>
              <a:cxnLst/>
              <a:rect r="r" b="b" t="t" l="l"/>
              <a:pathLst>
                <a:path h="2961739" w="542671">
                  <a:moveTo>
                    <a:pt x="0" y="0"/>
                  </a:moveTo>
                  <a:lnTo>
                    <a:pt x="542671" y="0"/>
                  </a:lnTo>
                  <a:lnTo>
                    <a:pt x="542671" y="2961739"/>
                  </a:lnTo>
                  <a:lnTo>
                    <a:pt x="0" y="2961739"/>
                  </a:lnTo>
                  <a:close/>
                </a:path>
              </a:pathLst>
            </a:custGeom>
            <a:solidFill>
              <a:srgbClr val="002254"/>
            </a:solidFill>
          </p:spPr>
        </p:sp>
        <p:sp>
          <p:nvSpPr>
            <p:cNvPr name="TextBox 5" id="5"/>
            <p:cNvSpPr txBox="true"/>
            <p:nvPr/>
          </p:nvSpPr>
          <p:spPr>
            <a:xfrm>
              <a:off x="0" y="-38100"/>
              <a:ext cx="542671" cy="2999839"/>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5927912" y="6148578"/>
            <a:ext cx="2060453" cy="11245354"/>
            <a:chOff x="0" y="0"/>
            <a:chExt cx="542671" cy="2961739"/>
          </a:xfrm>
        </p:grpSpPr>
        <p:sp>
          <p:nvSpPr>
            <p:cNvPr name="Freeform 7" id="7"/>
            <p:cNvSpPr/>
            <p:nvPr/>
          </p:nvSpPr>
          <p:spPr>
            <a:xfrm flipH="false" flipV="false" rot="0">
              <a:off x="0" y="0"/>
              <a:ext cx="542671" cy="2961739"/>
            </a:xfrm>
            <a:custGeom>
              <a:avLst/>
              <a:gdLst/>
              <a:ahLst/>
              <a:cxnLst/>
              <a:rect r="r" b="b" t="t" l="l"/>
              <a:pathLst>
                <a:path h="2961739" w="542671">
                  <a:moveTo>
                    <a:pt x="0" y="0"/>
                  </a:moveTo>
                  <a:lnTo>
                    <a:pt x="542671" y="0"/>
                  </a:lnTo>
                  <a:lnTo>
                    <a:pt x="542671" y="2961739"/>
                  </a:lnTo>
                  <a:lnTo>
                    <a:pt x="0" y="2961739"/>
                  </a:lnTo>
                  <a:close/>
                </a:path>
              </a:pathLst>
            </a:custGeom>
            <a:solidFill>
              <a:srgbClr val="002254"/>
            </a:solidFill>
          </p:spPr>
        </p:sp>
        <p:sp>
          <p:nvSpPr>
            <p:cNvPr name="TextBox 8" id="8"/>
            <p:cNvSpPr txBox="true"/>
            <p:nvPr/>
          </p:nvSpPr>
          <p:spPr>
            <a:xfrm>
              <a:off x="0" y="-38100"/>
              <a:ext cx="542671" cy="2999839"/>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2837099" y="3858474"/>
            <a:ext cx="12488338" cy="3927464"/>
          </a:xfrm>
          <a:prstGeom prst="rect">
            <a:avLst/>
          </a:prstGeom>
        </p:spPr>
        <p:txBody>
          <a:bodyPr anchor="t" rtlCol="false" tIns="0" lIns="0" bIns="0" rIns="0">
            <a:spAutoFit/>
          </a:bodyPr>
          <a:lstStyle/>
          <a:p>
            <a:pPr algn="just">
              <a:lnSpc>
                <a:spcPts val="3500"/>
              </a:lnSpc>
            </a:pPr>
            <a:r>
              <a:rPr lang="en-US" sz="2500" b="true">
                <a:solidFill>
                  <a:srgbClr val="002254"/>
                </a:solidFill>
                <a:latin typeface="Montserrat Bold"/>
                <a:ea typeface="Montserrat Bold"/>
                <a:cs typeface="Montserrat Bold"/>
                <a:sym typeface="Montserrat Bold"/>
              </a:rPr>
              <a:t>Phishing</a:t>
            </a:r>
            <a:r>
              <a:rPr lang="en-US" sz="2500">
                <a:solidFill>
                  <a:srgbClr val="002254"/>
                </a:solidFill>
                <a:latin typeface="Montserrat"/>
                <a:ea typeface="Montserrat"/>
                <a:cs typeface="Montserrat"/>
                <a:sym typeface="Montserrat"/>
              </a:rPr>
              <a:t> attacks continue to rise and pose a significant</a:t>
            </a:r>
            <a:r>
              <a:rPr lang="en-US" sz="2500" b="true">
                <a:solidFill>
                  <a:srgbClr val="002254"/>
                </a:solidFill>
                <a:latin typeface="Montserrat Bold"/>
                <a:ea typeface="Montserrat Bold"/>
                <a:cs typeface="Montserrat Bold"/>
                <a:sym typeface="Montserrat Bold"/>
              </a:rPr>
              <a:t> cybersecurity </a:t>
            </a:r>
            <a:r>
              <a:rPr lang="en-US" sz="2500">
                <a:solidFill>
                  <a:srgbClr val="002254"/>
                </a:solidFill>
                <a:latin typeface="Montserrat"/>
                <a:ea typeface="Montserrat"/>
                <a:cs typeface="Montserrat"/>
                <a:sym typeface="Montserrat"/>
              </a:rPr>
              <a:t>threat. Although </a:t>
            </a:r>
            <a:r>
              <a:rPr lang="en-US" sz="2500" b="true">
                <a:solidFill>
                  <a:srgbClr val="002254"/>
                </a:solidFill>
                <a:latin typeface="Montserrat Bold"/>
                <a:ea typeface="Montserrat Bold"/>
                <a:cs typeface="Montserrat Bold"/>
                <a:sym typeface="Montserrat Bold"/>
              </a:rPr>
              <a:t>Random Forest</a:t>
            </a:r>
            <a:r>
              <a:rPr lang="en-US" sz="2500">
                <a:solidFill>
                  <a:srgbClr val="002254"/>
                </a:solidFill>
                <a:latin typeface="Montserrat"/>
                <a:ea typeface="Montserrat"/>
                <a:cs typeface="Montserrat"/>
                <a:sym typeface="Montserrat"/>
              </a:rPr>
              <a:t> and </a:t>
            </a:r>
            <a:r>
              <a:rPr lang="en-US" sz="2500" b="true">
                <a:solidFill>
                  <a:srgbClr val="002254"/>
                </a:solidFill>
                <a:latin typeface="Montserrat Bold"/>
                <a:ea typeface="Montserrat Bold"/>
                <a:cs typeface="Montserrat Bold"/>
                <a:sym typeface="Montserrat Bold"/>
              </a:rPr>
              <a:t>XGBoost</a:t>
            </a:r>
            <a:r>
              <a:rPr lang="en-US" sz="2500">
                <a:solidFill>
                  <a:srgbClr val="002254"/>
                </a:solidFill>
                <a:latin typeface="Montserrat"/>
                <a:ea typeface="Montserrat"/>
                <a:cs typeface="Montserrat"/>
                <a:sym typeface="Montserrat"/>
              </a:rPr>
              <a:t> have demonstrated strong performance in phishing detection, existing approaches often rely on single models and provide limited explanation of their decisions. To ov</a:t>
            </a:r>
            <a:r>
              <a:rPr lang="en-US" sz="2500">
                <a:solidFill>
                  <a:srgbClr val="002254"/>
                </a:solidFill>
                <a:latin typeface="Montserrat"/>
                <a:ea typeface="Montserrat"/>
                <a:cs typeface="Montserrat"/>
                <a:sym typeface="Montserrat"/>
              </a:rPr>
              <a:t>ercome these limitations, this study proposes a hybrid framework that </a:t>
            </a:r>
            <a:r>
              <a:rPr lang="en-US" sz="2500" b="true">
                <a:solidFill>
                  <a:srgbClr val="002254"/>
                </a:solidFill>
                <a:latin typeface="Montserrat Bold"/>
                <a:ea typeface="Montserrat Bold"/>
                <a:cs typeface="Montserrat Bold"/>
                <a:sym typeface="Montserrat Bold"/>
              </a:rPr>
              <a:t>combines </a:t>
            </a:r>
            <a:r>
              <a:rPr lang="en-US" sz="2500">
                <a:solidFill>
                  <a:srgbClr val="002254"/>
                </a:solidFill>
                <a:latin typeface="Montserrat"/>
                <a:ea typeface="Montserrat"/>
                <a:cs typeface="Montserrat"/>
                <a:sym typeface="Montserrat"/>
              </a:rPr>
              <a:t>Rule-Based Filtering, Random Forest, XGBoost, and Stacking Ensemble. In addition, </a:t>
            </a:r>
            <a:r>
              <a:rPr lang="en-US" sz="2500" b="true">
                <a:solidFill>
                  <a:srgbClr val="002254"/>
                </a:solidFill>
                <a:latin typeface="Montserrat Bold"/>
                <a:ea typeface="Montserrat Bold"/>
                <a:cs typeface="Montserrat Bold"/>
                <a:sym typeface="Montserrat Bold"/>
              </a:rPr>
              <a:t>SHAP (SHapley Additive exPlanations)</a:t>
            </a:r>
            <a:r>
              <a:rPr lang="en-US" sz="2500">
                <a:solidFill>
                  <a:srgbClr val="002254"/>
                </a:solidFill>
                <a:latin typeface="Montserrat"/>
                <a:ea typeface="Montserrat"/>
                <a:cs typeface="Montserrat"/>
                <a:sym typeface="Montserrat"/>
              </a:rPr>
              <a:t> and</a:t>
            </a:r>
            <a:r>
              <a:rPr lang="en-US" sz="2500" b="true">
                <a:solidFill>
                  <a:srgbClr val="002254"/>
                </a:solidFill>
                <a:latin typeface="Montserrat Bold"/>
                <a:ea typeface="Montserrat Bold"/>
                <a:cs typeface="Montserrat Bold"/>
                <a:sym typeface="Montserrat Bold"/>
              </a:rPr>
              <a:t> Large Language Models</a:t>
            </a:r>
            <a:r>
              <a:rPr lang="en-US" sz="2500">
                <a:solidFill>
                  <a:srgbClr val="002254"/>
                </a:solidFill>
                <a:latin typeface="Montserrat"/>
                <a:ea typeface="Montserrat"/>
                <a:cs typeface="Montserrat"/>
                <a:sym typeface="Montserrat"/>
              </a:rPr>
              <a:t> (</a:t>
            </a:r>
            <a:r>
              <a:rPr lang="en-US" sz="2500" b="true">
                <a:solidFill>
                  <a:srgbClr val="002254"/>
                </a:solidFill>
                <a:latin typeface="Montserrat Bold"/>
                <a:ea typeface="Montserrat Bold"/>
                <a:cs typeface="Montserrat Bold"/>
                <a:sym typeface="Montserrat Bold"/>
              </a:rPr>
              <a:t>LLMs</a:t>
            </a:r>
            <a:r>
              <a:rPr lang="en-US" sz="2500">
                <a:solidFill>
                  <a:srgbClr val="002254"/>
                </a:solidFill>
                <a:latin typeface="Montserrat"/>
                <a:ea typeface="Montserrat"/>
                <a:cs typeface="Montserrat"/>
                <a:sym typeface="Montserrat"/>
              </a:rPr>
              <a:t>) are integrated to provide transparent and human-readable explanations for phishing detection results.</a:t>
            </a:r>
          </a:p>
        </p:txBody>
      </p:sp>
      <p:grpSp>
        <p:nvGrpSpPr>
          <p:cNvPr name="Group 10" id="10"/>
          <p:cNvGrpSpPr/>
          <p:nvPr/>
        </p:nvGrpSpPr>
        <p:grpSpPr>
          <a:xfrm rot="5400000">
            <a:off x="13383524" y="7364012"/>
            <a:ext cx="47625" cy="3836200"/>
            <a:chOff x="0" y="0"/>
            <a:chExt cx="12543" cy="1010357"/>
          </a:xfrm>
        </p:grpSpPr>
        <p:sp>
          <p:nvSpPr>
            <p:cNvPr name="Freeform 11" id="11"/>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12" id="12"/>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5400000">
            <a:off x="13383524" y="7547029"/>
            <a:ext cx="47625" cy="3836200"/>
            <a:chOff x="0" y="0"/>
            <a:chExt cx="12543" cy="1010357"/>
          </a:xfrm>
        </p:grpSpPr>
        <p:sp>
          <p:nvSpPr>
            <p:cNvPr name="Freeform 14" id="14"/>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15" id="15"/>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false" rot="0">
            <a:off x="692764" y="400218"/>
            <a:ext cx="963762" cy="963762"/>
          </a:xfrm>
          <a:custGeom>
            <a:avLst/>
            <a:gdLst/>
            <a:ahLst/>
            <a:cxnLst/>
            <a:rect r="r" b="b" t="t" l="l"/>
            <a:pathLst>
              <a:path h="963762" w="963762">
                <a:moveTo>
                  <a:pt x="0" y="0"/>
                </a:moveTo>
                <a:lnTo>
                  <a:pt x="963761" y="0"/>
                </a:lnTo>
                <a:lnTo>
                  <a:pt x="963761" y="963762"/>
                </a:lnTo>
                <a:lnTo>
                  <a:pt x="0" y="963762"/>
                </a:lnTo>
                <a:lnTo>
                  <a:pt x="0" y="0"/>
                </a:lnTo>
                <a:close/>
              </a:path>
            </a:pathLst>
          </a:custGeom>
          <a:blipFill>
            <a:blip r:embed="rId3"/>
            <a:stretch>
              <a:fillRect l="0" t="0" r="0" b="0"/>
            </a:stretch>
          </a:blipFill>
        </p:spPr>
      </p:sp>
      <p:sp>
        <p:nvSpPr>
          <p:cNvPr name="TextBox 17" id="17"/>
          <p:cNvSpPr txBox="true"/>
          <p:nvPr/>
        </p:nvSpPr>
        <p:spPr>
          <a:xfrm rot="0">
            <a:off x="1864064" y="681990"/>
            <a:ext cx="3686274" cy="346710"/>
          </a:xfrm>
          <a:prstGeom prst="rect">
            <a:avLst/>
          </a:prstGeom>
        </p:spPr>
        <p:txBody>
          <a:bodyPr anchor="t" rtlCol="false" tIns="0" lIns="0" bIns="0" rIns="0">
            <a:spAutoFit/>
          </a:bodyPr>
          <a:lstStyle/>
          <a:p>
            <a:pPr algn="ctr">
              <a:lnSpc>
                <a:spcPts val="2400"/>
              </a:lnSpc>
              <a:spcBef>
                <a:spcPct val="0"/>
              </a:spcBef>
            </a:pPr>
            <a:r>
              <a:rPr lang="en-US" b="true" sz="2400">
                <a:solidFill>
                  <a:srgbClr val="0B3454"/>
                </a:solidFill>
                <a:latin typeface="Poppins Semi-Bold"/>
                <a:ea typeface="Poppins Semi-Bold"/>
                <a:cs typeface="Poppins Semi-Bold"/>
                <a:sym typeface="Poppins Semi-Bold"/>
              </a:rPr>
              <a:t>INSTITUT TEKNOLOGI DEL</a:t>
            </a:r>
          </a:p>
        </p:txBody>
      </p:sp>
      <p:grpSp>
        <p:nvGrpSpPr>
          <p:cNvPr name="Group 18" id="18"/>
          <p:cNvGrpSpPr/>
          <p:nvPr/>
        </p:nvGrpSpPr>
        <p:grpSpPr>
          <a:xfrm rot="5400000">
            <a:off x="4215892" y="-286945"/>
            <a:ext cx="47625" cy="3836200"/>
            <a:chOff x="0" y="0"/>
            <a:chExt cx="12543" cy="1010357"/>
          </a:xfrm>
        </p:grpSpPr>
        <p:sp>
          <p:nvSpPr>
            <p:cNvPr name="Freeform 19" id="19"/>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20" id="20"/>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grpSp>
        <p:nvGrpSpPr>
          <p:cNvPr name="Group 21" id="21"/>
          <p:cNvGrpSpPr/>
          <p:nvPr/>
        </p:nvGrpSpPr>
        <p:grpSpPr>
          <a:xfrm rot="5400000">
            <a:off x="4215892" y="-103929"/>
            <a:ext cx="47625" cy="3836200"/>
            <a:chOff x="0" y="0"/>
            <a:chExt cx="12543" cy="1010357"/>
          </a:xfrm>
        </p:grpSpPr>
        <p:sp>
          <p:nvSpPr>
            <p:cNvPr name="Freeform 22" id="22"/>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23" id="23"/>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sp>
        <p:nvSpPr>
          <p:cNvPr name="TextBox 24" id="24"/>
          <p:cNvSpPr txBox="true"/>
          <p:nvPr/>
        </p:nvSpPr>
        <p:spPr>
          <a:xfrm rot="0">
            <a:off x="2321605" y="2210600"/>
            <a:ext cx="7717514" cy="1028750"/>
          </a:xfrm>
          <a:prstGeom prst="rect">
            <a:avLst/>
          </a:prstGeom>
        </p:spPr>
        <p:txBody>
          <a:bodyPr anchor="t" rtlCol="false" tIns="0" lIns="0" bIns="0" rIns="0">
            <a:spAutoFit/>
          </a:bodyPr>
          <a:lstStyle/>
          <a:p>
            <a:pPr algn="l">
              <a:lnSpc>
                <a:spcPts val="8400"/>
              </a:lnSpc>
            </a:pPr>
            <a:r>
              <a:rPr lang="en-US" sz="6000" b="true">
                <a:solidFill>
                  <a:srgbClr val="002254"/>
                </a:solidFill>
                <a:latin typeface="Montserrat Ultra-Bold"/>
                <a:ea typeface="Montserrat Ultra-Bold"/>
                <a:cs typeface="Montserrat Ultra-Bold"/>
                <a:sym typeface="Montserrat Ultra-Bold"/>
              </a:rPr>
              <a:t>Background</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9259" t="0" r="-9259" b="0"/>
            </a:stretch>
          </a:blipFill>
        </p:spPr>
      </p:sp>
      <p:grpSp>
        <p:nvGrpSpPr>
          <p:cNvPr name="Group 3" id="3"/>
          <p:cNvGrpSpPr/>
          <p:nvPr/>
        </p:nvGrpSpPr>
        <p:grpSpPr>
          <a:xfrm rot="5400000">
            <a:off x="3501408" y="-238972"/>
            <a:ext cx="47625" cy="3836200"/>
            <a:chOff x="0" y="0"/>
            <a:chExt cx="12543" cy="1010357"/>
          </a:xfrm>
        </p:grpSpPr>
        <p:sp>
          <p:nvSpPr>
            <p:cNvPr name="Freeform 4" id="4"/>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5" id="5"/>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5400000">
            <a:off x="3501408" y="-55955"/>
            <a:ext cx="47625" cy="3836200"/>
            <a:chOff x="0" y="0"/>
            <a:chExt cx="12543" cy="1010357"/>
          </a:xfrm>
        </p:grpSpPr>
        <p:sp>
          <p:nvSpPr>
            <p:cNvPr name="Freeform 7" id="7"/>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8" id="8"/>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2318202" y="2130476"/>
            <a:ext cx="7717514" cy="1028750"/>
          </a:xfrm>
          <a:prstGeom prst="rect">
            <a:avLst/>
          </a:prstGeom>
        </p:spPr>
        <p:txBody>
          <a:bodyPr anchor="t" rtlCol="false" tIns="0" lIns="0" bIns="0" rIns="0">
            <a:spAutoFit/>
          </a:bodyPr>
          <a:lstStyle/>
          <a:p>
            <a:pPr algn="l">
              <a:lnSpc>
                <a:spcPts val="8400"/>
              </a:lnSpc>
            </a:pPr>
            <a:r>
              <a:rPr lang="en-US" sz="6000" b="true">
                <a:solidFill>
                  <a:srgbClr val="002254"/>
                </a:solidFill>
                <a:latin typeface="Montserrat Ultra-Bold"/>
                <a:ea typeface="Montserrat Ultra-Bold"/>
                <a:cs typeface="Montserrat Ultra-Bold"/>
                <a:sym typeface="Montserrat Ultra-Bold"/>
              </a:rPr>
              <a:t>Research Question</a:t>
            </a:r>
          </a:p>
        </p:txBody>
      </p:sp>
      <p:sp>
        <p:nvSpPr>
          <p:cNvPr name="TextBox 10" id="10"/>
          <p:cNvSpPr txBox="true"/>
          <p:nvPr/>
        </p:nvSpPr>
        <p:spPr>
          <a:xfrm rot="0">
            <a:off x="3525220" y="4330800"/>
            <a:ext cx="11750197" cy="1736813"/>
          </a:xfrm>
          <a:prstGeom prst="rect">
            <a:avLst/>
          </a:prstGeom>
        </p:spPr>
        <p:txBody>
          <a:bodyPr anchor="t" rtlCol="false" tIns="0" lIns="0" bIns="0" rIns="0">
            <a:spAutoFit/>
          </a:bodyPr>
          <a:lstStyle/>
          <a:p>
            <a:pPr algn="just">
              <a:lnSpc>
                <a:spcPts val="3500"/>
              </a:lnSpc>
            </a:pPr>
            <a:r>
              <a:rPr lang="en-US" sz="2500">
                <a:solidFill>
                  <a:srgbClr val="002254"/>
                </a:solidFill>
                <a:latin typeface="Montserrat"/>
                <a:ea typeface="Montserrat"/>
                <a:cs typeface="Montserrat"/>
                <a:sym typeface="Montserrat"/>
              </a:rPr>
              <a:t>How do the </a:t>
            </a:r>
            <a:r>
              <a:rPr lang="en-US" sz="2500" b="true">
                <a:solidFill>
                  <a:srgbClr val="002254"/>
                </a:solidFill>
                <a:latin typeface="Montserrat Bold"/>
                <a:ea typeface="Montserrat Bold"/>
                <a:cs typeface="Montserrat Bold"/>
                <a:sym typeface="Montserrat Bold"/>
              </a:rPr>
              <a:t>Random Forest</a:t>
            </a:r>
            <a:r>
              <a:rPr lang="en-US" sz="2500">
                <a:solidFill>
                  <a:srgbClr val="002254"/>
                </a:solidFill>
                <a:latin typeface="Montserrat"/>
                <a:ea typeface="Montserrat"/>
                <a:cs typeface="Montserrat"/>
                <a:sym typeface="Montserrat"/>
              </a:rPr>
              <a:t> </a:t>
            </a:r>
            <a:r>
              <a:rPr lang="en-US" sz="2500">
                <a:solidFill>
                  <a:srgbClr val="002254"/>
                </a:solidFill>
                <a:latin typeface="Montserrat"/>
                <a:ea typeface="Montserrat"/>
                <a:cs typeface="Montserrat"/>
                <a:sym typeface="Montserrat"/>
              </a:rPr>
              <a:t>and </a:t>
            </a:r>
            <a:r>
              <a:rPr lang="en-US" sz="2500" b="true">
                <a:solidFill>
                  <a:srgbClr val="002254"/>
                </a:solidFill>
                <a:latin typeface="Montserrat Bold"/>
                <a:ea typeface="Montserrat Bold"/>
                <a:cs typeface="Montserrat Bold"/>
                <a:sym typeface="Montserrat Bold"/>
              </a:rPr>
              <a:t>XGBoost </a:t>
            </a:r>
            <a:r>
              <a:rPr lang="en-US" sz="2500">
                <a:solidFill>
                  <a:srgbClr val="002254"/>
                </a:solidFill>
                <a:latin typeface="Montserrat"/>
                <a:ea typeface="Montserrat"/>
                <a:cs typeface="Montserrat"/>
                <a:sym typeface="Montserrat"/>
              </a:rPr>
              <a:t>algorithms perform as single models, as well as a combined </a:t>
            </a:r>
            <a:r>
              <a:rPr lang="en-US" sz="2500">
                <a:solidFill>
                  <a:srgbClr val="002254"/>
                </a:solidFill>
                <a:latin typeface="Montserrat"/>
                <a:ea typeface="Montserrat"/>
                <a:cs typeface="Montserrat"/>
                <a:sym typeface="Montserrat"/>
              </a:rPr>
              <a:t>Stacking </a:t>
            </a:r>
            <a:r>
              <a:rPr lang="en-US" sz="2500">
                <a:solidFill>
                  <a:srgbClr val="002254"/>
                </a:solidFill>
                <a:latin typeface="Montserrat"/>
                <a:ea typeface="Montserrat"/>
                <a:cs typeface="Montserrat"/>
                <a:sym typeface="Montserrat"/>
              </a:rPr>
              <a:t>model using </a:t>
            </a:r>
            <a:r>
              <a:rPr lang="en-US" sz="2500" b="true">
                <a:solidFill>
                  <a:srgbClr val="002254"/>
                </a:solidFill>
                <a:latin typeface="Montserrat Bold"/>
                <a:ea typeface="Montserrat Bold"/>
                <a:cs typeface="Montserrat Bold"/>
                <a:sym typeface="Montserrat Bold"/>
              </a:rPr>
              <a:t>Logistic Regression</a:t>
            </a:r>
            <a:r>
              <a:rPr lang="en-US" sz="2500">
                <a:solidFill>
                  <a:srgbClr val="002254"/>
                </a:solidFill>
                <a:latin typeface="Montserrat"/>
                <a:ea typeface="Montserrat"/>
                <a:cs typeface="Montserrat"/>
                <a:sym typeface="Montserrat"/>
              </a:rPr>
              <a:t> as a meta-learner, in detecting phishing websites based on model performance evaluation?</a:t>
            </a:r>
          </a:p>
        </p:txBody>
      </p:sp>
      <p:sp>
        <p:nvSpPr>
          <p:cNvPr name="TextBox 11" id="11"/>
          <p:cNvSpPr txBox="true"/>
          <p:nvPr/>
        </p:nvSpPr>
        <p:spPr>
          <a:xfrm rot="0">
            <a:off x="3525220" y="6433926"/>
            <a:ext cx="11555182" cy="1736813"/>
          </a:xfrm>
          <a:prstGeom prst="rect">
            <a:avLst/>
          </a:prstGeom>
        </p:spPr>
        <p:txBody>
          <a:bodyPr anchor="t" rtlCol="false" tIns="0" lIns="0" bIns="0" rIns="0">
            <a:spAutoFit/>
          </a:bodyPr>
          <a:lstStyle/>
          <a:p>
            <a:pPr algn="just">
              <a:lnSpc>
                <a:spcPts val="3500"/>
              </a:lnSpc>
            </a:pPr>
            <a:r>
              <a:rPr lang="en-US" sz="2500">
                <a:solidFill>
                  <a:srgbClr val="002254"/>
                </a:solidFill>
                <a:latin typeface="Montserrat"/>
                <a:ea typeface="Montserrat"/>
                <a:cs typeface="Montserrat"/>
                <a:sym typeface="Montserrat"/>
              </a:rPr>
              <a:t>How does the implementation of </a:t>
            </a:r>
            <a:r>
              <a:rPr lang="en-US" sz="2500" b="true">
                <a:solidFill>
                  <a:srgbClr val="002254"/>
                </a:solidFill>
                <a:latin typeface="Montserrat Bold"/>
                <a:ea typeface="Montserrat Bold"/>
                <a:cs typeface="Montserrat Bold"/>
                <a:sym typeface="Montserrat Bold"/>
              </a:rPr>
              <a:t>rule-based filtering</a:t>
            </a:r>
            <a:r>
              <a:rPr lang="en-US" sz="2500">
                <a:solidFill>
                  <a:srgbClr val="002254"/>
                </a:solidFill>
                <a:latin typeface="Montserrat"/>
                <a:ea typeface="Montserrat"/>
                <a:cs typeface="Montserrat"/>
                <a:sym typeface="Montserrat"/>
              </a:rPr>
              <a:t> as an initial layer affect the processing efficiency and consistency of the prediction performance of a phishing detection system based on the </a:t>
            </a:r>
            <a:r>
              <a:rPr lang="en-US" sz="2500" b="true">
                <a:solidFill>
                  <a:srgbClr val="002254"/>
                </a:solidFill>
                <a:latin typeface="Montserrat Bold"/>
                <a:ea typeface="Montserrat Bold"/>
                <a:cs typeface="Montserrat Bold"/>
                <a:sym typeface="Montserrat Bold"/>
              </a:rPr>
              <a:t>combined</a:t>
            </a:r>
            <a:r>
              <a:rPr lang="en-US" sz="2500">
                <a:solidFill>
                  <a:srgbClr val="002254"/>
                </a:solidFill>
                <a:latin typeface="Montserrat"/>
                <a:ea typeface="Montserrat"/>
                <a:cs typeface="Montserrat"/>
                <a:sym typeface="Montserrat"/>
              </a:rPr>
              <a:t> Random Forest </a:t>
            </a:r>
            <a:r>
              <a:rPr lang="en-US" sz="2500">
                <a:solidFill>
                  <a:srgbClr val="002254"/>
                </a:solidFill>
                <a:latin typeface="Montserrat"/>
                <a:ea typeface="Montserrat"/>
                <a:cs typeface="Montserrat"/>
                <a:sym typeface="Montserrat"/>
              </a:rPr>
              <a:t>and </a:t>
            </a:r>
            <a:r>
              <a:rPr lang="en-US" sz="2500">
                <a:solidFill>
                  <a:srgbClr val="002254"/>
                </a:solidFill>
                <a:latin typeface="Montserrat"/>
                <a:ea typeface="Montserrat"/>
                <a:cs typeface="Montserrat"/>
                <a:sym typeface="Montserrat"/>
              </a:rPr>
              <a:t>XGBoost </a:t>
            </a:r>
            <a:r>
              <a:rPr lang="en-US" sz="2500">
                <a:solidFill>
                  <a:srgbClr val="002254"/>
                </a:solidFill>
                <a:latin typeface="Montserrat"/>
                <a:ea typeface="Montserrat"/>
                <a:cs typeface="Montserrat"/>
                <a:sym typeface="Montserrat"/>
              </a:rPr>
              <a:t>model?</a:t>
            </a:r>
          </a:p>
        </p:txBody>
      </p:sp>
      <p:sp>
        <p:nvSpPr>
          <p:cNvPr name="Freeform 12" id="12"/>
          <p:cNvSpPr/>
          <p:nvPr/>
        </p:nvSpPr>
        <p:spPr>
          <a:xfrm flipH="false" flipV="false" rot="0">
            <a:off x="692764" y="400218"/>
            <a:ext cx="963762" cy="963762"/>
          </a:xfrm>
          <a:custGeom>
            <a:avLst/>
            <a:gdLst/>
            <a:ahLst/>
            <a:cxnLst/>
            <a:rect r="r" b="b" t="t" l="l"/>
            <a:pathLst>
              <a:path h="963762" w="963762">
                <a:moveTo>
                  <a:pt x="0" y="0"/>
                </a:moveTo>
                <a:lnTo>
                  <a:pt x="963761" y="0"/>
                </a:lnTo>
                <a:lnTo>
                  <a:pt x="963761" y="963762"/>
                </a:lnTo>
                <a:lnTo>
                  <a:pt x="0" y="963762"/>
                </a:lnTo>
                <a:lnTo>
                  <a:pt x="0" y="0"/>
                </a:lnTo>
                <a:close/>
              </a:path>
            </a:pathLst>
          </a:custGeom>
          <a:blipFill>
            <a:blip r:embed="rId3"/>
            <a:stretch>
              <a:fillRect l="0" t="0" r="0" b="0"/>
            </a:stretch>
          </a:blipFill>
        </p:spPr>
      </p:sp>
      <p:sp>
        <p:nvSpPr>
          <p:cNvPr name="TextBox 13" id="13"/>
          <p:cNvSpPr txBox="true"/>
          <p:nvPr/>
        </p:nvSpPr>
        <p:spPr>
          <a:xfrm rot="0">
            <a:off x="1864064" y="681990"/>
            <a:ext cx="3686274" cy="346710"/>
          </a:xfrm>
          <a:prstGeom prst="rect">
            <a:avLst/>
          </a:prstGeom>
        </p:spPr>
        <p:txBody>
          <a:bodyPr anchor="t" rtlCol="false" tIns="0" lIns="0" bIns="0" rIns="0">
            <a:spAutoFit/>
          </a:bodyPr>
          <a:lstStyle/>
          <a:p>
            <a:pPr algn="ctr">
              <a:lnSpc>
                <a:spcPts val="2400"/>
              </a:lnSpc>
              <a:spcBef>
                <a:spcPct val="0"/>
              </a:spcBef>
            </a:pPr>
            <a:r>
              <a:rPr lang="en-US" b="true" sz="2400">
                <a:solidFill>
                  <a:srgbClr val="0B3454"/>
                </a:solidFill>
                <a:latin typeface="Poppins Semi-Bold"/>
                <a:ea typeface="Poppins Semi-Bold"/>
                <a:cs typeface="Poppins Semi-Bold"/>
                <a:sym typeface="Poppins Semi-Bold"/>
              </a:rPr>
              <a:t>INSTITUT TEKNOLOGI DEL</a:t>
            </a:r>
          </a:p>
        </p:txBody>
      </p:sp>
      <p:grpSp>
        <p:nvGrpSpPr>
          <p:cNvPr name="Group 14" id="14"/>
          <p:cNvGrpSpPr/>
          <p:nvPr/>
        </p:nvGrpSpPr>
        <p:grpSpPr>
          <a:xfrm rot="0">
            <a:off x="1733240" y="4418970"/>
            <a:ext cx="1169924" cy="1169924"/>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ECF5FB"/>
            </a:solidFill>
            <a:ln w="38100" cap="sq">
              <a:gradFill>
                <a:gsLst>
                  <a:gs pos="0">
                    <a:srgbClr val="001F65">
                      <a:alpha val="100000"/>
                    </a:srgbClr>
                  </a:gs>
                  <a:gs pos="100000">
                    <a:srgbClr val="6895FD">
                      <a:alpha val="100000"/>
                    </a:srgbClr>
                  </a:gs>
                </a:gsLst>
                <a:lin ang="5400000"/>
              </a:gradFill>
              <a:prstDash val="solid"/>
              <a:miter/>
            </a:ln>
          </p:spPr>
        </p:sp>
        <p:sp>
          <p:nvSpPr>
            <p:cNvPr name="TextBox 16" id="16"/>
            <p:cNvSpPr txBox="true"/>
            <p:nvPr/>
          </p:nvSpPr>
          <p:spPr>
            <a:xfrm>
              <a:off x="139700" y="158750"/>
              <a:ext cx="533400" cy="514350"/>
            </a:xfrm>
            <a:prstGeom prst="rect">
              <a:avLst/>
            </a:prstGeom>
          </p:spPr>
          <p:txBody>
            <a:bodyPr anchor="ctr" rtlCol="false" tIns="50800" lIns="50800" bIns="50800" rIns="50800"/>
            <a:lstStyle/>
            <a:p>
              <a:pPr algn="ctr">
                <a:lnSpc>
                  <a:spcPts val="2400"/>
                </a:lnSpc>
              </a:pPr>
            </a:p>
          </p:txBody>
        </p:sp>
      </p:grpSp>
      <p:grpSp>
        <p:nvGrpSpPr>
          <p:cNvPr name="Group 17" id="17"/>
          <p:cNvGrpSpPr/>
          <p:nvPr/>
        </p:nvGrpSpPr>
        <p:grpSpPr>
          <a:xfrm rot="0">
            <a:off x="1733240" y="6741183"/>
            <a:ext cx="1169924" cy="1169924"/>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ECF5FB"/>
            </a:solidFill>
            <a:ln w="38100" cap="sq">
              <a:gradFill>
                <a:gsLst>
                  <a:gs pos="0">
                    <a:srgbClr val="001F65">
                      <a:alpha val="100000"/>
                    </a:srgbClr>
                  </a:gs>
                  <a:gs pos="100000">
                    <a:srgbClr val="6895FD">
                      <a:alpha val="100000"/>
                    </a:srgbClr>
                  </a:gs>
                </a:gsLst>
                <a:lin ang="5400000"/>
              </a:gradFill>
              <a:prstDash val="solid"/>
              <a:miter/>
            </a:ln>
          </p:spPr>
        </p:sp>
        <p:sp>
          <p:nvSpPr>
            <p:cNvPr name="TextBox 19" id="19"/>
            <p:cNvSpPr txBox="true"/>
            <p:nvPr/>
          </p:nvSpPr>
          <p:spPr>
            <a:xfrm>
              <a:off x="139700" y="158750"/>
              <a:ext cx="533400" cy="514350"/>
            </a:xfrm>
            <a:prstGeom prst="rect">
              <a:avLst/>
            </a:prstGeom>
          </p:spPr>
          <p:txBody>
            <a:bodyPr anchor="ctr" rtlCol="false" tIns="50800" lIns="50800" bIns="50800" rIns="50800"/>
            <a:lstStyle/>
            <a:p>
              <a:pPr algn="ctr">
                <a:lnSpc>
                  <a:spcPts val="2400"/>
                </a:lnSpc>
              </a:pPr>
            </a:p>
          </p:txBody>
        </p:sp>
      </p:grpSp>
      <p:sp>
        <p:nvSpPr>
          <p:cNvPr name="TextBox 20" id="20"/>
          <p:cNvSpPr txBox="true"/>
          <p:nvPr/>
        </p:nvSpPr>
        <p:spPr>
          <a:xfrm rot="0">
            <a:off x="1955863" y="4861819"/>
            <a:ext cx="724678" cy="350926"/>
          </a:xfrm>
          <a:prstGeom prst="rect">
            <a:avLst/>
          </a:prstGeom>
        </p:spPr>
        <p:txBody>
          <a:bodyPr anchor="t" rtlCol="false" tIns="0" lIns="0" bIns="0" rIns="0">
            <a:spAutoFit/>
          </a:bodyPr>
          <a:lstStyle/>
          <a:p>
            <a:pPr algn="ctr">
              <a:lnSpc>
                <a:spcPts val="2771"/>
              </a:lnSpc>
            </a:pPr>
            <a:r>
              <a:rPr lang="en-US" sz="2799">
                <a:solidFill>
                  <a:srgbClr val="001E51"/>
                </a:solidFill>
                <a:latin typeface="Montserrat"/>
                <a:ea typeface="Montserrat"/>
                <a:cs typeface="Montserrat"/>
                <a:sym typeface="Montserrat"/>
              </a:rPr>
              <a:t>1</a:t>
            </a:r>
          </a:p>
        </p:txBody>
      </p:sp>
      <p:sp>
        <p:nvSpPr>
          <p:cNvPr name="TextBox 21" id="21"/>
          <p:cNvSpPr txBox="true"/>
          <p:nvPr/>
        </p:nvSpPr>
        <p:spPr>
          <a:xfrm rot="0">
            <a:off x="1955863" y="7184032"/>
            <a:ext cx="724678" cy="350926"/>
          </a:xfrm>
          <a:prstGeom prst="rect">
            <a:avLst/>
          </a:prstGeom>
        </p:spPr>
        <p:txBody>
          <a:bodyPr anchor="t" rtlCol="false" tIns="0" lIns="0" bIns="0" rIns="0">
            <a:spAutoFit/>
          </a:bodyPr>
          <a:lstStyle/>
          <a:p>
            <a:pPr algn="ctr">
              <a:lnSpc>
                <a:spcPts val="2771"/>
              </a:lnSpc>
            </a:pPr>
            <a:r>
              <a:rPr lang="en-US" sz="2799">
                <a:solidFill>
                  <a:srgbClr val="001E51"/>
                </a:solidFill>
                <a:latin typeface="Montserrat"/>
                <a:ea typeface="Montserrat"/>
                <a:cs typeface="Montserrat"/>
                <a:sym typeface="Montserrat"/>
              </a:rPr>
              <a:t>2</a:t>
            </a:r>
          </a:p>
        </p:txBody>
      </p:sp>
      <p:grpSp>
        <p:nvGrpSpPr>
          <p:cNvPr name="Group 22" id="22"/>
          <p:cNvGrpSpPr/>
          <p:nvPr/>
        </p:nvGrpSpPr>
        <p:grpSpPr>
          <a:xfrm rot="5400000">
            <a:off x="15251605" y="7133371"/>
            <a:ext cx="47625" cy="3836200"/>
            <a:chOff x="0" y="0"/>
            <a:chExt cx="12543" cy="1010357"/>
          </a:xfrm>
        </p:grpSpPr>
        <p:sp>
          <p:nvSpPr>
            <p:cNvPr name="Freeform 23" id="23"/>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24" id="24"/>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grpSp>
        <p:nvGrpSpPr>
          <p:cNvPr name="Group 25" id="25"/>
          <p:cNvGrpSpPr/>
          <p:nvPr/>
        </p:nvGrpSpPr>
        <p:grpSpPr>
          <a:xfrm rot="5400000">
            <a:off x="15251605" y="7316387"/>
            <a:ext cx="47625" cy="3836200"/>
            <a:chOff x="0" y="0"/>
            <a:chExt cx="12543" cy="1010357"/>
          </a:xfrm>
        </p:grpSpPr>
        <p:sp>
          <p:nvSpPr>
            <p:cNvPr name="Freeform 26" id="26"/>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27" id="27"/>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9259" t="0" r="-9259" b="0"/>
            </a:stretch>
          </a:blipFill>
        </p:spPr>
      </p:sp>
      <p:grpSp>
        <p:nvGrpSpPr>
          <p:cNvPr name="Group 3" id="3"/>
          <p:cNvGrpSpPr/>
          <p:nvPr/>
        </p:nvGrpSpPr>
        <p:grpSpPr>
          <a:xfrm rot="0">
            <a:off x="-329739" y="-237765"/>
            <a:ext cx="2060453" cy="11245354"/>
            <a:chOff x="0" y="0"/>
            <a:chExt cx="542671" cy="2961739"/>
          </a:xfrm>
        </p:grpSpPr>
        <p:sp>
          <p:nvSpPr>
            <p:cNvPr name="Freeform 4" id="4"/>
            <p:cNvSpPr/>
            <p:nvPr/>
          </p:nvSpPr>
          <p:spPr>
            <a:xfrm flipH="false" flipV="false" rot="0">
              <a:off x="0" y="0"/>
              <a:ext cx="542671" cy="2961739"/>
            </a:xfrm>
            <a:custGeom>
              <a:avLst/>
              <a:gdLst/>
              <a:ahLst/>
              <a:cxnLst/>
              <a:rect r="r" b="b" t="t" l="l"/>
              <a:pathLst>
                <a:path h="2961739" w="542671">
                  <a:moveTo>
                    <a:pt x="0" y="0"/>
                  </a:moveTo>
                  <a:lnTo>
                    <a:pt x="542671" y="0"/>
                  </a:lnTo>
                  <a:lnTo>
                    <a:pt x="542671" y="2961739"/>
                  </a:lnTo>
                  <a:lnTo>
                    <a:pt x="0" y="2961739"/>
                  </a:lnTo>
                  <a:close/>
                </a:path>
              </a:pathLst>
            </a:custGeom>
            <a:solidFill>
              <a:srgbClr val="002254"/>
            </a:solidFill>
          </p:spPr>
        </p:sp>
        <p:sp>
          <p:nvSpPr>
            <p:cNvPr name="TextBox 5" id="5"/>
            <p:cNvSpPr txBox="true"/>
            <p:nvPr/>
          </p:nvSpPr>
          <p:spPr>
            <a:xfrm>
              <a:off x="0" y="-38100"/>
              <a:ext cx="542671" cy="2999839"/>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5927912" y="6148578"/>
            <a:ext cx="2060453" cy="11245354"/>
            <a:chOff x="0" y="0"/>
            <a:chExt cx="542671" cy="2961739"/>
          </a:xfrm>
        </p:grpSpPr>
        <p:sp>
          <p:nvSpPr>
            <p:cNvPr name="Freeform 7" id="7"/>
            <p:cNvSpPr/>
            <p:nvPr/>
          </p:nvSpPr>
          <p:spPr>
            <a:xfrm flipH="false" flipV="false" rot="0">
              <a:off x="0" y="0"/>
              <a:ext cx="542671" cy="2961739"/>
            </a:xfrm>
            <a:custGeom>
              <a:avLst/>
              <a:gdLst/>
              <a:ahLst/>
              <a:cxnLst/>
              <a:rect r="r" b="b" t="t" l="l"/>
              <a:pathLst>
                <a:path h="2961739" w="542671">
                  <a:moveTo>
                    <a:pt x="0" y="0"/>
                  </a:moveTo>
                  <a:lnTo>
                    <a:pt x="542671" y="0"/>
                  </a:lnTo>
                  <a:lnTo>
                    <a:pt x="542671" y="2961739"/>
                  </a:lnTo>
                  <a:lnTo>
                    <a:pt x="0" y="2961739"/>
                  </a:lnTo>
                  <a:close/>
                </a:path>
              </a:pathLst>
            </a:custGeom>
            <a:solidFill>
              <a:srgbClr val="002254"/>
            </a:solidFill>
          </p:spPr>
        </p:sp>
        <p:sp>
          <p:nvSpPr>
            <p:cNvPr name="TextBox 8" id="8"/>
            <p:cNvSpPr txBox="true"/>
            <p:nvPr/>
          </p:nvSpPr>
          <p:spPr>
            <a:xfrm>
              <a:off x="0" y="-38100"/>
              <a:ext cx="542671" cy="2999839"/>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2958913" y="3953724"/>
            <a:ext cx="12366523" cy="3927687"/>
          </a:xfrm>
          <a:prstGeom prst="rect">
            <a:avLst/>
          </a:prstGeom>
        </p:spPr>
        <p:txBody>
          <a:bodyPr anchor="t" rtlCol="false" tIns="0" lIns="0" bIns="0" rIns="0">
            <a:spAutoFit/>
          </a:bodyPr>
          <a:lstStyle/>
          <a:p>
            <a:pPr algn="just">
              <a:lnSpc>
                <a:spcPts val="3500"/>
              </a:lnSpc>
            </a:pPr>
            <a:r>
              <a:rPr lang="en-US" sz="2500">
                <a:solidFill>
                  <a:srgbClr val="002254"/>
                </a:solidFill>
                <a:latin typeface="Montserrat"/>
                <a:ea typeface="Montserrat"/>
                <a:cs typeface="Montserrat"/>
                <a:sym typeface="Montserrat"/>
              </a:rPr>
              <a:t>Evaluate and compare the performance of the</a:t>
            </a:r>
            <a:r>
              <a:rPr lang="en-US" sz="2500" b="true">
                <a:solidFill>
                  <a:srgbClr val="002254"/>
                </a:solidFill>
                <a:latin typeface="Montserrat Bold"/>
                <a:ea typeface="Montserrat Bold"/>
                <a:cs typeface="Montserrat Bold"/>
                <a:sym typeface="Montserrat Bold"/>
              </a:rPr>
              <a:t> Random Forest</a:t>
            </a:r>
            <a:r>
              <a:rPr lang="en-US" sz="2500">
                <a:solidFill>
                  <a:srgbClr val="002254"/>
                </a:solidFill>
                <a:latin typeface="Montserrat"/>
                <a:ea typeface="Montserrat"/>
                <a:cs typeface="Montserrat"/>
                <a:sym typeface="Montserrat"/>
              </a:rPr>
              <a:t> and </a:t>
            </a:r>
            <a:r>
              <a:rPr lang="en-US" sz="2500" b="true">
                <a:solidFill>
                  <a:srgbClr val="002254"/>
                </a:solidFill>
                <a:latin typeface="Montserrat Bold"/>
                <a:ea typeface="Montserrat Bold"/>
                <a:cs typeface="Montserrat Bold"/>
                <a:sym typeface="Montserrat Bold"/>
              </a:rPr>
              <a:t>XGBoost </a:t>
            </a:r>
            <a:r>
              <a:rPr lang="en-US" sz="2500">
                <a:solidFill>
                  <a:srgbClr val="002254"/>
                </a:solidFill>
                <a:latin typeface="Montserrat"/>
                <a:ea typeface="Montserrat"/>
                <a:cs typeface="Montserrat"/>
                <a:sym typeface="Montserrat"/>
              </a:rPr>
              <a:t>algorithms as single models and as a combined model (ensemble) in detecting new, more complex phi</a:t>
            </a:r>
            <a:r>
              <a:rPr lang="en-US" sz="2500">
                <a:solidFill>
                  <a:srgbClr val="002254"/>
                </a:solidFill>
                <a:latin typeface="Montserrat"/>
                <a:ea typeface="Montserrat"/>
                <a:cs typeface="Montserrat"/>
                <a:sym typeface="Montserrat"/>
              </a:rPr>
              <a:t>shing websites based on accuracy, precision, recall, F1-score, and AUC metrics.</a:t>
            </a:r>
          </a:p>
          <a:p>
            <a:pPr algn="just">
              <a:lnSpc>
                <a:spcPts val="3500"/>
              </a:lnSpc>
            </a:pPr>
          </a:p>
          <a:p>
            <a:pPr algn="just">
              <a:lnSpc>
                <a:spcPts val="3500"/>
              </a:lnSpc>
            </a:pPr>
            <a:r>
              <a:rPr lang="en-US" sz="2500">
                <a:solidFill>
                  <a:srgbClr val="002254"/>
                </a:solidFill>
                <a:latin typeface="Montserrat"/>
                <a:ea typeface="Montserrat"/>
                <a:cs typeface="Montserrat"/>
                <a:sym typeface="Montserrat"/>
              </a:rPr>
              <a:t>Analyze and evaluate the effect of implementing </a:t>
            </a:r>
            <a:r>
              <a:rPr lang="en-US" sz="2500" b="true">
                <a:solidFill>
                  <a:srgbClr val="002254"/>
                </a:solidFill>
                <a:latin typeface="Montserrat Bold"/>
                <a:ea typeface="Montserrat Bold"/>
                <a:cs typeface="Montserrat Bold"/>
                <a:sym typeface="Montserrat Bold"/>
              </a:rPr>
              <a:t>rule-based filtering</a:t>
            </a:r>
            <a:r>
              <a:rPr lang="en-US" sz="2500">
                <a:solidFill>
                  <a:srgbClr val="002254"/>
                </a:solidFill>
                <a:latin typeface="Montserrat"/>
                <a:ea typeface="Montserrat"/>
                <a:cs typeface="Montserrat"/>
                <a:sym typeface="Montserrat"/>
              </a:rPr>
              <a:t> as an initial layer on the processing efficiency and consistency of the predictive performance of a phishing detection system based on the combined Random Forest and XGBoost models.</a:t>
            </a:r>
          </a:p>
        </p:txBody>
      </p:sp>
      <p:grpSp>
        <p:nvGrpSpPr>
          <p:cNvPr name="Group 10" id="10"/>
          <p:cNvGrpSpPr/>
          <p:nvPr/>
        </p:nvGrpSpPr>
        <p:grpSpPr>
          <a:xfrm rot="5400000">
            <a:off x="13383524" y="7364012"/>
            <a:ext cx="47625" cy="3836200"/>
            <a:chOff x="0" y="0"/>
            <a:chExt cx="12543" cy="1010357"/>
          </a:xfrm>
        </p:grpSpPr>
        <p:sp>
          <p:nvSpPr>
            <p:cNvPr name="Freeform 11" id="11"/>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12" id="12"/>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5400000">
            <a:off x="13383524" y="7547029"/>
            <a:ext cx="47625" cy="3836200"/>
            <a:chOff x="0" y="0"/>
            <a:chExt cx="12543" cy="1010357"/>
          </a:xfrm>
        </p:grpSpPr>
        <p:sp>
          <p:nvSpPr>
            <p:cNvPr name="Freeform 14" id="14"/>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15" id="15"/>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false" rot="0">
            <a:off x="692764" y="400218"/>
            <a:ext cx="963762" cy="963762"/>
          </a:xfrm>
          <a:custGeom>
            <a:avLst/>
            <a:gdLst/>
            <a:ahLst/>
            <a:cxnLst/>
            <a:rect r="r" b="b" t="t" l="l"/>
            <a:pathLst>
              <a:path h="963762" w="963762">
                <a:moveTo>
                  <a:pt x="0" y="0"/>
                </a:moveTo>
                <a:lnTo>
                  <a:pt x="963761" y="0"/>
                </a:lnTo>
                <a:lnTo>
                  <a:pt x="963761" y="963762"/>
                </a:lnTo>
                <a:lnTo>
                  <a:pt x="0" y="963762"/>
                </a:lnTo>
                <a:lnTo>
                  <a:pt x="0" y="0"/>
                </a:lnTo>
                <a:close/>
              </a:path>
            </a:pathLst>
          </a:custGeom>
          <a:blipFill>
            <a:blip r:embed="rId3"/>
            <a:stretch>
              <a:fillRect l="0" t="0" r="0" b="0"/>
            </a:stretch>
          </a:blipFill>
        </p:spPr>
      </p:sp>
      <p:sp>
        <p:nvSpPr>
          <p:cNvPr name="TextBox 17" id="17"/>
          <p:cNvSpPr txBox="true"/>
          <p:nvPr/>
        </p:nvSpPr>
        <p:spPr>
          <a:xfrm rot="0">
            <a:off x="1864064" y="681990"/>
            <a:ext cx="3686274" cy="346710"/>
          </a:xfrm>
          <a:prstGeom prst="rect">
            <a:avLst/>
          </a:prstGeom>
        </p:spPr>
        <p:txBody>
          <a:bodyPr anchor="t" rtlCol="false" tIns="0" lIns="0" bIns="0" rIns="0">
            <a:spAutoFit/>
          </a:bodyPr>
          <a:lstStyle/>
          <a:p>
            <a:pPr algn="ctr">
              <a:lnSpc>
                <a:spcPts val="2400"/>
              </a:lnSpc>
              <a:spcBef>
                <a:spcPct val="0"/>
              </a:spcBef>
            </a:pPr>
            <a:r>
              <a:rPr lang="en-US" b="true" sz="2400">
                <a:solidFill>
                  <a:srgbClr val="0B3454"/>
                </a:solidFill>
                <a:latin typeface="Poppins Semi-Bold"/>
                <a:ea typeface="Poppins Semi-Bold"/>
                <a:cs typeface="Poppins Semi-Bold"/>
                <a:sym typeface="Poppins Semi-Bold"/>
              </a:rPr>
              <a:t>INSTITUT TEKNOLOGI DEL</a:t>
            </a:r>
          </a:p>
        </p:txBody>
      </p:sp>
      <p:grpSp>
        <p:nvGrpSpPr>
          <p:cNvPr name="Group 18" id="18"/>
          <p:cNvGrpSpPr/>
          <p:nvPr/>
        </p:nvGrpSpPr>
        <p:grpSpPr>
          <a:xfrm rot="5400000">
            <a:off x="4215892" y="-286945"/>
            <a:ext cx="47625" cy="3836200"/>
            <a:chOff x="0" y="0"/>
            <a:chExt cx="12543" cy="1010357"/>
          </a:xfrm>
        </p:grpSpPr>
        <p:sp>
          <p:nvSpPr>
            <p:cNvPr name="Freeform 19" id="19"/>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20" id="20"/>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grpSp>
        <p:nvGrpSpPr>
          <p:cNvPr name="Group 21" id="21"/>
          <p:cNvGrpSpPr/>
          <p:nvPr/>
        </p:nvGrpSpPr>
        <p:grpSpPr>
          <a:xfrm rot="5400000">
            <a:off x="4215892" y="-103929"/>
            <a:ext cx="47625" cy="3836200"/>
            <a:chOff x="0" y="0"/>
            <a:chExt cx="12543" cy="1010357"/>
          </a:xfrm>
        </p:grpSpPr>
        <p:sp>
          <p:nvSpPr>
            <p:cNvPr name="Freeform 22" id="22"/>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23" id="23"/>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sp>
        <p:nvSpPr>
          <p:cNvPr name="TextBox 24" id="24"/>
          <p:cNvSpPr txBox="true"/>
          <p:nvPr/>
        </p:nvSpPr>
        <p:spPr>
          <a:xfrm rot="0">
            <a:off x="2321605" y="2210600"/>
            <a:ext cx="7717514" cy="1028750"/>
          </a:xfrm>
          <a:prstGeom prst="rect">
            <a:avLst/>
          </a:prstGeom>
        </p:spPr>
        <p:txBody>
          <a:bodyPr anchor="t" rtlCol="false" tIns="0" lIns="0" bIns="0" rIns="0">
            <a:spAutoFit/>
          </a:bodyPr>
          <a:lstStyle/>
          <a:p>
            <a:pPr algn="l">
              <a:lnSpc>
                <a:spcPts val="8400"/>
              </a:lnSpc>
            </a:pPr>
            <a:r>
              <a:rPr lang="en-US" sz="6000" b="true">
                <a:solidFill>
                  <a:srgbClr val="002254"/>
                </a:solidFill>
                <a:latin typeface="Montserrat Ultra-Bold"/>
                <a:ea typeface="Montserrat Ultra-Bold"/>
                <a:cs typeface="Montserrat Ultra-Bold"/>
                <a:sym typeface="Montserrat Ultra-Bold"/>
              </a:rPr>
              <a:t>Research Propose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9259" t="0" r="-9259" b="0"/>
            </a:stretch>
          </a:blipFill>
        </p:spPr>
      </p:sp>
      <p:grpSp>
        <p:nvGrpSpPr>
          <p:cNvPr name="Group 3" id="3"/>
          <p:cNvGrpSpPr/>
          <p:nvPr/>
        </p:nvGrpSpPr>
        <p:grpSpPr>
          <a:xfrm rot="5400000">
            <a:off x="3501408" y="-238972"/>
            <a:ext cx="47625" cy="3836200"/>
            <a:chOff x="0" y="0"/>
            <a:chExt cx="12543" cy="1010357"/>
          </a:xfrm>
        </p:grpSpPr>
        <p:sp>
          <p:nvSpPr>
            <p:cNvPr name="Freeform 4" id="4"/>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5" id="5"/>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5400000">
            <a:off x="3501408" y="-55955"/>
            <a:ext cx="47625" cy="3836200"/>
            <a:chOff x="0" y="0"/>
            <a:chExt cx="12543" cy="1010357"/>
          </a:xfrm>
        </p:grpSpPr>
        <p:sp>
          <p:nvSpPr>
            <p:cNvPr name="Freeform 7" id="7"/>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8" id="8"/>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2318202" y="2130476"/>
            <a:ext cx="7717514" cy="1028750"/>
          </a:xfrm>
          <a:prstGeom prst="rect">
            <a:avLst/>
          </a:prstGeom>
        </p:spPr>
        <p:txBody>
          <a:bodyPr anchor="t" rtlCol="false" tIns="0" lIns="0" bIns="0" rIns="0">
            <a:spAutoFit/>
          </a:bodyPr>
          <a:lstStyle/>
          <a:p>
            <a:pPr algn="l">
              <a:lnSpc>
                <a:spcPts val="8400"/>
              </a:lnSpc>
            </a:pPr>
            <a:r>
              <a:rPr lang="en-US" sz="6000" b="true">
                <a:solidFill>
                  <a:srgbClr val="002254"/>
                </a:solidFill>
                <a:latin typeface="Montserrat Ultra-Bold"/>
                <a:ea typeface="Montserrat Ultra-Bold"/>
                <a:cs typeface="Montserrat Ultra-Bold"/>
                <a:sym typeface="Montserrat Ultra-Bold"/>
              </a:rPr>
              <a:t>SCOPE </a:t>
            </a:r>
          </a:p>
        </p:txBody>
      </p:sp>
      <p:sp>
        <p:nvSpPr>
          <p:cNvPr name="TextBox 10" id="10"/>
          <p:cNvSpPr txBox="true"/>
          <p:nvPr/>
        </p:nvSpPr>
        <p:spPr>
          <a:xfrm rot="0">
            <a:off x="1028700" y="3587850"/>
            <a:ext cx="8787625" cy="5680386"/>
          </a:xfrm>
          <a:prstGeom prst="rect">
            <a:avLst/>
          </a:prstGeom>
        </p:spPr>
        <p:txBody>
          <a:bodyPr anchor="t" rtlCol="false" tIns="0" lIns="0" bIns="0" rIns="0">
            <a:spAutoFit/>
          </a:bodyPr>
          <a:lstStyle/>
          <a:p>
            <a:pPr algn="just">
              <a:lnSpc>
                <a:spcPts val="3500"/>
              </a:lnSpc>
            </a:pPr>
            <a:r>
              <a:rPr lang="en-US" b="true" sz="2500">
                <a:solidFill>
                  <a:srgbClr val="002254"/>
                </a:solidFill>
                <a:latin typeface="Montserrat Bold"/>
                <a:ea typeface="Montserrat Bold"/>
                <a:cs typeface="Montserrat Bold"/>
                <a:sym typeface="Montserrat Bold"/>
              </a:rPr>
              <a:t>DATASET :</a:t>
            </a:r>
          </a:p>
          <a:p>
            <a:pPr algn="just" marL="539842" indent="-269921" lvl="1">
              <a:lnSpc>
                <a:spcPts val="3500"/>
              </a:lnSpc>
              <a:buFont typeface="Arial"/>
              <a:buChar char="•"/>
            </a:pPr>
            <a:r>
              <a:rPr lang="en-US" sz="2500">
                <a:solidFill>
                  <a:srgbClr val="002254"/>
                </a:solidFill>
                <a:latin typeface="Montserrat"/>
                <a:ea typeface="Montserrat"/>
                <a:cs typeface="Montserrat"/>
                <a:sym typeface="Montserrat"/>
              </a:rPr>
              <a:t>P</a:t>
            </a:r>
            <a:r>
              <a:rPr lang="en-US" sz="2500">
                <a:solidFill>
                  <a:srgbClr val="002254"/>
                </a:solidFill>
                <a:latin typeface="Montserrat"/>
                <a:ea typeface="Montserrat"/>
                <a:cs typeface="Montserrat"/>
                <a:sym typeface="Montserrat"/>
              </a:rPr>
              <a:t>hishing and benign website dataset obtained from the public Kaggle repository. </a:t>
            </a:r>
          </a:p>
          <a:p>
            <a:pPr algn="just" marL="539842" indent="-269921" lvl="1">
              <a:lnSpc>
                <a:spcPts val="3500"/>
              </a:lnSpc>
              <a:buFont typeface="Arial"/>
              <a:buChar char="•"/>
            </a:pPr>
            <a:r>
              <a:rPr lang="en-US" sz="2500">
                <a:solidFill>
                  <a:srgbClr val="002254"/>
                </a:solidFill>
                <a:latin typeface="Montserrat"/>
                <a:ea typeface="Montserrat"/>
                <a:cs typeface="Montserrat"/>
                <a:sym typeface="Montserrat"/>
              </a:rPr>
              <a:t>Contains URLs and relevant features used for phishing classification.</a:t>
            </a:r>
          </a:p>
          <a:p>
            <a:pPr algn="just">
              <a:lnSpc>
                <a:spcPts val="3500"/>
              </a:lnSpc>
            </a:pPr>
          </a:p>
          <a:p>
            <a:pPr algn="just">
              <a:lnSpc>
                <a:spcPts val="3500"/>
              </a:lnSpc>
            </a:pPr>
            <a:r>
              <a:rPr lang="en-US" sz="2500" b="true">
                <a:solidFill>
                  <a:srgbClr val="002254"/>
                </a:solidFill>
                <a:latin typeface="Montserrat Bold"/>
                <a:ea typeface="Montserrat Bold"/>
                <a:cs typeface="Montserrat Bold"/>
                <a:sym typeface="Montserrat Bold"/>
              </a:rPr>
              <a:t>Algorithm :</a:t>
            </a:r>
          </a:p>
          <a:p>
            <a:pPr algn="just" marL="539842" indent="-269921" lvl="1">
              <a:lnSpc>
                <a:spcPts val="3500"/>
              </a:lnSpc>
              <a:buFont typeface="Arial"/>
              <a:buChar char="•"/>
            </a:pPr>
            <a:r>
              <a:rPr lang="en-US" sz="2500">
                <a:solidFill>
                  <a:srgbClr val="002254"/>
                </a:solidFill>
                <a:latin typeface="Montserrat"/>
                <a:ea typeface="Montserrat"/>
                <a:cs typeface="Montserrat"/>
                <a:sym typeface="Montserrat"/>
              </a:rPr>
              <a:t>RANDOM FOREST (BASE LEARNER)</a:t>
            </a:r>
          </a:p>
          <a:p>
            <a:pPr algn="just" marL="539842" indent="-269921" lvl="1">
              <a:lnSpc>
                <a:spcPts val="3500"/>
              </a:lnSpc>
              <a:buFont typeface="Arial"/>
              <a:buChar char="•"/>
            </a:pPr>
            <a:r>
              <a:rPr lang="en-US" sz="2500">
                <a:solidFill>
                  <a:srgbClr val="002254"/>
                </a:solidFill>
                <a:latin typeface="Montserrat"/>
                <a:ea typeface="Montserrat"/>
                <a:cs typeface="Montserrat"/>
                <a:sym typeface="Montserrat"/>
              </a:rPr>
              <a:t>XGBOOST (BASE LEARNER)</a:t>
            </a:r>
          </a:p>
          <a:p>
            <a:pPr algn="just" marL="539842" indent="-269921" lvl="1">
              <a:lnSpc>
                <a:spcPts val="3500"/>
              </a:lnSpc>
              <a:buFont typeface="Arial"/>
              <a:buChar char="•"/>
            </a:pPr>
            <a:r>
              <a:rPr lang="en-US" sz="2500">
                <a:solidFill>
                  <a:srgbClr val="002254"/>
                </a:solidFill>
                <a:latin typeface="Montserrat"/>
                <a:ea typeface="Montserrat"/>
                <a:cs typeface="Montserrat"/>
                <a:sym typeface="Montserrat"/>
              </a:rPr>
              <a:t>Stacking (Logistic Regression as a meta-learner)</a:t>
            </a:r>
          </a:p>
          <a:p>
            <a:pPr algn="just" marL="539842" indent="-269921" lvl="1">
              <a:lnSpc>
                <a:spcPts val="3500"/>
              </a:lnSpc>
              <a:buFont typeface="Arial"/>
              <a:buChar char="•"/>
            </a:pPr>
            <a:r>
              <a:rPr lang="en-US" sz="2500">
                <a:solidFill>
                  <a:srgbClr val="002254"/>
                </a:solidFill>
                <a:latin typeface="Montserrat"/>
                <a:ea typeface="Montserrat"/>
                <a:cs typeface="Montserrat"/>
                <a:sym typeface="Montserrat"/>
              </a:rPr>
              <a:t>RULE-BASED FILTERING (PRE-FILTER)</a:t>
            </a:r>
          </a:p>
          <a:p>
            <a:pPr algn="just" marL="539842" indent="-269921" lvl="1">
              <a:lnSpc>
                <a:spcPts val="3500"/>
              </a:lnSpc>
              <a:buFont typeface="Arial"/>
              <a:buChar char="•"/>
            </a:pPr>
            <a:r>
              <a:rPr lang="en-US" sz="2500">
                <a:solidFill>
                  <a:srgbClr val="002254"/>
                </a:solidFill>
                <a:latin typeface="Montserrat"/>
                <a:ea typeface="Montserrat"/>
                <a:cs typeface="Montserrat"/>
                <a:sym typeface="Montserrat"/>
              </a:rPr>
              <a:t>SHAP (Model Explanation)</a:t>
            </a:r>
          </a:p>
          <a:p>
            <a:pPr algn="just" marL="539842" indent="-269921" lvl="1">
              <a:lnSpc>
                <a:spcPts val="3500"/>
              </a:lnSpc>
              <a:buFont typeface="Arial"/>
              <a:buChar char="•"/>
            </a:pPr>
            <a:r>
              <a:rPr lang="en-US" sz="2500">
                <a:solidFill>
                  <a:srgbClr val="002254"/>
                </a:solidFill>
                <a:latin typeface="Montserrat"/>
                <a:ea typeface="Montserrat"/>
                <a:cs typeface="Montserrat"/>
                <a:sym typeface="Montserrat"/>
              </a:rPr>
              <a:t>LLM Reasoning </a:t>
            </a:r>
          </a:p>
        </p:txBody>
      </p:sp>
      <p:sp>
        <p:nvSpPr>
          <p:cNvPr name="Freeform 11" id="11"/>
          <p:cNvSpPr/>
          <p:nvPr/>
        </p:nvSpPr>
        <p:spPr>
          <a:xfrm flipH="false" flipV="false" rot="0">
            <a:off x="692764" y="400218"/>
            <a:ext cx="963762" cy="963762"/>
          </a:xfrm>
          <a:custGeom>
            <a:avLst/>
            <a:gdLst/>
            <a:ahLst/>
            <a:cxnLst/>
            <a:rect r="r" b="b" t="t" l="l"/>
            <a:pathLst>
              <a:path h="963762" w="963762">
                <a:moveTo>
                  <a:pt x="0" y="0"/>
                </a:moveTo>
                <a:lnTo>
                  <a:pt x="963761" y="0"/>
                </a:lnTo>
                <a:lnTo>
                  <a:pt x="963761" y="963762"/>
                </a:lnTo>
                <a:lnTo>
                  <a:pt x="0" y="963762"/>
                </a:lnTo>
                <a:lnTo>
                  <a:pt x="0" y="0"/>
                </a:lnTo>
                <a:close/>
              </a:path>
            </a:pathLst>
          </a:custGeom>
          <a:blipFill>
            <a:blip r:embed="rId3"/>
            <a:stretch>
              <a:fillRect l="0" t="0" r="0" b="0"/>
            </a:stretch>
          </a:blipFill>
        </p:spPr>
      </p:sp>
      <p:sp>
        <p:nvSpPr>
          <p:cNvPr name="TextBox 12" id="12"/>
          <p:cNvSpPr txBox="true"/>
          <p:nvPr/>
        </p:nvSpPr>
        <p:spPr>
          <a:xfrm rot="0">
            <a:off x="1864064" y="681990"/>
            <a:ext cx="3686274" cy="346710"/>
          </a:xfrm>
          <a:prstGeom prst="rect">
            <a:avLst/>
          </a:prstGeom>
        </p:spPr>
        <p:txBody>
          <a:bodyPr anchor="t" rtlCol="false" tIns="0" lIns="0" bIns="0" rIns="0">
            <a:spAutoFit/>
          </a:bodyPr>
          <a:lstStyle/>
          <a:p>
            <a:pPr algn="ctr">
              <a:lnSpc>
                <a:spcPts val="2400"/>
              </a:lnSpc>
              <a:spcBef>
                <a:spcPct val="0"/>
              </a:spcBef>
            </a:pPr>
            <a:r>
              <a:rPr lang="en-US" b="true" sz="2400">
                <a:solidFill>
                  <a:srgbClr val="0B3454"/>
                </a:solidFill>
                <a:latin typeface="Poppins Semi-Bold"/>
                <a:ea typeface="Poppins Semi-Bold"/>
                <a:cs typeface="Poppins Semi-Bold"/>
                <a:sym typeface="Poppins Semi-Bold"/>
              </a:rPr>
              <a:t>INSTITUT TEKNOLOGI DEL</a:t>
            </a:r>
          </a:p>
        </p:txBody>
      </p:sp>
      <p:sp>
        <p:nvSpPr>
          <p:cNvPr name="TextBox 13" id="13"/>
          <p:cNvSpPr txBox="true"/>
          <p:nvPr/>
        </p:nvSpPr>
        <p:spPr>
          <a:xfrm rot="0">
            <a:off x="10274877" y="2654376"/>
            <a:ext cx="6984423" cy="6556736"/>
          </a:xfrm>
          <a:prstGeom prst="rect">
            <a:avLst/>
          </a:prstGeom>
        </p:spPr>
        <p:txBody>
          <a:bodyPr anchor="t" rtlCol="false" tIns="0" lIns="0" bIns="0" rIns="0">
            <a:spAutoFit/>
          </a:bodyPr>
          <a:lstStyle/>
          <a:p>
            <a:pPr algn="l">
              <a:lnSpc>
                <a:spcPts val="3500"/>
              </a:lnSpc>
            </a:pPr>
            <a:r>
              <a:rPr lang="en-US" sz="2500" b="true">
                <a:solidFill>
                  <a:srgbClr val="002254"/>
                </a:solidFill>
                <a:latin typeface="Montserrat Bold"/>
                <a:ea typeface="Montserrat Bold"/>
                <a:cs typeface="Montserrat Bold"/>
                <a:sym typeface="Montserrat Bold"/>
              </a:rPr>
              <a:t> IMPLEMENTATION SYSTEM :</a:t>
            </a:r>
          </a:p>
          <a:p>
            <a:pPr algn="l" marL="539842" indent="-269921" lvl="1">
              <a:lnSpc>
                <a:spcPts val="3500"/>
              </a:lnSpc>
              <a:buFont typeface="Arial"/>
              <a:buChar char="•"/>
            </a:pPr>
            <a:r>
              <a:rPr lang="en-US" sz="2500">
                <a:solidFill>
                  <a:srgbClr val="002254"/>
                </a:solidFill>
                <a:latin typeface="Montserrat"/>
                <a:ea typeface="Montserrat"/>
                <a:cs typeface="Montserrat"/>
                <a:sym typeface="Montserrat"/>
              </a:rPr>
              <a:t>W</a:t>
            </a:r>
            <a:r>
              <a:rPr lang="en-US" sz="2500">
                <a:solidFill>
                  <a:srgbClr val="002254"/>
                </a:solidFill>
                <a:latin typeface="Montserrat"/>
                <a:ea typeface="Montserrat"/>
                <a:cs typeface="Montserrat"/>
                <a:sym typeface="Montserrat"/>
              </a:rPr>
              <a:t>eb-based dashboard</a:t>
            </a:r>
          </a:p>
          <a:p>
            <a:pPr algn="l" marL="539842" indent="-269921" lvl="1">
              <a:lnSpc>
                <a:spcPts val="3500"/>
              </a:lnSpc>
              <a:buFont typeface="Arial"/>
              <a:buChar char="•"/>
            </a:pPr>
            <a:r>
              <a:rPr lang="en-US" sz="2500">
                <a:solidFill>
                  <a:srgbClr val="002254"/>
                </a:solidFill>
                <a:latin typeface="Montserrat"/>
                <a:ea typeface="Montserrat"/>
                <a:cs typeface="Montserrat"/>
                <a:sym typeface="Montserrat"/>
              </a:rPr>
              <a:t>Manual URL input</a:t>
            </a:r>
          </a:p>
          <a:p>
            <a:pPr algn="l" marL="539842" indent="-269921" lvl="1">
              <a:lnSpc>
                <a:spcPts val="3500"/>
              </a:lnSpc>
              <a:buFont typeface="Arial"/>
              <a:buChar char="•"/>
            </a:pPr>
            <a:r>
              <a:rPr lang="en-US" sz="2500">
                <a:solidFill>
                  <a:srgbClr val="002254"/>
                </a:solidFill>
                <a:latin typeface="Montserrat"/>
                <a:ea typeface="Montserrat"/>
                <a:cs typeface="Montserrat"/>
                <a:sym typeface="Montserrat"/>
              </a:rPr>
              <a:t>Phishing / benign classification output</a:t>
            </a:r>
          </a:p>
          <a:p>
            <a:pPr algn="l" marL="539842" indent="-269921" lvl="1">
              <a:lnSpc>
                <a:spcPts val="3500"/>
              </a:lnSpc>
              <a:buFont typeface="Arial"/>
              <a:buChar char="•"/>
            </a:pPr>
            <a:r>
              <a:rPr lang="en-US" sz="2500">
                <a:solidFill>
                  <a:srgbClr val="002254"/>
                </a:solidFill>
                <a:latin typeface="Montserrat"/>
                <a:ea typeface="Montserrat"/>
                <a:cs typeface="Montserrat"/>
                <a:sym typeface="Montserrat"/>
              </a:rPr>
              <a:t>Classification probability results</a:t>
            </a:r>
          </a:p>
          <a:p>
            <a:pPr algn="l" marL="539842" indent="-269921" lvl="1">
              <a:lnSpc>
                <a:spcPts val="3500"/>
              </a:lnSpc>
              <a:buFont typeface="Arial"/>
              <a:buChar char="•"/>
            </a:pPr>
            <a:r>
              <a:rPr lang="en-US" sz="2500">
                <a:solidFill>
                  <a:srgbClr val="002254"/>
                </a:solidFill>
                <a:latin typeface="Montserrat"/>
                <a:ea typeface="Montserrat"/>
                <a:cs typeface="Montserrat"/>
                <a:sym typeface="Montserrat"/>
              </a:rPr>
              <a:t>Top influential features</a:t>
            </a:r>
          </a:p>
          <a:p>
            <a:pPr algn="l" marL="539842" indent="-269921" lvl="1">
              <a:lnSpc>
                <a:spcPts val="3500"/>
              </a:lnSpc>
              <a:buFont typeface="Arial"/>
              <a:buChar char="•"/>
            </a:pPr>
            <a:r>
              <a:rPr lang="en-US" sz="2500">
                <a:solidFill>
                  <a:srgbClr val="002254"/>
                </a:solidFill>
                <a:latin typeface="Montserrat"/>
                <a:ea typeface="Montserrat"/>
                <a:cs typeface="Montserrat"/>
                <a:sym typeface="Montserrat"/>
              </a:rPr>
              <a:t>AI-generated reasoning and recommendations</a:t>
            </a:r>
          </a:p>
          <a:p>
            <a:pPr algn="l">
              <a:lnSpc>
                <a:spcPts val="3500"/>
              </a:lnSpc>
            </a:pPr>
          </a:p>
          <a:p>
            <a:pPr algn="l">
              <a:lnSpc>
                <a:spcPts val="3500"/>
              </a:lnSpc>
            </a:pPr>
            <a:r>
              <a:rPr lang="en-US" sz="2500" b="true">
                <a:solidFill>
                  <a:srgbClr val="002254"/>
                </a:solidFill>
                <a:latin typeface="Montserrat Bold"/>
                <a:ea typeface="Montserrat Bold"/>
                <a:cs typeface="Montserrat Bold"/>
                <a:sym typeface="Montserrat Bold"/>
              </a:rPr>
              <a:t>Evaluation metric :</a:t>
            </a:r>
          </a:p>
          <a:p>
            <a:pPr algn="l" marL="539842" indent="-269921" lvl="1">
              <a:lnSpc>
                <a:spcPts val="3500"/>
              </a:lnSpc>
              <a:buFont typeface="Arial"/>
              <a:buChar char="•"/>
            </a:pPr>
            <a:r>
              <a:rPr lang="en-US" sz="2500">
                <a:solidFill>
                  <a:srgbClr val="002254"/>
                </a:solidFill>
                <a:latin typeface="Montserrat"/>
                <a:ea typeface="Montserrat"/>
                <a:cs typeface="Montserrat"/>
                <a:sym typeface="Montserrat"/>
              </a:rPr>
              <a:t>Accur</a:t>
            </a:r>
            <a:r>
              <a:rPr lang="en-US" sz="2500">
                <a:solidFill>
                  <a:srgbClr val="002254"/>
                </a:solidFill>
                <a:latin typeface="Montserrat"/>
                <a:ea typeface="Montserrat"/>
                <a:cs typeface="Montserrat"/>
                <a:sym typeface="Montserrat"/>
              </a:rPr>
              <a:t>ACY</a:t>
            </a:r>
          </a:p>
          <a:p>
            <a:pPr algn="l" marL="539842" indent="-269921" lvl="1">
              <a:lnSpc>
                <a:spcPts val="3500"/>
              </a:lnSpc>
              <a:buFont typeface="Arial"/>
              <a:buChar char="•"/>
            </a:pPr>
            <a:r>
              <a:rPr lang="en-US" sz="2500">
                <a:solidFill>
                  <a:srgbClr val="002254"/>
                </a:solidFill>
                <a:latin typeface="Montserrat"/>
                <a:ea typeface="Montserrat"/>
                <a:cs typeface="Montserrat"/>
                <a:sym typeface="Montserrat"/>
              </a:rPr>
              <a:t>PRECISION</a:t>
            </a:r>
          </a:p>
          <a:p>
            <a:pPr algn="l" marL="539842" indent="-269921" lvl="1">
              <a:lnSpc>
                <a:spcPts val="3500"/>
              </a:lnSpc>
              <a:buFont typeface="Arial"/>
              <a:buChar char="•"/>
            </a:pPr>
            <a:r>
              <a:rPr lang="en-US" sz="2500">
                <a:solidFill>
                  <a:srgbClr val="002254"/>
                </a:solidFill>
                <a:latin typeface="Montserrat"/>
                <a:ea typeface="Montserrat"/>
                <a:cs typeface="Montserrat"/>
                <a:sym typeface="Montserrat"/>
              </a:rPr>
              <a:t>RECALL </a:t>
            </a:r>
          </a:p>
          <a:p>
            <a:pPr algn="l" marL="539842" indent="-269921" lvl="1">
              <a:lnSpc>
                <a:spcPts val="3500"/>
              </a:lnSpc>
              <a:buFont typeface="Arial"/>
              <a:buChar char="•"/>
            </a:pPr>
            <a:r>
              <a:rPr lang="en-US" sz="2500">
                <a:solidFill>
                  <a:srgbClr val="002254"/>
                </a:solidFill>
                <a:latin typeface="Montserrat"/>
                <a:ea typeface="Montserrat"/>
                <a:cs typeface="Montserrat"/>
                <a:sym typeface="Montserrat"/>
              </a:rPr>
              <a:t>F1-SCORE </a:t>
            </a:r>
          </a:p>
          <a:p>
            <a:pPr algn="l" marL="539842" indent="-269921" lvl="1">
              <a:lnSpc>
                <a:spcPts val="3500"/>
              </a:lnSpc>
              <a:buFont typeface="Arial"/>
              <a:buChar char="•"/>
            </a:pPr>
            <a:r>
              <a:rPr lang="en-US" sz="2500">
                <a:solidFill>
                  <a:srgbClr val="002254"/>
                </a:solidFill>
                <a:latin typeface="Montserrat"/>
                <a:ea typeface="Montserrat"/>
                <a:cs typeface="Montserrat"/>
                <a:sym typeface="Montserrat"/>
              </a:rPr>
              <a:t>AREA UNDER CURVE (AUC) </a:t>
            </a:r>
          </a:p>
        </p:txBody>
      </p:sp>
      <p:grpSp>
        <p:nvGrpSpPr>
          <p:cNvPr name="Group 14" id="14"/>
          <p:cNvGrpSpPr/>
          <p:nvPr/>
        </p:nvGrpSpPr>
        <p:grpSpPr>
          <a:xfrm rot="5400000">
            <a:off x="15317387" y="7600922"/>
            <a:ext cx="47625" cy="3836200"/>
            <a:chOff x="0" y="0"/>
            <a:chExt cx="12543" cy="1010357"/>
          </a:xfrm>
        </p:grpSpPr>
        <p:sp>
          <p:nvSpPr>
            <p:cNvPr name="Freeform 15" id="15"/>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16" id="16"/>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5400000">
            <a:off x="15317387" y="7783938"/>
            <a:ext cx="47625" cy="3836200"/>
            <a:chOff x="0" y="0"/>
            <a:chExt cx="12543" cy="1010357"/>
          </a:xfrm>
        </p:grpSpPr>
        <p:sp>
          <p:nvSpPr>
            <p:cNvPr name="Freeform 18" id="18"/>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19" id="19"/>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9259" t="0" r="-9259" b="0"/>
            </a:stretch>
          </a:blipFill>
        </p:spPr>
      </p:sp>
      <p:grpSp>
        <p:nvGrpSpPr>
          <p:cNvPr name="Group 3" id="3"/>
          <p:cNvGrpSpPr/>
          <p:nvPr/>
        </p:nvGrpSpPr>
        <p:grpSpPr>
          <a:xfrm rot="0">
            <a:off x="17398178" y="-234246"/>
            <a:ext cx="330630" cy="10755493"/>
            <a:chOff x="0" y="0"/>
            <a:chExt cx="87079" cy="2832722"/>
          </a:xfrm>
        </p:grpSpPr>
        <p:sp>
          <p:nvSpPr>
            <p:cNvPr name="Freeform 4" id="4"/>
            <p:cNvSpPr/>
            <p:nvPr/>
          </p:nvSpPr>
          <p:spPr>
            <a:xfrm flipH="false" flipV="false" rot="0">
              <a:off x="0" y="0"/>
              <a:ext cx="87079" cy="2832722"/>
            </a:xfrm>
            <a:custGeom>
              <a:avLst/>
              <a:gdLst/>
              <a:ahLst/>
              <a:cxnLst/>
              <a:rect r="r" b="b" t="t" l="l"/>
              <a:pathLst>
                <a:path h="2832722" w="87079">
                  <a:moveTo>
                    <a:pt x="0" y="0"/>
                  </a:moveTo>
                  <a:lnTo>
                    <a:pt x="87079" y="0"/>
                  </a:lnTo>
                  <a:lnTo>
                    <a:pt x="87079" y="2832722"/>
                  </a:lnTo>
                  <a:lnTo>
                    <a:pt x="0" y="2832722"/>
                  </a:lnTo>
                  <a:close/>
                </a:path>
              </a:pathLst>
            </a:custGeom>
            <a:solidFill>
              <a:srgbClr val="002254"/>
            </a:solidFill>
          </p:spPr>
        </p:sp>
        <p:sp>
          <p:nvSpPr>
            <p:cNvPr name="TextBox 5" id="5"/>
            <p:cNvSpPr txBox="true"/>
            <p:nvPr/>
          </p:nvSpPr>
          <p:spPr>
            <a:xfrm>
              <a:off x="0" y="-38100"/>
              <a:ext cx="87079" cy="2870822"/>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6723937" y="-234246"/>
            <a:ext cx="330630" cy="10755493"/>
            <a:chOff x="0" y="0"/>
            <a:chExt cx="87079" cy="2832722"/>
          </a:xfrm>
        </p:grpSpPr>
        <p:sp>
          <p:nvSpPr>
            <p:cNvPr name="Freeform 7" id="7"/>
            <p:cNvSpPr/>
            <p:nvPr/>
          </p:nvSpPr>
          <p:spPr>
            <a:xfrm flipH="false" flipV="false" rot="0">
              <a:off x="0" y="0"/>
              <a:ext cx="87079" cy="2832722"/>
            </a:xfrm>
            <a:custGeom>
              <a:avLst/>
              <a:gdLst/>
              <a:ahLst/>
              <a:cxnLst/>
              <a:rect r="r" b="b" t="t" l="l"/>
              <a:pathLst>
                <a:path h="2832722" w="87079">
                  <a:moveTo>
                    <a:pt x="0" y="0"/>
                  </a:moveTo>
                  <a:lnTo>
                    <a:pt x="87079" y="0"/>
                  </a:lnTo>
                  <a:lnTo>
                    <a:pt x="87079" y="2832722"/>
                  </a:lnTo>
                  <a:lnTo>
                    <a:pt x="0" y="2832722"/>
                  </a:lnTo>
                  <a:close/>
                </a:path>
              </a:pathLst>
            </a:custGeom>
            <a:solidFill>
              <a:srgbClr val="002254"/>
            </a:solidFill>
          </p:spPr>
        </p:sp>
        <p:sp>
          <p:nvSpPr>
            <p:cNvPr name="TextBox 8" id="8"/>
            <p:cNvSpPr txBox="true"/>
            <p:nvPr/>
          </p:nvSpPr>
          <p:spPr>
            <a:xfrm>
              <a:off x="0" y="-38100"/>
              <a:ext cx="87079" cy="2870822"/>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028700" y="3758565"/>
            <a:ext cx="13218650" cy="3036570"/>
          </a:xfrm>
          <a:prstGeom prst="rect">
            <a:avLst/>
          </a:prstGeom>
        </p:spPr>
        <p:txBody>
          <a:bodyPr anchor="t" rtlCol="false" tIns="0" lIns="0" bIns="0" rIns="0">
            <a:spAutoFit/>
          </a:bodyPr>
          <a:lstStyle/>
          <a:p>
            <a:pPr algn="l">
              <a:lnSpc>
                <a:spcPts val="11640"/>
              </a:lnSpc>
            </a:pPr>
            <a:r>
              <a:rPr lang="en-US" sz="12000" b="true">
                <a:solidFill>
                  <a:srgbClr val="002254"/>
                </a:solidFill>
                <a:latin typeface="Montserrat Ultra-Bold"/>
                <a:ea typeface="Montserrat Ultra-Bold"/>
                <a:cs typeface="Montserrat Ultra-Bold"/>
                <a:sym typeface="Montserrat Ultra-Bold"/>
              </a:rPr>
              <a:t>RESEARCH</a:t>
            </a:r>
          </a:p>
          <a:p>
            <a:pPr algn="l">
              <a:lnSpc>
                <a:spcPts val="11640"/>
              </a:lnSpc>
            </a:pPr>
            <a:r>
              <a:rPr lang="en-US" sz="12000" b="true">
                <a:solidFill>
                  <a:srgbClr val="002254"/>
                </a:solidFill>
                <a:latin typeface="Montserrat Ultra-Bold"/>
                <a:ea typeface="Montserrat Ultra-Bold"/>
                <a:cs typeface="Montserrat Ultra-Bold"/>
                <a:sym typeface="Montserrat Ultra-Bold"/>
              </a:rPr>
              <a:t>METHODOLOGY</a:t>
            </a:r>
          </a:p>
        </p:txBody>
      </p:sp>
      <p:sp>
        <p:nvSpPr>
          <p:cNvPr name="Freeform 10" id="10"/>
          <p:cNvSpPr/>
          <p:nvPr/>
        </p:nvSpPr>
        <p:spPr>
          <a:xfrm flipH="false" flipV="false" rot="0">
            <a:off x="692764" y="400218"/>
            <a:ext cx="963762" cy="963762"/>
          </a:xfrm>
          <a:custGeom>
            <a:avLst/>
            <a:gdLst/>
            <a:ahLst/>
            <a:cxnLst/>
            <a:rect r="r" b="b" t="t" l="l"/>
            <a:pathLst>
              <a:path h="963762" w="963762">
                <a:moveTo>
                  <a:pt x="0" y="0"/>
                </a:moveTo>
                <a:lnTo>
                  <a:pt x="963761" y="0"/>
                </a:lnTo>
                <a:lnTo>
                  <a:pt x="963761" y="963762"/>
                </a:lnTo>
                <a:lnTo>
                  <a:pt x="0" y="963762"/>
                </a:lnTo>
                <a:lnTo>
                  <a:pt x="0" y="0"/>
                </a:lnTo>
                <a:close/>
              </a:path>
            </a:pathLst>
          </a:custGeom>
          <a:blipFill>
            <a:blip r:embed="rId3"/>
            <a:stretch>
              <a:fillRect l="0" t="0" r="0" b="0"/>
            </a:stretch>
          </a:blipFill>
        </p:spPr>
      </p:sp>
      <p:sp>
        <p:nvSpPr>
          <p:cNvPr name="TextBox 11" id="11"/>
          <p:cNvSpPr txBox="true"/>
          <p:nvPr/>
        </p:nvSpPr>
        <p:spPr>
          <a:xfrm rot="0">
            <a:off x="1864064" y="681990"/>
            <a:ext cx="3686274" cy="346710"/>
          </a:xfrm>
          <a:prstGeom prst="rect">
            <a:avLst/>
          </a:prstGeom>
        </p:spPr>
        <p:txBody>
          <a:bodyPr anchor="t" rtlCol="false" tIns="0" lIns="0" bIns="0" rIns="0">
            <a:spAutoFit/>
          </a:bodyPr>
          <a:lstStyle/>
          <a:p>
            <a:pPr algn="ctr">
              <a:lnSpc>
                <a:spcPts val="2400"/>
              </a:lnSpc>
              <a:spcBef>
                <a:spcPct val="0"/>
              </a:spcBef>
            </a:pPr>
            <a:r>
              <a:rPr lang="en-US" b="true" sz="2400">
                <a:solidFill>
                  <a:srgbClr val="0B3454"/>
                </a:solidFill>
                <a:latin typeface="Poppins Semi-Bold"/>
                <a:ea typeface="Poppins Semi-Bold"/>
                <a:cs typeface="Poppins Semi-Bold"/>
                <a:sym typeface="Poppins Semi-Bold"/>
              </a:rPr>
              <a:t>INSTITUT TEKNOLOGI DEL</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9259" t="0" r="-9259" b="0"/>
            </a:stretch>
          </a:blipFill>
        </p:spPr>
      </p:sp>
      <p:grpSp>
        <p:nvGrpSpPr>
          <p:cNvPr name="Group 3" id="3"/>
          <p:cNvGrpSpPr/>
          <p:nvPr/>
        </p:nvGrpSpPr>
        <p:grpSpPr>
          <a:xfrm rot="5400000">
            <a:off x="3501408" y="-238972"/>
            <a:ext cx="47625" cy="3836200"/>
            <a:chOff x="0" y="0"/>
            <a:chExt cx="12543" cy="1010357"/>
          </a:xfrm>
        </p:grpSpPr>
        <p:sp>
          <p:nvSpPr>
            <p:cNvPr name="Freeform 4" id="4"/>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5" id="5"/>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5400000">
            <a:off x="3501408" y="-55955"/>
            <a:ext cx="47625" cy="3836200"/>
            <a:chOff x="0" y="0"/>
            <a:chExt cx="12543" cy="1010357"/>
          </a:xfrm>
        </p:grpSpPr>
        <p:sp>
          <p:nvSpPr>
            <p:cNvPr name="Freeform 7" id="7"/>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8" id="8"/>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964742" y="2051745"/>
            <a:ext cx="7717514" cy="1028750"/>
          </a:xfrm>
          <a:prstGeom prst="rect">
            <a:avLst/>
          </a:prstGeom>
        </p:spPr>
        <p:txBody>
          <a:bodyPr anchor="t" rtlCol="false" tIns="0" lIns="0" bIns="0" rIns="0">
            <a:spAutoFit/>
          </a:bodyPr>
          <a:lstStyle/>
          <a:p>
            <a:pPr algn="l">
              <a:lnSpc>
                <a:spcPts val="8400"/>
              </a:lnSpc>
            </a:pPr>
            <a:r>
              <a:rPr lang="en-US" sz="6000" b="true">
                <a:solidFill>
                  <a:srgbClr val="002254"/>
                </a:solidFill>
                <a:latin typeface="Montserrat Ultra-Bold"/>
                <a:ea typeface="Montserrat Ultra-Bold"/>
                <a:cs typeface="Montserrat Ultra-Bold"/>
                <a:sym typeface="Montserrat Ultra-Bold"/>
              </a:rPr>
              <a:t>Research Stages</a:t>
            </a:r>
          </a:p>
        </p:txBody>
      </p:sp>
      <p:grpSp>
        <p:nvGrpSpPr>
          <p:cNvPr name="Group 10" id="10"/>
          <p:cNvGrpSpPr/>
          <p:nvPr/>
        </p:nvGrpSpPr>
        <p:grpSpPr>
          <a:xfrm rot="5400000">
            <a:off x="14734805" y="6678428"/>
            <a:ext cx="47625" cy="3836200"/>
            <a:chOff x="0" y="0"/>
            <a:chExt cx="12543" cy="1010357"/>
          </a:xfrm>
        </p:grpSpPr>
        <p:sp>
          <p:nvSpPr>
            <p:cNvPr name="Freeform 11" id="11"/>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12" id="12"/>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5400000">
            <a:off x="14734805" y="6861444"/>
            <a:ext cx="47625" cy="3836200"/>
            <a:chOff x="0" y="0"/>
            <a:chExt cx="12543" cy="1010357"/>
          </a:xfrm>
        </p:grpSpPr>
        <p:sp>
          <p:nvSpPr>
            <p:cNvPr name="Freeform 14" id="14"/>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15" id="15"/>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false" rot="0">
            <a:off x="692764" y="400218"/>
            <a:ext cx="963762" cy="963762"/>
          </a:xfrm>
          <a:custGeom>
            <a:avLst/>
            <a:gdLst/>
            <a:ahLst/>
            <a:cxnLst/>
            <a:rect r="r" b="b" t="t" l="l"/>
            <a:pathLst>
              <a:path h="963762" w="963762">
                <a:moveTo>
                  <a:pt x="0" y="0"/>
                </a:moveTo>
                <a:lnTo>
                  <a:pt x="963761" y="0"/>
                </a:lnTo>
                <a:lnTo>
                  <a:pt x="963761" y="963762"/>
                </a:lnTo>
                <a:lnTo>
                  <a:pt x="0" y="963762"/>
                </a:lnTo>
                <a:lnTo>
                  <a:pt x="0" y="0"/>
                </a:lnTo>
                <a:close/>
              </a:path>
            </a:pathLst>
          </a:custGeom>
          <a:blipFill>
            <a:blip r:embed="rId3"/>
            <a:stretch>
              <a:fillRect l="0" t="0" r="0" b="0"/>
            </a:stretch>
          </a:blipFill>
        </p:spPr>
      </p:sp>
      <p:sp>
        <p:nvSpPr>
          <p:cNvPr name="TextBox 17" id="17"/>
          <p:cNvSpPr txBox="true"/>
          <p:nvPr/>
        </p:nvSpPr>
        <p:spPr>
          <a:xfrm rot="0">
            <a:off x="1864064" y="681990"/>
            <a:ext cx="3686274" cy="346710"/>
          </a:xfrm>
          <a:prstGeom prst="rect">
            <a:avLst/>
          </a:prstGeom>
        </p:spPr>
        <p:txBody>
          <a:bodyPr anchor="t" rtlCol="false" tIns="0" lIns="0" bIns="0" rIns="0">
            <a:spAutoFit/>
          </a:bodyPr>
          <a:lstStyle/>
          <a:p>
            <a:pPr algn="ctr">
              <a:lnSpc>
                <a:spcPts val="2400"/>
              </a:lnSpc>
              <a:spcBef>
                <a:spcPct val="0"/>
              </a:spcBef>
            </a:pPr>
            <a:r>
              <a:rPr lang="en-US" b="true" sz="2400">
                <a:solidFill>
                  <a:srgbClr val="0B3454"/>
                </a:solidFill>
                <a:latin typeface="Poppins Semi-Bold"/>
                <a:ea typeface="Poppins Semi-Bold"/>
                <a:cs typeface="Poppins Semi-Bold"/>
                <a:sym typeface="Poppins Semi-Bold"/>
              </a:rPr>
              <a:t>INSTITUT TEKNOLOGI DEL</a:t>
            </a:r>
          </a:p>
        </p:txBody>
      </p:sp>
      <p:sp>
        <p:nvSpPr>
          <p:cNvPr name="Freeform 18" id="18"/>
          <p:cNvSpPr/>
          <p:nvPr/>
        </p:nvSpPr>
        <p:spPr>
          <a:xfrm flipH="false" flipV="false" rot="0">
            <a:off x="1865503" y="3889191"/>
            <a:ext cx="14556994" cy="4403491"/>
          </a:xfrm>
          <a:custGeom>
            <a:avLst/>
            <a:gdLst/>
            <a:ahLst/>
            <a:cxnLst/>
            <a:rect r="r" b="b" t="t" l="l"/>
            <a:pathLst>
              <a:path h="4403491" w="14556994">
                <a:moveTo>
                  <a:pt x="0" y="0"/>
                </a:moveTo>
                <a:lnTo>
                  <a:pt x="14556994" y="0"/>
                </a:lnTo>
                <a:lnTo>
                  <a:pt x="14556994" y="4403491"/>
                </a:lnTo>
                <a:lnTo>
                  <a:pt x="0" y="4403491"/>
                </a:lnTo>
                <a:lnTo>
                  <a:pt x="0" y="0"/>
                </a:lnTo>
                <a:close/>
              </a:path>
            </a:pathLst>
          </a:custGeom>
          <a:blipFill>
            <a:blip r:embed="rId4"/>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9259" t="0" r="-9259" b="0"/>
            </a:stretch>
          </a:blipFill>
        </p:spPr>
      </p:sp>
      <p:grpSp>
        <p:nvGrpSpPr>
          <p:cNvPr name="Group 3" id="3"/>
          <p:cNvGrpSpPr/>
          <p:nvPr/>
        </p:nvGrpSpPr>
        <p:grpSpPr>
          <a:xfrm rot="0">
            <a:off x="17398178" y="-234246"/>
            <a:ext cx="330630" cy="10755493"/>
            <a:chOff x="0" y="0"/>
            <a:chExt cx="87079" cy="2832722"/>
          </a:xfrm>
        </p:grpSpPr>
        <p:sp>
          <p:nvSpPr>
            <p:cNvPr name="Freeform 4" id="4"/>
            <p:cNvSpPr/>
            <p:nvPr/>
          </p:nvSpPr>
          <p:spPr>
            <a:xfrm flipH="false" flipV="false" rot="0">
              <a:off x="0" y="0"/>
              <a:ext cx="87079" cy="2832722"/>
            </a:xfrm>
            <a:custGeom>
              <a:avLst/>
              <a:gdLst/>
              <a:ahLst/>
              <a:cxnLst/>
              <a:rect r="r" b="b" t="t" l="l"/>
              <a:pathLst>
                <a:path h="2832722" w="87079">
                  <a:moveTo>
                    <a:pt x="0" y="0"/>
                  </a:moveTo>
                  <a:lnTo>
                    <a:pt x="87079" y="0"/>
                  </a:lnTo>
                  <a:lnTo>
                    <a:pt x="87079" y="2832722"/>
                  </a:lnTo>
                  <a:lnTo>
                    <a:pt x="0" y="2832722"/>
                  </a:lnTo>
                  <a:close/>
                </a:path>
              </a:pathLst>
            </a:custGeom>
            <a:solidFill>
              <a:srgbClr val="002254"/>
            </a:solidFill>
          </p:spPr>
        </p:sp>
        <p:sp>
          <p:nvSpPr>
            <p:cNvPr name="TextBox 5" id="5"/>
            <p:cNvSpPr txBox="true"/>
            <p:nvPr/>
          </p:nvSpPr>
          <p:spPr>
            <a:xfrm>
              <a:off x="0" y="-38100"/>
              <a:ext cx="87079" cy="2870822"/>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6723937" y="-234246"/>
            <a:ext cx="330630" cy="10755493"/>
            <a:chOff x="0" y="0"/>
            <a:chExt cx="87079" cy="2832722"/>
          </a:xfrm>
        </p:grpSpPr>
        <p:sp>
          <p:nvSpPr>
            <p:cNvPr name="Freeform 7" id="7"/>
            <p:cNvSpPr/>
            <p:nvPr/>
          </p:nvSpPr>
          <p:spPr>
            <a:xfrm flipH="false" flipV="false" rot="0">
              <a:off x="0" y="0"/>
              <a:ext cx="87079" cy="2832722"/>
            </a:xfrm>
            <a:custGeom>
              <a:avLst/>
              <a:gdLst/>
              <a:ahLst/>
              <a:cxnLst/>
              <a:rect r="r" b="b" t="t" l="l"/>
              <a:pathLst>
                <a:path h="2832722" w="87079">
                  <a:moveTo>
                    <a:pt x="0" y="0"/>
                  </a:moveTo>
                  <a:lnTo>
                    <a:pt x="87079" y="0"/>
                  </a:lnTo>
                  <a:lnTo>
                    <a:pt x="87079" y="2832722"/>
                  </a:lnTo>
                  <a:lnTo>
                    <a:pt x="0" y="2832722"/>
                  </a:lnTo>
                  <a:close/>
                </a:path>
              </a:pathLst>
            </a:custGeom>
            <a:solidFill>
              <a:srgbClr val="002254"/>
            </a:solidFill>
          </p:spPr>
        </p:sp>
        <p:sp>
          <p:nvSpPr>
            <p:cNvPr name="TextBox 8" id="8"/>
            <p:cNvSpPr txBox="true"/>
            <p:nvPr/>
          </p:nvSpPr>
          <p:spPr>
            <a:xfrm>
              <a:off x="0" y="-38100"/>
              <a:ext cx="87079" cy="2870822"/>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028700" y="3758565"/>
            <a:ext cx="13218650" cy="3036570"/>
          </a:xfrm>
          <a:prstGeom prst="rect">
            <a:avLst/>
          </a:prstGeom>
        </p:spPr>
        <p:txBody>
          <a:bodyPr anchor="t" rtlCol="false" tIns="0" lIns="0" bIns="0" rIns="0">
            <a:spAutoFit/>
          </a:bodyPr>
          <a:lstStyle/>
          <a:p>
            <a:pPr algn="l">
              <a:lnSpc>
                <a:spcPts val="11640"/>
              </a:lnSpc>
            </a:pPr>
            <a:r>
              <a:rPr lang="en-US" sz="12000" b="true">
                <a:solidFill>
                  <a:srgbClr val="002254"/>
                </a:solidFill>
                <a:latin typeface="Montserrat Ultra-Bold"/>
                <a:ea typeface="Montserrat Ultra-Bold"/>
                <a:cs typeface="Montserrat Ultra-Bold"/>
                <a:sym typeface="Montserrat Ultra-Bold"/>
              </a:rPr>
              <a:t>RESEARCH</a:t>
            </a:r>
          </a:p>
          <a:p>
            <a:pPr algn="l">
              <a:lnSpc>
                <a:spcPts val="11640"/>
              </a:lnSpc>
            </a:pPr>
            <a:r>
              <a:rPr lang="en-US" sz="12000" b="true">
                <a:solidFill>
                  <a:srgbClr val="002254"/>
                </a:solidFill>
                <a:latin typeface="Montserrat Ultra-Bold"/>
                <a:ea typeface="Montserrat Ultra-Bold"/>
                <a:cs typeface="Montserrat Ultra-Bold"/>
                <a:sym typeface="Montserrat Ultra-Bold"/>
              </a:rPr>
              <a:t>ANALYSIS</a:t>
            </a:r>
          </a:p>
        </p:txBody>
      </p:sp>
      <p:sp>
        <p:nvSpPr>
          <p:cNvPr name="Freeform 10" id="10"/>
          <p:cNvSpPr/>
          <p:nvPr/>
        </p:nvSpPr>
        <p:spPr>
          <a:xfrm flipH="false" flipV="false" rot="0">
            <a:off x="692764" y="400218"/>
            <a:ext cx="963762" cy="963762"/>
          </a:xfrm>
          <a:custGeom>
            <a:avLst/>
            <a:gdLst/>
            <a:ahLst/>
            <a:cxnLst/>
            <a:rect r="r" b="b" t="t" l="l"/>
            <a:pathLst>
              <a:path h="963762" w="963762">
                <a:moveTo>
                  <a:pt x="0" y="0"/>
                </a:moveTo>
                <a:lnTo>
                  <a:pt x="963761" y="0"/>
                </a:lnTo>
                <a:lnTo>
                  <a:pt x="963761" y="963762"/>
                </a:lnTo>
                <a:lnTo>
                  <a:pt x="0" y="963762"/>
                </a:lnTo>
                <a:lnTo>
                  <a:pt x="0" y="0"/>
                </a:lnTo>
                <a:close/>
              </a:path>
            </a:pathLst>
          </a:custGeom>
          <a:blipFill>
            <a:blip r:embed="rId3"/>
            <a:stretch>
              <a:fillRect l="0" t="0" r="0" b="0"/>
            </a:stretch>
          </a:blipFill>
        </p:spPr>
      </p:sp>
      <p:sp>
        <p:nvSpPr>
          <p:cNvPr name="TextBox 11" id="11"/>
          <p:cNvSpPr txBox="true"/>
          <p:nvPr/>
        </p:nvSpPr>
        <p:spPr>
          <a:xfrm rot="0">
            <a:off x="1864064" y="681990"/>
            <a:ext cx="3686274" cy="346710"/>
          </a:xfrm>
          <a:prstGeom prst="rect">
            <a:avLst/>
          </a:prstGeom>
        </p:spPr>
        <p:txBody>
          <a:bodyPr anchor="t" rtlCol="false" tIns="0" lIns="0" bIns="0" rIns="0">
            <a:spAutoFit/>
          </a:bodyPr>
          <a:lstStyle/>
          <a:p>
            <a:pPr algn="ctr">
              <a:lnSpc>
                <a:spcPts val="2400"/>
              </a:lnSpc>
              <a:spcBef>
                <a:spcPct val="0"/>
              </a:spcBef>
            </a:pPr>
            <a:r>
              <a:rPr lang="en-US" b="true" sz="2400">
                <a:solidFill>
                  <a:srgbClr val="0B3454"/>
                </a:solidFill>
                <a:latin typeface="Poppins Semi-Bold"/>
                <a:ea typeface="Poppins Semi-Bold"/>
                <a:cs typeface="Poppins Semi-Bold"/>
                <a:sym typeface="Poppins Semi-Bold"/>
              </a:rPr>
              <a:t>INSTITUT TEKNOLOGI DEL</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9259" t="0" r="-9259" b="0"/>
            </a:stretch>
          </a:blipFill>
        </p:spPr>
      </p:sp>
      <p:sp>
        <p:nvSpPr>
          <p:cNvPr name="TextBox 3" id="3"/>
          <p:cNvSpPr txBox="true"/>
          <p:nvPr/>
        </p:nvSpPr>
        <p:spPr>
          <a:xfrm rot="0">
            <a:off x="1840236" y="1351464"/>
            <a:ext cx="7717514" cy="1028750"/>
          </a:xfrm>
          <a:prstGeom prst="rect">
            <a:avLst/>
          </a:prstGeom>
        </p:spPr>
        <p:txBody>
          <a:bodyPr anchor="t" rtlCol="false" tIns="0" lIns="0" bIns="0" rIns="0">
            <a:spAutoFit/>
          </a:bodyPr>
          <a:lstStyle/>
          <a:p>
            <a:pPr algn="l">
              <a:lnSpc>
                <a:spcPts val="8400"/>
              </a:lnSpc>
            </a:pPr>
            <a:r>
              <a:rPr lang="en-US" sz="6000" b="true">
                <a:solidFill>
                  <a:srgbClr val="002254"/>
                </a:solidFill>
                <a:latin typeface="Montserrat Ultra-Bold"/>
                <a:ea typeface="Montserrat Ultra-Bold"/>
                <a:cs typeface="Montserrat Ultra-Bold"/>
                <a:sym typeface="Montserrat Ultra-Bold"/>
              </a:rPr>
              <a:t> Data Analysis</a:t>
            </a:r>
          </a:p>
        </p:txBody>
      </p:sp>
      <p:sp>
        <p:nvSpPr>
          <p:cNvPr name="TextBox 4" id="4"/>
          <p:cNvSpPr txBox="true"/>
          <p:nvPr/>
        </p:nvSpPr>
        <p:spPr>
          <a:xfrm rot="0">
            <a:off x="1028700" y="2780263"/>
            <a:ext cx="8529050" cy="6109047"/>
          </a:xfrm>
          <a:prstGeom prst="rect">
            <a:avLst/>
          </a:prstGeom>
        </p:spPr>
        <p:txBody>
          <a:bodyPr anchor="t" rtlCol="false" tIns="0" lIns="0" bIns="0" rIns="0">
            <a:spAutoFit/>
          </a:bodyPr>
          <a:lstStyle/>
          <a:p>
            <a:pPr algn="l">
              <a:lnSpc>
                <a:spcPts val="3499"/>
              </a:lnSpc>
            </a:pPr>
            <a:r>
              <a:rPr lang="en-US" sz="2499" b="true">
                <a:solidFill>
                  <a:srgbClr val="002254"/>
                </a:solidFill>
                <a:latin typeface="Montserrat Bold"/>
                <a:ea typeface="Montserrat Bold"/>
                <a:cs typeface="Montserrat Bold"/>
                <a:sym typeface="Montserrat Bold"/>
              </a:rPr>
              <a:t>DATA P</a:t>
            </a:r>
            <a:r>
              <a:rPr lang="en-US" sz="2499" b="true">
                <a:solidFill>
                  <a:srgbClr val="002254"/>
                </a:solidFill>
                <a:latin typeface="Montserrat Bold"/>
                <a:ea typeface="Montserrat Bold"/>
                <a:cs typeface="Montserrat Bold"/>
                <a:sym typeface="Montserrat Bold"/>
              </a:rPr>
              <a:t>REPARATION:</a:t>
            </a:r>
          </a:p>
          <a:p>
            <a:pPr algn="l">
              <a:lnSpc>
                <a:spcPts val="3499"/>
              </a:lnSpc>
            </a:pPr>
            <a:r>
              <a:rPr lang="en-US" sz="2499">
                <a:solidFill>
                  <a:srgbClr val="002254"/>
                </a:solidFill>
                <a:latin typeface="Montserrat"/>
                <a:ea typeface="Montserrat"/>
                <a:cs typeface="Montserrat"/>
                <a:sym typeface="Montserrat"/>
              </a:rPr>
              <a:t>COLLECTED PHISHING AND BENIGN URL D</a:t>
            </a:r>
            <a:r>
              <a:rPr lang="en-US" sz="2499">
                <a:solidFill>
                  <a:srgbClr val="002254"/>
                </a:solidFill>
                <a:latin typeface="Montserrat"/>
                <a:ea typeface="Montserrat"/>
                <a:cs typeface="Montserrat"/>
                <a:sym typeface="Montserrat"/>
              </a:rPr>
              <a:t>atasets from public sources and analyzed their characteristics to ensure data quality and relevance.</a:t>
            </a:r>
          </a:p>
          <a:p>
            <a:pPr algn="l">
              <a:lnSpc>
                <a:spcPts val="3499"/>
              </a:lnSpc>
            </a:pPr>
          </a:p>
          <a:p>
            <a:pPr algn="l">
              <a:lnSpc>
                <a:spcPts val="3499"/>
              </a:lnSpc>
            </a:pPr>
            <a:r>
              <a:rPr lang="en-US" sz="2499" b="true">
                <a:solidFill>
                  <a:srgbClr val="002254"/>
                </a:solidFill>
                <a:latin typeface="Montserrat Bold"/>
                <a:ea typeface="Montserrat Bold"/>
                <a:cs typeface="Montserrat Bold"/>
                <a:sym typeface="Montserrat Bold"/>
              </a:rPr>
              <a:t>DATA PREPROCESSING:</a:t>
            </a:r>
          </a:p>
          <a:p>
            <a:pPr algn="l">
              <a:lnSpc>
                <a:spcPts val="3499"/>
              </a:lnSpc>
            </a:pPr>
            <a:r>
              <a:rPr lang="en-US" sz="2499">
                <a:solidFill>
                  <a:srgbClr val="002254"/>
                </a:solidFill>
                <a:latin typeface="Montserrat"/>
                <a:ea typeface="Montserrat"/>
                <a:cs typeface="Montserrat"/>
                <a:sym typeface="Montserrat"/>
              </a:rPr>
              <a:t>PERFORMED FE</a:t>
            </a:r>
            <a:r>
              <a:rPr lang="en-US" sz="2499">
                <a:solidFill>
                  <a:srgbClr val="002254"/>
                </a:solidFill>
                <a:latin typeface="Montserrat"/>
                <a:ea typeface="Montserrat"/>
                <a:cs typeface="Montserrat"/>
                <a:sym typeface="Montserrat"/>
              </a:rPr>
              <a:t>ature selection, data transformation, and data cleaning to prepare the dataset for machine learning modeling.</a:t>
            </a:r>
          </a:p>
          <a:p>
            <a:pPr algn="l">
              <a:lnSpc>
                <a:spcPts val="3499"/>
              </a:lnSpc>
            </a:pPr>
          </a:p>
          <a:p>
            <a:pPr algn="l">
              <a:lnSpc>
                <a:spcPts val="3499"/>
              </a:lnSpc>
            </a:pPr>
            <a:r>
              <a:rPr lang="en-US" sz="2499" b="true">
                <a:solidFill>
                  <a:srgbClr val="002254"/>
                </a:solidFill>
                <a:latin typeface="Montserrat Bold"/>
                <a:ea typeface="Montserrat Bold"/>
                <a:cs typeface="Montserrat Bold"/>
                <a:sym typeface="Montserrat Bold"/>
              </a:rPr>
              <a:t>NEW DATASET:</a:t>
            </a:r>
          </a:p>
          <a:p>
            <a:pPr algn="l">
              <a:lnSpc>
                <a:spcPts val="3499"/>
              </a:lnSpc>
            </a:pPr>
            <a:r>
              <a:rPr lang="en-US" sz="2499">
                <a:solidFill>
                  <a:srgbClr val="002254"/>
                </a:solidFill>
                <a:latin typeface="Montserrat"/>
                <a:ea typeface="Montserrat"/>
                <a:cs typeface="Montserrat"/>
                <a:sym typeface="Montserrat"/>
              </a:rPr>
              <a:t>PRODUCED A CLEAN AND STRUCTURED DATASET CONTAINING 81</a:t>
            </a:r>
            <a:r>
              <a:rPr lang="en-US" sz="2499">
                <a:solidFill>
                  <a:srgbClr val="002254"/>
                </a:solidFill>
                <a:latin typeface="Montserrat"/>
                <a:ea typeface="Montserrat"/>
                <a:cs typeface="Montserrat"/>
                <a:sym typeface="Montserrat"/>
              </a:rPr>
              <a:t> phishing detection features for training and evaluation.</a:t>
            </a:r>
          </a:p>
        </p:txBody>
      </p:sp>
      <p:sp>
        <p:nvSpPr>
          <p:cNvPr name="Freeform 5" id="5"/>
          <p:cNvSpPr/>
          <p:nvPr/>
        </p:nvSpPr>
        <p:spPr>
          <a:xfrm flipH="false" flipV="false" rot="0">
            <a:off x="692764" y="400218"/>
            <a:ext cx="963762" cy="963762"/>
          </a:xfrm>
          <a:custGeom>
            <a:avLst/>
            <a:gdLst/>
            <a:ahLst/>
            <a:cxnLst/>
            <a:rect r="r" b="b" t="t" l="l"/>
            <a:pathLst>
              <a:path h="963762" w="963762">
                <a:moveTo>
                  <a:pt x="0" y="0"/>
                </a:moveTo>
                <a:lnTo>
                  <a:pt x="963761" y="0"/>
                </a:lnTo>
                <a:lnTo>
                  <a:pt x="963761" y="963762"/>
                </a:lnTo>
                <a:lnTo>
                  <a:pt x="0" y="963762"/>
                </a:lnTo>
                <a:lnTo>
                  <a:pt x="0" y="0"/>
                </a:lnTo>
                <a:close/>
              </a:path>
            </a:pathLst>
          </a:custGeom>
          <a:blipFill>
            <a:blip r:embed="rId3"/>
            <a:stretch>
              <a:fillRect l="0" t="0" r="0" b="0"/>
            </a:stretch>
          </a:blipFill>
        </p:spPr>
      </p:sp>
      <p:sp>
        <p:nvSpPr>
          <p:cNvPr name="TextBox 6" id="6"/>
          <p:cNvSpPr txBox="true"/>
          <p:nvPr/>
        </p:nvSpPr>
        <p:spPr>
          <a:xfrm rot="0">
            <a:off x="1864064" y="681990"/>
            <a:ext cx="3686274" cy="346710"/>
          </a:xfrm>
          <a:prstGeom prst="rect">
            <a:avLst/>
          </a:prstGeom>
        </p:spPr>
        <p:txBody>
          <a:bodyPr anchor="t" rtlCol="false" tIns="0" lIns="0" bIns="0" rIns="0">
            <a:spAutoFit/>
          </a:bodyPr>
          <a:lstStyle/>
          <a:p>
            <a:pPr algn="ctr">
              <a:lnSpc>
                <a:spcPts val="2400"/>
              </a:lnSpc>
              <a:spcBef>
                <a:spcPct val="0"/>
              </a:spcBef>
            </a:pPr>
            <a:r>
              <a:rPr lang="en-US" b="true" sz="2400">
                <a:solidFill>
                  <a:srgbClr val="0B3454"/>
                </a:solidFill>
                <a:latin typeface="Poppins Semi-Bold"/>
                <a:ea typeface="Poppins Semi-Bold"/>
                <a:cs typeface="Poppins Semi-Bold"/>
                <a:sym typeface="Poppins Semi-Bold"/>
              </a:rPr>
              <a:t>INSTITUT TEKNOLOGI DEL</a:t>
            </a:r>
          </a:p>
        </p:txBody>
      </p:sp>
      <p:sp>
        <p:nvSpPr>
          <p:cNvPr name="Freeform 7" id="7"/>
          <p:cNvSpPr/>
          <p:nvPr/>
        </p:nvSpPr>
        <p:spPr>
          <a:xfrm flipH="false" flipV="false" rot="0">
            <a:off x="10061791" y="1922989"/>
            <a:ext cx="7197509" cy="7335311"/>
          </a:xfrm>
          <a:custGeom>
            <a:avLst/>
            <a:gdLst/>
            <a:ahLst/>
            <a:cxnLst/>
            <a:rect r="r" b="b" t="t" l="l"/>
            <a:pathLst>
              <a:path h="7335311" w="7197509">
                <a:moveTo>
                  <a:pt x="0" y="0"/>
                </a:moveTo>
                <a:lnTo>
                  <a:pt x="7197509" y="0"/>
                </a:lnTo>
                <a:lnTo>
                  <a:pt x="7197509" y="7335311"/>
                </a:lnTo>
                <a:lnTo>
                  <a:pt x="0" y="7335311"/>
                </a:lnTo>
                <a:lnTo>
                  <a:pt x="0" y="0"/>
                </a:lnTo>
                <a:close/>
              </a:path>
            </a:pathLst>
          </a:custGeom>
          <a:blipFill>
            <a:blip r:embed="rId4"/>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9259" t="0" r="-9259" b="0"/>
            </a:stretch>
          </a:blipFill>
        </p:spPr>
      </p:sp>
      <p:grpSp>
        <p:nvGrpSpPr>
          <p:cNvPr name="Group 3" id="3"/>
          <p:cNvGrpSpPr/>
          <p:nvPr/>
        </p:nvGrpSpPr>
        <p:grpSpPr>
          <a:xfrm rot="0">
            <a:off x="17398178" y="-234246"/>
            <a:ext cx="330630" cy="10755493"/>
            <a:chOff x="0" y="0"/>
            <a:chExt cx="87079" cy="2832722"/>
          </a:xfrm>
        </p:grpSpPr>
        <p:sp>
          <p:nvSpPr>
            <p:cNvPr name="Freeform 4" id="4"/>
            <p:cNvSpPr/>
            <p:nvPr/>
          </p:nvSpPr>
          <p:spPr>
            <a:xfrm flipH="false" flipV="false" rot="0">
              <a:off x="0" y="0"/>
              <a:ext cx="87079" cy="2832722"/>
            </a:xfrm>
            <a:custGeom>
              <a:avLst/>
              <a:gdLst/>
              <a:ahLst/>
              <a:cxnLst/>
              <a:rect r="r" b="b" t="t" l="l"/>
              <a:pathLst>
                <a:path h="2832722" w="87079">
                  <a:moveTo>
                    <a:pt x="0" y="0"/>
                  </a:moveTo>
                  <a:lnTo>
                    <a:pt x="87079" y="0"/>
                  </a:lnTo>
                  <a:lnTo>
                    <a:pt x="87079" y="2832722"/>
                  </a:lnTo>
                  <a:lnTo>
                    <a:pt x="0" y="2832722"/>
                  </a:lnTo>
                  <a:close/>
                </a:path>
              </a:pathLst>
            </a:custGeom>
            <a:solidFill>
              <a:srgbClr val="002254"/>
            </a:solidFill>
          </p:spPr>
        </p:sp>
        <p:sp>
          <p:nvSpPr>
            <p:cNvPr name="TextBox 5" id="5"/>
            <p:cNvSpPr txBox="true"/>
            <p:nvPr/>
          </p:nvSpPr>
          <p:spPr>
            <a:xfrm>
              <a:off x="0" y="-38100"/>
              <a:ext cx="87079" cy="2870822"/>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6723937" y="-234246"/>
            <a:ext cx="330630" cy="10755493"/>
            <a:chOff x="0" y="0"/>
            <a:chExt cx="87079" cy="2832722"/>
          </a:xfrm>
        </p:grpSpPr>
        <p:sp>
          <p:nvSpPr>
            <p:cNvPr name="Freeform 7" id="7"/>
            <p:cNvSpPr/>
            <p:nvPr/>
          </p:nvSpPr>
          <p:spPr>
            <a:xfrm flipH="false" flipV="false" rot="0">
              <a:off x="0" y="0"/>
              <a:ext cx="87079" cy="2832722"/>
            </a:xfrm>
            <a:custGeom>
              <a:avLst/>
              <a:gdLst/>
              <a:ahLst/>
              <a:cxnLst/>
              <a:rect r="r" b="b" t="t" l="l"/>
              <a:pathLst>
                <a:path h="2832722" w="87079">
                  <a:moveTo>
                    <a:pt x="0" y="0"/>
                  </a:moveTo>
                  <a:lnTo>
                    <a:pt x="87079" y="0"/>
                  </a:lnTo>
                  <a:lnTo>
                    <a:pt x="87079" y="2832722"/>
                  </a:lnTo>
                  <a:lnTo>
                    <a:pt x="0" y="2832722"/>
                  </a:lnTo>
                  <a:close/>
                </a:path>
              </a:pathLst>
            </a:custGeom>
            <a:solidFill>
              <a:srgbClr val="002254"/>
            </a:solidFill>
          </p:spPr>
        </p:sp>
        <p:sp>
          <p:nvSpPr>
            <p:cNvPr name="TextBox 8" id="8"/>
            <p:cNvSpPr txBox="true"/>
            <p:nvPr/>
          </p:nvSpPr>
          <p:spPr>
            <a:xfrm>
              <a:off x="0" y="-38100"/>
              <a:ext cx="87079" cy="2870822"/>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028700" y="4496752"/>
            <a:ext cx="13218650" cy="1560195"/>
          </a:xfrm>
          <a:prstGeom prst="rect">
            <a:avLst/>
          </a:prstGeom>
        </p:spPr>
        <p:txBody>
          <a:bodyPr anchor="t" rtlCol="false" tIns="0" lIns="0" bIns="0" rIns="0">
            <a:spAutoFit/>
          </a:bodyPr>
          <a:lstStyle/>
          <a:p>
            <a:pPr algn="l">
              <a:lnSpc>
                <a:spcPts val="11640"/>
              </a:lnSpc>
            </a:pPr>
            <a:r>
              <a:rPr lang="en-US" sz="12000" b="true">
                <a:solidFill>
                  <a:srgbClr val="002254"/>
                </a:solidFill>
                <a:latin typeface="Montserrat Ultra-Bold"/>
                <a:ea typeface="Montserrat Ultra-Bold"/>
                <a:cs typeface="Montserrat Ultra-Bold"/>
                <a:sym typeface="Montserrat Ultra-Bold"/>
              </a:rPr>
              <a:t>DESIGN</a:t>
            </a:r>
          </a:p>
        </p:txBody>
      </p:sp>
      <p:sp>
        <p:nvSpPr>
          <p:cNvPr name="Freeform 10" id="10"/>
          <p:cNvSpPr/>
          <p:nvPr/>
        </p:nvSpPr>
        <p:spPr>
          <a:xfrm flipH="false" flipV="false" rot="0">
            <a:off x="692764" y="400218"/>
            <a:ext cx="963762" cy="963762"/>
          </a:xfrm>
          <a:custGeom>
            <a:avLst/>
            <a:gdLst/>
            <a:ahLst/>
            <a:cxnLst/>
            <a:rect r="r" b="b" t="t" l="l"/>
            <a:pathLst>
              <a:path h="963762" w="963762">
                <a:moveTo>
                  <a:pt x="0" y="0"/>
                </a:moveTo>
                <a:lnTo>
                  <a:pt x="963761" y="0"/>
                </a:lnTo>
                <a:lnTo>
                  <a:pt x="963761" y="963762"/>
                </a:lnTo>
                <a:lnTo>
                  <a:pt x="0" y="963762"/>
                </a:lnTo>
                <a:lnTo>
                  <a:pt x="0" y="0"/>
                </a:lnTo>
                <a:close/>
              </a:path>
            </a:pathLst>
          </a:custGeom>
          <a:blipFill>
            <a:blip r:embed="rId3"/>
            <a:stretch>
              <a:fillRect l="0" t="0" r="0" b="0"/>
            </a:stretch>
          </a:blipFill>
        </p:spPr>
      </p:sp>
      <p:sp>
        <p:nvSpPr>
          <p:cNvPr name="TextBox 11" id="11"/>
          <p:cNvSpPr txBox="true"/>
          <p:nvPr/>
        </p:nvSpPr>
        <p:spPr>
          <a:xfrm rot="0">
            <a:off x="1864064" y="681990"/>
            <a:ext cx="3686274" cy="346710"/>
          </a:xfrm>
          <a:prstGeom prst="rect">
            <a:avLst/>
          </a:prstGeom>
        </p:spPr>
        <p:txBody>
          <a:bodyPr anchor="t" rtlCol="false" tIns="0" lIns="0" bIns="0" rIns="0">
            <a:spAutoFit/>
          </a:bodyPr>
          <a:lstStyle/>
          <a:p>
            <a:pPr algn="ctr">
              <a:lnSpc>
                <a:spcPts val="2400"/>
              </a:lnSpc>
              <a:spcBef>
                <a:spcPct val="0"/>
              </a:spcBef>
            </a:pPr>
            <a:r>
              <a:rPr lang="en-US" b="true" sz="2400">
                <a:solidFill>
                  <a:srgbClr val="0B3454"/>
                </a:solidFill>
                <a:latin typeface="Poppins Semi-Bold"/>
                <a:ea typeface="Poppins Semi-Bold"/>
                <a:cs typeface="Poppins Semi-Bold"/>
                <a:sym typeface="Poppins Semi-Bold"/>
              </a:rPr>
              <a:t>INSTITUT TEKNOLOGI DEL</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9259" t="0" r="-9259" b="0"/>
            </a:stretch>
          </a:blipFill>
        </p:spPr>
      </p:sp>
      <p:sp>
        <p:nvSpPr>
          <p:cNvPr name="Freeform 3" id="3"/>
          <p:cNvSpPr/>
          <p:nvPr/>
        </p:nvSpPr>
        <p:spPr>
          <a:xfrm flipH="false" flipV="false" rot="0">
            <a:off x="692764" y="400218"/>
            <a:ext cx="963762" cy="963762"/>
          </a:xfrm>
          <a:custGeom>
            <a:avLst/>
            <a:gdLst/>
            <a:ahLst/>
            <a:cxnLst/>
            <a:rect r="r" b="b" t="t" l="l"/>
            <a:pathLst>
              <a:path h="963762" w="963762">
                <a:moveTo>
                  <a:pt x="0" y="0"/>
                </a:moveTo>
                <a:lnTo>
                  <a:pt x="963761" y="0"/>
                </a:lnTo>
                <a:lnTo>
                  <a:pt x="963761" y="963762"/>
                </a:lnTo>
                <a:lnTo>
                  <a:pt x="0" y="963762"/>
                </a:lnTo>
                <a:lnTo>
                  <a:pt x="0" y="0"/>
                </a:lnTo>
                <a:close/>
              </a:path>
            </a:pathLst>
          </a:custGeom>
          <a:blipFill>
            <a:blip r:embed="rId3"/>
            <a:stretch>
              <a:fillRect l="0" t="0" r="0" b="0"/>
            </a:stretch>
          </a:blipFill>
        </p:spPr>
      </p:sp>
      <p:sp>
        <p:nvSpPr>
          <p:cNvPr name="Freeform 4" id="4"/>
          <p:cNvSpPr/>
          <p:nvPr/>
        </p:nvSpPr>
        <p:spPr>
          <a:xfrm flipH="false" flipV="false" rot="0">
            <a:off x="8875011" y="240125"/>
            <a:ext cx="8053794" cy="9806751"/>
          </a:xfrm>
          <a:custGeom>
            <a:avLst/>
            <a:gdLst/>
            <a:ahLst/>
            <a:cxnLst/>
            <a:rect r="r" b="b" t="t" l="l"/>
            <a:pathLst>
              <a:path h="9806751" w="8053794">
                <a:moveTo>
                  <a:pt x="0" y="0"/>
                </a:moveTo>
                <a:lnTo>
                  <a:pt x="8053794" y="0"/>
                </a:lnTo>
                <a:lnTo>
                  <a:pt x="8053794" y="9806750"/>
                </a:lnTo>
                <a:lnTo>
                  <a:pt x="0" y="9806750"/>
                </a:lnTo>
                <a:lnTo>
                  <a:pt x="0" y="0"/>
                </a:lnTo>
                <a:close/>
              </a:path>
            </a:pathLst>
          </a:custGeom>
          <a:blipFill>
            <a:blip r:embed="rId4"/>
            <a:stretch>
              <a:fillRect l="0" t="0" r="0" b="0"/>
            </a:stretch>
          </a:blipFill>
        </p:spPr>
      </p:sp>
      <p:sp>
        <p:nvSpPr>
          <p:cNvPr name="TextBox 5" id="5"/>
          <p:cNvSpPr txBox="true"/>
          <p:nvPr/>
        </p:nvSpPr>
        <p:spPr>
          <a:xfrm rot="0">
            <a:off x="1028700" y="2324983"/>
            <a:ext cx="6449920" cy="2095599"/>
          </a:xfrm>
          <a:prstGeom prst="rect">
            <a:avLst/>
          </a:prstGeom>
        </p:spPr>
        <p:txBody>
          <a:bodyPr anchor="t" rtlCol="false" tIns="0" lIns="0" bIns="0" rIns="0">
            <a:spAutoFit/>
          </a:bodyPr>
          <a:lstStyle/>
          <a:p>
            <a:pPr algn="ctr">
              <a:lnSpc>
                <a:spcPts val="8400"/>
              </a:lnSpc>
            </a:pPr>
            <a:r>
              <a:rPr lang="en-US" sz="6000" b="true">
                <a:solidFill>
                  <a:srgbClr val="002254"/>
                </a:solidFill>
                <a:latin typeface="Montserrat Ultra-Bold"/>
                <a:ea typeface="Montserrat Ultra-Bold"/>
                <a:cs typeface="Montserrat Ultra-Bold"/>
                <a:sym typeface="Montserrat Ultra-Bold"/>
              </a:rPr>
              <a:t>General System Design</a:t>
            </a:r>
          </a:p>
        </p:txBody>
      </p:sp>
      <p:sp>
        <p:nvSpPr>
          <p:cNvPr name="TextBox 6" id="6"/>
          <p:cNvSpPr txBox="true"/>
          <p:nvPr/>
        </p:nvSpPr>
        <p:spPr>
          <a:xfrm rot="0">
            <a:off x="1864064" y="681990"/>
            <a:ext cx="3686274" cy="346710"/>
          </a:xfrm>
          <a:prstGeom prst="rect">
            <a:avLst/>
          </a:prstGeom>
        </p:spPr>
        <p:txBody>
          <a:bodyPr anchor="t" rtlCol="false" tIns="0" lIns="0" bIns="0" rIns="0">
            <a:spAutoFit/>
          </a:bodyPr>
          <a:lstStyle/>
          <a:p>
            <a:pPr algn="ctr">
              <a:lnSpc>
                <a:spcPts val="2400"/>
              </a:lnSpc>
              <a:spcBef>
                <a:spcPct val="0"/>
              </a:spcBef>
            </a:pPr>
            <a:r>
              <a:rPr lang="en-US" b="true" sz="2400">
                <a:solidFill>
                  <a:srgbClr val="0B3454"/>
                </a:solidFill>
                <a:latin typeface="Poppins Semi-Bold"/>
                <a:ea typeface="Poppins Semi-Bold"/>
                <a:cs typeface="Poppins Semi-Bold"/>
                <a:sym typeface="Poppins Semi-Bold"/>
              </a:rPr>
              <a:t>INSTITUT TEKNOLOGI DEL</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9259" t="0" r="-9259" b="0"/>
            </a:stretch>
          </a:blipFill>
        </p:spPr>
      </p:sp>
      <p:sp>
        <p:nvSpPr>
          <p:cNvPr name="Freeform 3" id="3"/>
          <p:cNvSpPr/>
          <p:nvPr/>
        </p:nvSpPr>
        <p:spPr>
          <a:xfrm flipH="false" flipV="false" rot="0">
            <a:off x="692764" y="400218"/>
            <a:ext cx="963762" cy="963762"/>
          </a:xfrm>
          <a:custGeom>
            <a:avLst/>
            <a:gdLst/>
            <a:ahLst/>
            <a:cxnLst/>
            <a:rect r="r" b="b" t="t" l="l"/>
            <a:pathLst>
              <a:path h="963762" w="963762">
                <a:moveTo>
                  <a:pt x="0" y="0"/>
                </a:moveTo>
                <a:lnTo>
                  <a:pt x="963761" y="0"/>
                </a:lnTo>
                <a:lnTo>
                  <a:pt x="963761" y="963762"/>
                </a:lnTo>
                <a:lnTo>
                  <a:pt x="0" y="963762"/>
                </a:lnTo>
                <a:lnTo>
                  <a:pt x="0" y="0"/>
                </a:lnTo>
                <a:close/>
              </a:path>
            </a:pathLst>
          </a:custGeom>
          <a:blipFill>
            <a:blip r:embed="rId3"/>
            <a:stretch>
              <a:fillRect l="0" t="0" r="0" b="0"/>
            </a:stretch>
          </a:blipFill>
        </p:spPr>
      </p:sp>
      <p:sp>
        <p:nvSpPr>
          <p:cNvPr name="Freeform 4" id="4"/>
          <p:cNvSpPr/>
          <p:nvPr/>
        </p:nvSpPr>
        <p:spPr>
          <a:xfrm flipH="false" flipV="false" rot="0">
            <a:off x="1028700" y="3351656"/>
            <a:ext cx="16230600" cy="5700998"/>
          </a:xfrm>
          <a:custGeom>
            <a:avLst/>
            <a:gdLst/>
            <a:ahLst/>
            <a:cxnLst/>
            <a:rect r="r" b="b" t="t" l="l"/>
            <a:pathLst>
              <a:path h="5700998" w="16230600">
                <a:moveTo>
                  <a:pt x="0" y="0"/>
                </a:moveTo>
                <a:lnTo>
                  <a:pt x="16230600" y="0"/>
                </a:lnTo>
                <a:lnTo>
                  <a:pt x="16230600" y="5700998"/>
                </a:lnTo>
                <a:lnTo>
                  <a:pt x="0" y="5700998"/>
                </a:lnTo>
                <a:lnTo>
                  <a:pt x="0" y="0"/>
                </a:lnTo>
                <a:close/>
              </a:path>
            </a:pathLst>
          </a:custGeom>
          <a:blipFill>
            <a:blip r:embed="rId4"/>
            <a:stretch>
              <a:fillRect l="0" t="0" r="0" b="0"/>
            </a:stretch>
          </a:blipFill>
        </p:spPr>
      </p:sp>
      <p:sp>
        <p:nvSpPr>
          <p:cNvPr name="TextBox 5" id="5"/>
          <p:cNvSpPr txBox="true"/>
          <p:nvPr/>
        </p:nvSpPr>
        <p:spPr>
          <a:xfrm rot="0">
            <a:off x="1656525" y="1618056"/>
            <a:ext cx="8448818" cy="1028750"/>
          </a:xfrm>
          <a:prstGeom prst="rect">
            <a:avLst/>
          </a:prstGeom>
        </p:spPr>
        <p:txBody>
          <a:bodyPr anchor="t" rtlCol="false" tIns="0" lIns="0" bIns="0" rIns="0">
            <a:spAutoFit/>
          </a:bodyPr>
          <a:lstStyle/>
          <a:p>
            <a:pPr algn="ctr">
              <a:lnSpc>
                <a:spcPts val="8400"/>
              </a:lnSpc>
            </a:pPr>
            <a:r>
              <a:rPr lang="en-US" sz="6000" b="true">
                <a:solidFill>
                  <a:srgbClr val="002254"/>
                </a:solidFill>
                <a:latin typeface="Montserrat Ultra-Bold"/>
                <a:ea typeface="Montserrat Ultra-Bold"/>
                <a:cs typeface="Montserrat Ultra-Bold"/>
                <a:sym typeface="Montserrat Ultra-Bold"/>
              </a:rPr>
              <a:t>Experiment Design</a:t>
            </a:r>
          </a:p>
        </p:txBody>
      </p:sp>
      <p:sp>
        <p:nvSpPr>
          <p:cNvPr name="TextBox 6" id="6"/>
          <p:cNvSpPr txBox="true"/>
          <p:nvPr/>
        </p:nvSpPr>
        <p:spPr>
          <a:xfrm rot="0">
            <a:off x="1864064" y="681990"/>
            <a:ext cx="3686274" cy="346710"/>
          </a:xfrm>
          <a:prstGeom prst="rect">
            <a:avLst/>
          </a:prstGeom>
        </p:spPr>
        <p:txBody>
          <a:bodyPr anchor="t" rtlCol="false" tIns="0" lIns="0" bIns="0" rIns="0">
            <a:spAutoFit/>
          </a:bodyPr>
          <a:lstStyle/>
          <a:p>
            <a:pPr algn="ctr">
              <a:lnSpc>
                <a:spcPts val="2400"/>
              </a:lnSpc>
              <a:spcBef>
                <a:spcPct val="0"/>
              </a:spcBef>
            </a:pPr>
            <a:r>
              <a:rPr lang="en-US" b="true" sz="2400">
                <a:solidFill>
                  <a:srgbClr val="0B3454"/>
                </a:solidFill>
                <a:latin typeface="Poppins Semi-Bold"/>
                <a:ea typeface="Poppins Semi-Bold"/>
                <a:cs typeface="Poppins Semi-Bold"/>
                <a:sym typeface="Poppins Semi-Bold"/>
              </a:rPr>
              <a:t>INSTITUT TEKNOLOGI DEL</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9259" t="0" r="-9259" b="0"/>
            </a:stretch>
          </a:blipFill>
        </p:spPr>
      </p:sp>
      <p:grpSp>
        <p:nvGrpSpPr>
          <p:cNvPr name="Group 3" id="3"/>
          <p:cNvGrpSpPr/>
          <p:nvPr/>
        </p:nvGrpSpPr>
        <p:grpSpPr>
          <a:xfrm rot="0">
            <a:off x="17398178" y="-234246"/>
            <a:ext cx="330630" cy="10755493"/>
            <a:chOff x="0" y="0"/>
            <a:chExt cx="87079" cy="2832722"/>
          </a:xfrm>
        </p:grpSpPr>
        <p:sp>
          <p:nvSpPr>
            <p:cNvPr name="Freeform 4" id="4"/>
            <p:cNvSpPr/>
            <p:nvPr/>
          </p:nvSpPr>
          <p:spPr>
            <a:xfrm flipH="false" flipV="false" rot="0">
              <a:off x="0" y="0"/>
              <a:ext cx="87079" cy="2832722"/>
            </a:xfrm>
            <a:custGeom>
              <a:avLst/>
              <a:gdLst/>
              <a:ahLst/>
              <a:cxnLst/>
              <a:rect r="r" b="b" t="t" l="l"/>
              <a:pathLst>
                <a:path h="2832722" w="87079">
                  <a:moveTo>
                    <a:pt x="0" y="0"/>
                  </a:moveTo>
                  <a:lnTo>
                    <a:pt x="87079" y="0"/>
                  </a:lnTo>
                  <a:lnTo>
                    <a:pt x="87079" y="2832722"/>
                  </a:lnTo>
                  <a:lnTo>
                    <a:pt x="0" y="2832722"/>
                  </a:lnTo>
                  <a:close/>
                </a:path>
              </a:pathLst>
            </a:custGeom>
            <a:solidFill>
              <a:srgbClr val="002254"/>
            </a:solidFill>
          </p:spPr>
        </p:sp>
        <p:sp>
          <p:nvSpPr>
            <p:cNvPr name="TextBox 5" id="5"/>
            <p:cNvSpPr txBox="true"/>
            <p:nvPr/>
          </p:nvSpPr>
          <p:spPr>
            <a:xfrm>
              <a:off x="0" y="-38100"/>
              <a:ext cx="87079" cy="2870822"/>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6723937" y="-234246"/>
            <a:ext cx="330630" cy="10755493"/>
            <a:chOff x="0" y="0"/>
            <a:chExt cx="87079" cy="2832722"/>
          </a:xfrm>
        </p:grpSpPr>
        <p:sp>
          <p:nvSpPr>
            <p:cNvPr name="Freeform 7" id="7"/>
            <p:cNvSpPr/>
            <p:nvPr/>
          </p:nvSpPr>
          <p:spPr>
            <a:xfrm flipH="false" flipV="false" rot="0">
              <a:off x="0" y="0"/>
              <a:ext cx="87079" cy="2832722"/>
            </a:xfrm>
            <a:custGeom>
              <a:avLst/>
              <a:gdLst/>
              <a:ahLst/>
              <a:cxnLst/>
              <a:rect r="r" b="b" t="t" l="l"/>
              <a:pathLst>
                <a:path h="2832722" w="87079">
                  <a:moveTo>
                    <a:pt x="0" y="0"/>
                  </a:moveTo>
                  <a:lnTo>
                    <a:pt x="87079" y="0"/>
                  </a:lnTo>
                  <a:lnTo>
                    <a:pt x="87079" y="2832722"/>
                  </a:lnTo>
                  <a:lnTo>
                    <a:pt x="0" y="2832722"/>
                  </a:lnTo>
                  <a:close/>
                </a:path>
              </a:pathLst>
            </a:custGeom>
            <a:solidFill>
              <a:srgbClr val="002254"/>
            </a:solidFill>
          </p:spPr>
        </p:sp>
        <p:sp>
          <p:nvSpPr>
            <p:cNvPr name="TextBox 8" id="8"/>
            <p:cNvSpPr txBox="true"/>
            <p:nvPr/>
          </p:nvSpPr>
          <p:spPr>
            <a:xfrm>
              <a:off x="0" y="-38100"/>
              <a:ext cx="87079" cy="2870822"/>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028700" y="4496752"/>
            <a:ext cx="15352337" cy="1560195"/>
          </a:xfrm>
          <a:prstGeom prst="rect">
            <a:avLst/>
          </a:prstGeom>
        </p:spPr>
        <p:txBody>
          <a:bodyPr anchor="t" rtlCol="false" tIns="0" lIns="0" bIns="0" rIns="0">
            <a:spAutoFit/>
          </a:bodyPr>
          <a:lstStyle/>
          <a:p>
            <a:pPr algn="l">
              <a:lnSpc>
                <a:spcPts val="11640"/>
              </a:lnSpc>
            </a:pPr>
            <a:r>
              <a:rPr lang="en-US" sz="12000" b="true">
                <a:solidFill>
                  <a:srgbClr val="002254"/>
                </a:solidFill>
                <a:latin typeface="Montserrat Ultra-Bold"/>
                <a:ea typeface="Montserrat Ultra-Bold"/>
                <a:cs typeface="Montserrat Ultra-Bold"/>
                <a:sym typeface="Montserrat Ultra-Bold"/>
              </a:rPr>
              <a:t>IMPLEMENTATION</a:t>
            </a:r>
          </a:p>
        </p:txBody>
      </p:sp>
      <p:sp>
        <p:nvSpPr>
          <p:cNvPr name="Freeform 10" id="10"/>
          <p:cNvSpPr/>
          <p:nvPr/>
        </p:nvSpPr>
        <p:spPr>
          <a:xfrm flipH="false" flipV="false" rot="0">
            <a:off x="692764" y="400218"/>
            <a:ext cx="963762" cy="963762"/>
          </a:xfrm>
          <a:custGeom>
            <a:avLst/>
            <a:gdLst/>
            <a:ahLst/>
            <a:cxnLst/>
            <a:rect r="r" b="b" t="t" l="l"/>
            <a:pathLst>
              <a:path h="963762" w="963762">
                <a:moveTo>
                  <a:pt x="0" y="0"/>
                </a:moveTo>
                <a:lnTo>
                  <a:pt x="963761" y="0"/>
                </a:lnTo>
                <a:lnTo>
                  <a:pt x="963761" y="963762"/>
                </a:lnTo>
                <a:lnTo>
                  <a:pt x="0" y="963762"/>
                </a:lnTo>
                <a:lnTo>
                  <a:pt x="0" y="0"/>
                </a:lnTo>
                <a:close/>
              </a:path>
            </a:pathLst>
          </a:custGeom>
          <a:blipFill>
            <a:blip r:embed="rId3"/>
            <a:stretch>
              <a:fillRect l="0" t="0" r="0" b="0"/>
            </a:stretch>
          </a:blipFill>
        </p:spPr>
      </p:sp>
      <p:sp>
        <p:nvSpPr>
          <p:cNvPr name="TextBox 11" id="11"/>
          <p:cNvSpPr txBox="true"/>
          <p:nvPr/>
        </p:nvSpPr>
        <p:spPr>
          <a:xfrm rot="0">
            <a:off x="1864064" y="681990"/>
            <a:ext cx="3686274" cy="346710"/>
          </a:xfrm>
          <a:prstGeom prst="rect">
            <a:avLst/>
          </a:prstGeom>
        </p:spPr>
        <p:txBody>
          <a:bodyPr anchor="t" rtlCol="false" tIns="0" lIns="0" bIns="0" rIns="0">
            <a:spAutoFit/>
          </a:bodyPr>
          <a:lstStyle/>
          <a:p>
            <a:pPr algn="ctr">
              <a:lnSpc>
                <a:spcPts val="2400"/>
              </a:lnSpc>
              <a:spcBef>
                <a:spcPct val="0"/>
              </a:spcBef>
            </a:pPr>
            <a:r>
              <a:rPr lang="en-US" b="true" sz="2400">
                <a:solidFill>
                  <a:srgbClr val="0B3454"/>
                </a:solidFill>
                <a:latin typeface="Poppins Semi-Bold"/>
                <a:ea typeface="Poppins Semi-Bold"/>
                <a:cs typeface="Poppins Semi-Bold"/>
                <a:sym typeface="Poppins Semi-Bold"/>
              </a:rPr>
              <a:t>INSTITUT TEKNOLOGI DEL</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9259" t="0" r="-9259" b="0"/>
            </a:stretch>
          </a:blipFill>
        </p:spPr>
      </p:sp>
      <p:sp>
        <p:nvSpPr>
          <p:cNvPr name="Freeform 3" id="3"/>
          <p:cNvSpPr/>
          <p:nvPr/>
        </p:nvSpPr>
        <p:spPr>
          <a:xfrm flipH="false" flipV="false" rot="0">
            <a:off x="692764" y="400218"/>
            <a:ext cx="963762" cy="963762"/>
          </a:xfrm>
          <a:custGeom>
            <a:avLst/>
            <a:gdLst/>
            <a:ahLst/>
            <a:cxnLst/>
            <a:rect r="r" b="b" t="t" l="l"/>
            <a:pathLst>
              <a:path h="963762" w="963762">
                <a:moveTo>
                  <a:pt x="0" y="0"/>
                </a:moveTo>
                <a:lnTo>
                  <a:pt x="963761" y="0"/>
                </a:lnTo>
                <a:lnTo>
                  <a:pt x="963761" y="963762"/>
                </a:lnTo>
                <a:lnTo>
                  <a:pt x="0" y="963762"/>
                </a:lnTo>
                <a:lnTo>
                  <a:pt x="0" y="0"/>
                </a:lnTo>
                <a:close/>
              </a:path>
            </a:pathLst>
          </a:custGeom>
          <a:blipFill>
            <a:blip r:embed="rId3"/>
            <a:stretch>
              <a:fillRect l="0" t="0" r="0" b="0"/>
            </a:stretch>
          </a:blipFill>
        </p:spPr>
      </p:sp>
      <p:sp>
        <p:nvSpPr>
          <p:cNvPr name="TextBox 4" id="4"/>
          <p:cNvSpPr txBox="true"/>
          <p:nvPr/>
        </p:nvSpPr>
        <p:spPr>
          <a:xfrm rot="0">
            <a:off x="1864064" y="681990"/>
            <a:ext cx="3686274" cy="346710"/>
          </a:xfrm>
          <a:prstGeom prst="rect">
            <a:avLst/>
          </a:prstGeom>
        </p:spPr>
        <p:txBody>
          <a:bodyPr anchor="t" rtlCol="false" tIns="0" lIns="0" bIns="0" rIns="0">
            <a:spAutoFit/>
          </a:bodyPr>
          <a:lstStyle/>
          <a:p>
            <a:pPr algn="ctr">
              <a:lnSpc>
                <a:spcPts val="2400"/>
              </a:lnSpc>
              <a:spcBef>
                <a:spcPct val="0"/>
              </a:spcBef>
            </a:pPr>
            <a:r>
              <a:rPr lang="en-US" b="true" sz="2400">
                <a:solidFill>
                  <a:srgbClr val="0B3454"/>
                </a:solidFill>
                <a:latin typeface="Poppins Semi-Bold"/>
                <a:ea typeface="Poppins Semi-Bold"/>
                <a:cs typeface="Poppins Semi-Bold"/>
                <a:sym typeface="Poppins Semi-Bold"/>
              </a:rPr>
              <a:t>INSTITUT TEKNOLOGI DEL</a:t>
            </a:r>
          </a:p>
        </p:txBody>
      </p:sp>
      <p:grpSp>
        <p:nvGrpSpPr>
          <p:cNvPr name="Group 5" id="5"/>
          <p:cNvGrpSpPr/>
          <p:nvPr/>
        </p:nvGrpSpPr>
        <p:grpSpPr>
          <a:xfrm rot="5400000">
            <a:off x="4215892" y="-286945"/>
            <a:ext cx="47625" cy="3836200"/>
            <a:chOff x="0" y="0"/>
            <a:chExt cx="12543" cy="1010357"/>
          </a:xfrm>
        </p:grpSpPr>
        <p:sp>
          <p:nvSpPr>
            <p:cNvPr name="Freeform 6" id="6"/>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7" id="7"/>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5400000">
            <a:off x="4215892" y="-103929"/>
            <a:ext cx="47625" cy="3836200"/>
            <a:chOff x="0" y="0"/>
            <a:chExt cx="12543" cy="1010357"/>
          </a:xfrm>
        </p:grpSpPr>
        <p:sp>
          <p:nvSpPr>
            <p:cNvPr name="Freeform 9" id="9"/>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10" id="10"/>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5400000">
            <a:off x="13944190" y="7411637"/>
            <a:ext cx="47625" cy="3836200"/>
            <a:chOff x="0" y="0"/>
            <a:chExt cx="12543" cy="1010357"/>
          </a:xfrm>
        </p:grpSpPr>
        <p:sp>
          <p:nvSpPr>
            <p:cNvPr name="Freeform 12" id="12"/>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13" id="13"/>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5400000">
            <a:off x="13944190" y="7594654"/>
            <a:ext cx="47625" cy="3836200"/>
            <a:chOff x="0" y="0"/>
            <a:chExt cx="12543" cy="1010357"/>
          </a:xfrm>
        </p:grpSpPr>
        <p:sp>
          <p:nvSpPr>
            <p:cNvPr name="Freeform 15" id="15"/>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16" id="16"/>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sp>
        <p:nvSpPr>
          <p:cNvPr name="TextBox 17" id="17"/>
          <p:cNvSpPr txBox="true"/>
          <p:nvPr/>
        </p:nvSpPr>
        <p:spPr>
          <a:xfrm rot="0">
            <a:off x="1028700" y="4901952"/>
            <a:ext cx="7408373" cy="4356348"/>
          </a:xfrm>
          <a:prstGeom prst="rect">
            <a:avLst/>
          </a:prstGeom>
        </p:spPr>
        <p:txBody>
          <a:bodyPr anchor="t" rtlCol="false" tIns="0" lIns="0" bIns="0" rIns="0">
            <a:spAutoFit/>
          </a:bodyPr>
          <a:lstStyle/>
          <a:p>
            <a:pPr algn="just">
              <a:lnSpc>
                <a:spcPts val="3499"/>
              </a:lnSpc>
              <a:spcBef>
                <a:spcPct val="0"/>
              </a:spcBef>
            </a:pPr>
            <a:r>
              <a:rPr lang="en-US" b="true" sz="2499">
                <a:solidFill>
                  <a:srgbClr val="0B3454"/>
                </a:solidFill>
                <a:latin typeface="Montserrat Bold"/>
                <a:ea typeface="Montserrat Bold"/>
                <a:cs typeface="Montserrat Bold"/>
                <a:sym typeface="Montserrat Bold"/>
              </a:rPr>
              <a:t>DATA COLLECTION &amp; ANALYSIS</a:t>
            </a:r>
          </a:p>
          <a:p>
            <a:pPr algn="just" marL="539746" indent="-269873" lvl="1">
              <a:lnSpc>
                <a:spcPts val="3499"/>
              </a:lnSpc>
              <a:buFont typeface="Arial"/>
              <a:buChar char="•"/>
            </a:pPr>
            <a:r>
              <a:rPr lang="en-US" sz="2499">
                <a:solidFill>
                  <a:srgbClr val="0B3454"/>
                </a:solidFill>
                <a:latin typeface="Montserrat"/>
                <a:ea typeface="Montserrat"/>
                <a:cs typeface="Montserrat"/>
                <a:sym typeface="Montserrat"/>
              </a:rPr>
              <a:t>Load the phishing dataset</a:t>
            </a:r>
          </a:p>
          <a:p>
            <a:pPr algn="just" marL="539746" indent="-269873" lvl="1">
              <a:lnSpc>
                <a:spcPts val="3499"/>
              </a:lnSpc>
              <a:buFont typeface="Arial"/>
              <a:buChar char="•"/>
            </a:pPr>
            <a:r>
              <a:rPr lang="en-US" sz="2499">
                <a:solidFill>
                  <a:srgbClr val="0B3454"/>
                </a:solidFill>
                <a:latin typeface="Montserrat"/>
                <a:ea typeface="Montserrat"/>
                <a:cs typeface="Montserrat"/>
                <a:sym typeface="Montserrat"/>
              </a:rPr>
              <a:t>Analyze data type, rows, and columns</a:t>
            </a:r>
          </a:p>
          <a:p>
            <a:pPr algn="just" marL="539746" indent="-269873" lvl="1">
              <a:lnSpc>
                <a:spcPts val="3499"/>
              </a:lnSpc>
              <a:buFont typeface="Arial"/>
              <a:buChar char="•"/>
            </a:pPr>
            <a:r>
              <a:rPr lang="en-US" sz="2499">
                <a:solidFill>
                  <a:srgbClr val="0B3454"/>
                </a:solidFill>
                <a:latin typeface="Montserrat"/>
                <a:ea typeface="Montserrat"/>
                <a:cs typeface="Montserrat"/>
                <a:sym typeface="Montserrat"/>
              </a:rPr>
              <a:t>Check label distribution</a:t>
            </a:r>
          </a:p>
          <a:p>
            <a:pPr algn="just" marL="539746" indent="-269873" lvl="1">
              <a:lnSpc>
                <a:spcPts val="3499"/>
              </a:lnSpc>
              <a:buFont typeface="Arial"/>
              <a:buChar char="•"/>
            </a:pPr>
            <a:r>
              <a:rPr lang="en-US" sz="2499">
                <a:solidFill>
                  <a:srgbClr val="0B3454"/>
                </a:solidFill>
                <a:latin typeface="Montserrat"/>
                <a:ea typeface="Montserrat"/>
                <a:cs typeface="Montserrat"/>
                <a:sym typeface="Montserrat"/>
              </a:rPr>
              <a:t>Check missing values and duplicate URLs</a:t>
            </a:r>
          </a:p>
          <a:p>
            <a:pPr algn="just">
              <a:lnSpc>
                <a:spcPts val="3499"/>
              </a:lnSpc>
            </a:pPr>
          </a:p>
          <a:p>
            <a:pPr algn="just">
              <a:lnSpc>
                <a:spcPts val="3499"/>
              </a:lnSpc>
            </a:pPr>
            <a:r>
              <a:rPr lang="en-US" b="true" sz="2499">
                <a:solidFill>
                  <a:srgbClr val="0B3454"/>
                </a:solidFill>
                <a:latin typeface="Montserrat Bold"/>
                <a:ea typeface="Montserrat Bold"/>
                <a:cs typeface="Montserrat Bold"/>
                <a:sym typeface="Montserrat Bold"/>
              </a:rPr>
              <a:t>DATA SELECTION</a:t>
            </a:r>
          </a:p>
          <a:p>
            <a:pPr algn="just" marL="539746" indent="-269873" lvl="1">
              <a:lnSpc>
                <a:spcPts val="3499"/>
              </a:lnSpc>
              <a:buFont typeface="Arial"/>
              <a:buChar char="•"/>
            </a:pPr>
            <a:r>
              <a:rPr lang="en-US" sz="2499">
                <a:solidFill>
                  <a:srgbClr val="0B3454"/>
                </a:solidFill>
                <a:latin typeface="Montserrat"/>
                <a:ea typeface="Montserrat"/>
                <a:cs typeface="Montserrat"/>
                <a:sym typeface="Montserrat"/>
              </a:rPr>
              <a:t>Remove unnecessary columns</a:t>
            </a:r>
          </a:p>
          <a:p>
            <a:pPr algn="just" marL="539746" indent="-269873" lvl="1">
              <a:lnSpc>
                <a:spcPts val="3499"/>
              </a:lnSpc>
              <a:buFont typeface="Arial"/>
              <a:buChar char="•"/>
            </a:pPr>
            <a:r>
              <a:rPr lang="en-US" sz="2499">
                <a:solidFill>
                  <a:srgbClr val="0B3454"/>
                </a:solidFill>
                <a:latin typeface="Montserrat"/>
                <a:ea typeface="Montserrat"/>
                <a:cs typeface="Montserrat"/>
                <a:sym typeface="Montserrat"/>
              </a:rPr>
              <a:t>Keep only important features</a:t>
            </a:r>
          </a:p>
          <a:p>
            <a:pPr algn="just" marL="539746" indent="-269873" lvl="1">
              <a:lnSpc>
                <a:spcPts val="3499"/>
              </a:lnSpc>
              <a:buFont typeface="Arial"/>
              <a:buChar char="•"/>
            </a:pPr>
            <a:r>
              <a:rPr lang="en-US" sz="2499">
                <a:solidFill>
                  <a:srgbClr val="0B3454"/>
                </a:solidFill>
                <a:latin typeface="Montserrat"/>
                <a:ea typeface="Montserrat"/>
                <a:cs typeface="Montserrat"/>
                <a:sym typeface="Montserrat"/>
              </a:rPr>
              <a:t>Save the selected dataset</a:t>
            </a:r>
          </a:p>
        </p:txBody>
      </p:sp>
      <p:sp>
        <p:nvSpPr>
          <p:cNvPr name="TextBox 18" id="18"/>
          <p:cNvSpPr txBox="true"/>
          <p:nvPr/>
        </p:nvSpPr>
        <p:spPr>
          <a:xfrm rot="0">
            <a:off x="9924058" y="4768602"/>
            <a:ext cx="7335242" cy="4356348"/>
          </a:xfrm>
          <a:prstGeom prst="rect">
            <a:avLst/>
          </a:prstGeom>
        </p:spPr>
        <p:txBody>
          <a:bodyPr anchor="t" rtlCol="false" tIns="0" lIns="0" bIns="0" rIns="0">
            <a:spAutoFit/>
          </a:bodyPr>
          <a:lstStyle/>
          <a:p>
            <a:pPr algn="just">
              <a:lnSpc>
                <a:spcPts val="3499"/>
              </a:lnSpc>
              <a:spcBef>
                <a:spcPct val="0"/>
              </a:spcBef>
            </a:pPr>
            <a:r>
              <a:rPr lang="en-US" b="true" sz="2499">
                <a:solidFill>
                  <a:srgbClr val="0B3454"/>
                </a:solidFill>
                <a:latin typeface="Montserrat Bold"/>
                <a:ea typeface="Montserrat Bold"/>
                <a:cs typeface="Montserrat Bold"/>
                <a:sym typeface="Montserrat Bold"/>
              </a:rPr>
              <a:t>DATA CLEANING</a:t>
            </a:r>
          </a:p>
          <a:p>
            <a:pPr algn="just" marL="539746" indent="-269873" lvl="1">
              <a:lnSpc>
                <a:spcPts val="3499"/>
              </a:lnSpc>
              <a:buFont typeface="Arial"/>
              <a:buChar char="•"/>
            </a:pPr>
            <a:r>
              <a:rPr lang="en-US" sz="2499">
                <a:solidFill>
                  <a:srgbClr val="0B3454"/>
                </a:solidFill>
                <a:latin typeface="Montserrat"/>
                <a:ea typeface="Montserrat"/>
                <a:cs typeface="Montserrat"/>
                <a:sym typeface="Montserrat"/>
              </a:rPr>
              <a:t>Remove duplicate data based on URL</a:t>
            </a:r>
          </a:p>
          <a:p>
            <a:pPr algn="just" marL="539746" indent="-269873" lvl="1">
              <a:lnSpc>
                <a:spcPts val="3499"/>
              </a:lnSpc>
              <a:buFont typeface="Arial"/>
              <a:buChar char="•"/>
            </a:pPr>
            <a:r>
              <a:rPr lang="en-US" sz="2499">
                <a:solidFill>
                  <a:srgbClr val="0B3454"/>
                </a:solidFill>
                <a:latin typeface="Montserrat"/>
                <a:ea typeface="Montserrat"/>
                <a:cs typeface="Montserrat"/>
                <a:sym typeface="Montserrat"/>
              </a:rPr>
              <a:t>Ensure data is clean and consistent</a:t>
            </a:r>
          </a:p>
          <a:p>
            <a:pPr algn="just" marL="539746" indent="-269873" lvl="1">
              <a:lnSpc>
                <a:spcPts val="3499"/>
              </a:lnSpc>
              <a:buFont typeface="Arial"/>
              <a:buChar char="•"/>
            </a:pPr>
            <a:r>
              <a:rPr lang="en-US" sz="2499">
                <a:solidFill>
                  <a:srgbClr val="0B3454"/>
                </a:solidFill>
                <a:latin typeface="Montserrat"/>
                <a:ea typeface="Montserrat"/>
                <a:cs typeface="Montserrat"/>
                <a:sym typeface="Montserrat"/>
              </a:rPr>
              <a:t>Save the final dataset</a:t>
            </a:r>
          </a:p>
          <a:p>
            <a:pPr algn="just">
              <a:lnSpc>
                <a:spcPts val="3499"/>
              </a:lnSpc>
            </a:pPr>
          </a:p>
          <a:p>
            <a:pPr algn="just">
              <a:lnSpc>
                <a:spcPts val="3499"/>
              </a:lnSpc>
            </a:pPr>
            <a:r>
              <a:rPr lang="en-US" b="true" sz="2499">
                <a:solidFill>
                  <a:srgbClr val="0B3454"/>
                </a:solidFill>
                <a:latin typeface="Montserrat Bold"/>
                <a:ea typeface="Montserrat Bold"/>
                <a:cs typeface="Montserrat Bold"/>
                <a:sym typeface="Montserrat Bold"/>
              </a:rPr>
              <a:t>DATA TRANSFORMATION</a:t>
            </a:r>
          </a:p>
          <a:p>
            <a:pPr algn="just" marL="539746" indent="-269873" lvl="1">
              <a:lnSpc>
                <a:spcPts val="3499"/>
              </a:lnSpc>
              <a:buFont typeface="Arial"/>
              <a:buChar char="•"/>
            </a:pPr>
            <a:r>
              <a:rPr lang="en-US" sz="2499">
                <a:solidFill>
                  <a:srgbClr val="0B3454"/>
                </a:solidFill>
                <a:latin typeface="Montserrat"/>
                <a:ea typeface="Montserrat"/>
                <a:cs typeface="Montserrat"/>
                <a:sym typeface="Montserrat"/>
              </a:rPr>
              <a:t>Convert labels into numbers</a:t>
            </a:r>
          </a:p>
          <a:p>
            <a:pPr algn="just">
              <a:lnSpc>
                <a:spcPts val="3499"/>
              </a:lnSpc>
            </a:pPr>
            <a:r>
              <a:rPr lang="en-US" sz="2499">
                <a:solidFill>
                  <a:srgbClr val="0B3454"/>
                </a:solidFill>
                <a:latin typeface="Montserrat"/>
                <a:ea typeface="Montserrat"/>
                <a:cs typeface="Montserrat"/>
                <a:sym typeface="Montserrat"/>
              </a:rPr>
              <a:t>      (phishing = 1, legitimate = 0)</a:t>
            </a:r>
          </a:p>
          <a:p>
            <a:pPr algn="just" marL="539746" indent="-269873" lvl="1">
              <a:lnSpc>
                <a:spcPts val="3499"/>
              </a:lnSpc>
              <a:buFont typeface="Arial"/>
              <a:buChar char="•"/>
            </a:pPr>
            <a:r>
              <a:rPr lang="en-US" sz="2499">
                <a:solidFill>
                  <a:srgbClr val="0B3454"/>
                </a:solidFill>
                <a:latin typeface="Montserrat"/>
                <a:ea typeface="Montserrat"/>
                <a:cs typeface="Montserrat"/>
                <a:sym typeface="Montserrat"/>
              </a:rPr>
              <a:t>Replace 'status' column with 'label'</a:t>
            </a:r>
          </a:p>
          <a:p>
            <a:pPr algn="just" marL="539746" indent="-269873" lvl="1">
              <a:lnSpc>
                <a:spcPts val="3499"/>
              </a:lnSpc>
              <a:buFont typeface="Arial"/>
              <a:buChar char="•"/>
            </a:pPr>
            <a:r>
              <a:rPr lang="en-US" sz="2499">
                <a:solidFill>
                  <a:srgbClr val="0B3454"/>
                </a:solidFill>
                <a:latin typeface="Montserrat"/>
                <a:ea typeface="Montserrat"/>
                <a:cs typeface="Montserrat"/>
                <a:sym typeface="Montserrat"/>
              </a:rPr>
              <a:t>Save the transformed dataset</a:t>
            </a:r>
          </a:p>
        </p:txBody>
      </p:sp>
      <p:sp>
        <p:nvSpPr>
          <p:cNvPr name="TextBox 19" id="19"/>
          <p:cNvSpPr txBox="true"/>
          <p:nvPr/>
        </p:nvSpPr>
        <p:spPr>
          <a:xfrm rot="0">
            <a:off x="2252123" y="2048475"/>
            <a:ext cx="10874008" cy="1028700"/>
          </a:xfrm>
          <a:prstGeom prst="rect">
            <a:avLst/>
          </a:prstGeom>
        </p:spPr>
        <p:txBody>
          <a:bodyPr anchor="t" rtlCol="false" tIns="0" lIns="0" bIns="0" rIns="0">
            <a:spAutoFit/>
          </a:bodyPr>
          <a:lstStyle/>
          <a:p>
            <a:pPr algn="l">
              <a:lnSpc>
                <a:spcPts val="8400"/>
              </a:lnSpc>
            </a:pPr>
            <a:r>
              <a:rPr lang="en-US" sz="6000" b="true">
                <a:solidFill>
                  <a:srgbClr val="002254"/>
                </a:solidFill>
                <a:latin typeface="Montserrat Ultra-Bold"/>
                <a:ea typeface="Montserrat Ultra-Bold"/>
                <a:cs typeface="Montserrat Ultra-Bold"/>
                <a:sym typeface="Montserrat Ultra-Bold"/>
              </a:rPr>
              <a:t>Data Preprocessing</a:t>
            </a:r>
          </a:p>
        </p:txBody>
      </p:sp>
      <p:sp>
        <p:nvSpPr>
          <p:cNvPr name="TextBox 20" id="20"/>
          <p:cNvSpPr txBox="true"/>
          <p:nvPr/>
        </p:nvSpPr>
        <p:spPr>
          <a:xfrm rot="0">
            <a:off x="1028700" y="3334599"/>
            <a:ext cx="16230600" cy="1289124"/>
          </a:xfrm>
          <a:prstGeom prst="rect">
            <a:avLst/>
          </a:prstGeom>
        </p:spPr>
        <p:txBody>
          <a:bodyPr anchor="t" rtlCol="false" tIns="0" lIns="0" bIns="0" rIns="0">
            <a:spAutoFit/>
          </a:bodyPr>
          <a:lstStyle/>
          <a:p>
            <a:pPr algn="just">
              <a:lnSpc>
                <a:spcPts val="3499"/>
              </a:lnSpc>
              <a:spcBef>
                <a:spcPct val="0"/>
              </a:spcBef>
            </a:pPr>
            <a:r>
              <a:rPr lang="en-US" sz="2499">
                <a:solidFill>
                  <a:srgbClr val="000000"/>
                </a:solidFill>
                <a:latin typeface="Montserrat"/>
                <a:ea typeface="Montserrat"/>
                <a:cs typeface="Montserrat"/>
                <a:sym typeface="Montserrat"/>
              </a:rPr>
              <a:t>This project is about detecting phishing websites using machine learning. </a:t>
            </a:r>
            <a:r>
              <a:rPr lang="en-US" sz="2499">
                <a:solidFill>
                  <a:srgbClr val="000000"/>
                </a:solidFill>
                <a:latin typeface="Montserrat"/>
                <a:ea typeface="Montserrat"/>
                <a:cs typeface="Montserrat"/>
                <a:sym typeface="Montserrat"/>
              </a:rPr>
              <a:t>We use data preprocessing, model training, and deployment to build the system. </a:t>
            </a:r>
            <a:r>
              <a:rPr lang="en-US" sz="2499">
                <a:solidFill>
                  <a:srgbClr val="000000"/>
                </a:solidFill>
                <a:latin typeface="Montserrat"/>
                <a:ea typeface="Montserrat"/>
                <a:cs typeface="Montserrat"/>
                <a:sym typeface="Montserrat"/>
              </a:rPr>
              <a:t>Data</a:t>
            </a:r>
            <a:r>
              <a:rPr lang="en-US" sz="2499">
                <a:solidFill>
                  <a:srgbClr val="000000"/>
                </a:solidFill>
                <a:latin typeface="Montserrat"/>
                <a:ea typeface="Montserrat"/>
                <a:cs typeface="Montserrat"/>
                <a:sym typeface="Montserrat"/>
              </a:rPr>
              <a:t> Preprocessing is the first step in this project. It prepares the data before training the model.</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9259" t="0" r="-9259" b="0"/>
            </a:stretch>
          </a:blipFill>
        </p:spPr>
      </p:sp>
      <p:sp>
        <p:nvSpPr>
          <p:cNvPr name="Freeform 3" id="3"/>
          <p:cNvSpPr/>
          <p:nvPr/>
        </p:nvSpPr>
        <p:spPr>
          <a:xfrm flipH="false" flipV="false" rot="0">
            <a:off x="692764" y="400218"/>
            <a:ext cx="963762" cy="963762"/>
          </a:xfrm>
          <a:custGeom>
            <a:avLst/>
            <a:gdLst/>
            <a:ahLst/>
            <a:cxnLst/>
            <a:rect r="r" b="b" t="t" l="l"/>
            <a:pathLst>
              <a:path h="963762" w="963762">
                <a:moveTo>
                  <a:pt x="0" y="0"/>
                </a:moveTo>
                <a:lnTo>
                  <a:pt x="963761" y="0"/>
                </a:lnTo>
                <a:lnTo>
                  <a:pt x="963761" y="963762"/>
                </a:lnTo>
                <a:lnTo>
                  <a:pt x="0" y="963762"/>
                </a:lnTo>
                <a:lnTo>
                  <a:pt x="0" y="0"/>
                </a:lnTo>
                <a:close/>
              </a:path>
            </a:pathLst>
          </a:custGeom>
          <a:blipFill>
            <a:blip r:embed="rId3"/>
            <a:stretch>
              <a:fillRect l="0" t="0" r="0" b="0"/>
            </a:stretch>
          </a:blipFill>
        </p:spPr>
      </p:sp>
      <p:sp>
        <p:nvSpPr>
          <p:cNvPr name="TextBox 4" id="4"/>
          <p:cNvSpPr txBox="true"/>
          <p:nvPr/>
        </p:nvSpPr>
        <p:spPr>
          <a:xfrm rot="0">
            <a:off x="1864064" y="681990"/>
            <a:ext cx="3686274" cy="346710"/>
          </a:xfrm>
          <a:prstGeom prst="rect">
            <a:avLst/>
          </a:prstGeom>
        </p:spPr>
        <p:txBody>
          <a:bodyPr anchor="t" rtlCol="false" tIns="0" lIns="0" bIns="0" rIns="0">
            <a:spAutoFit/>
          </a:bodyPr>
          <a:lstStyle/>
          <a:p>
            <a:pPr algn="ctr">
              <a:lnSpc>
                <a:spcPts val="2400"/>
              </a:lnSpc>
              <a:spcBef>
                <a:spcPct val="0"/>
              </a:spcBef>
            </a:pPr>
            <a:r>
              <a:rPr lang="en-US" b="true" sz="2400">
                <a:solidFill>
                  <a:srgbClr val="0B3454"/>
                </a:solidFill>
                <a:latin typeface="Poppins Semi-Bold"/>
                <a:ea typeface="Poppins Semi-Bold"/>
                <a:cs typeface="Poppins Semi-Bold"/>
                <a:sym typeface="Poppins Semi-Bold"/>
              </a:rPr>
              <a:t>INSTITUT TEKNOLOGI DEL</a:t>
            </a:r>
          </a:p>
        </p:txBody>
      </p:sp>
      <p:grpSp>
        <p:nvGrpSpPr>
          <p:cNvPr name="Group 5" id="5"/>
          <p:cNvGrpSpPr/>
          <p:nvPr/>
        </p:nvGrpSpPr>
        <p:grpSpPr>
          <a:xfrm rot="5400000">
            <a:off x="4215892" y="-286945"/>
            <a:ext cx="47625" cy="3836200"/>
            <a:chOff x="0" y="0"/>
            <a:chExt cx="12543" cy="1010357"/>
          </a:xfrm>
        </p:grpSpPr>
        <p:sp>
          <p:nvSpPr>
            <p:cNvPr name="Freeform 6" id="6"/>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7" id="7"/>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5400000">
            <a:off x="4215892" y="-103929"/>
            <a:ext cx="47625" cy="3836200"/>
            <a:chOff x="0" y="0"/>
            <a:chExt cx="12543" cy="1010357"/>
          </a:xfrm>
        </p:grpSpPr>
        <p:sp>
          <p:nvSpPr>
            <p:cNvPr name="Freeform 9" id="9"/>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10" id="10"/>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5400000">
            <a:off x="14236712" y="7497362"/>
            <a:ext cx="47625" cy="3836200"/>
            <a:chOff x="0" y="0"/>
            <a:chExt cx="12543" cy="1010357"/>
          </a:xfrm>
        </p:grpSpPr>
        <p:sp>
          <p:nvSpPr>
            <p:cNvPr name="Freeform 12" id="12"/>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13" id="13"/>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5400000">
            <a:off x="14236712" y="7680379"/>
            <a:ext cx="47625" cy="3836200"/>
            <a:chOff x="0" y="0"/>
            <a:chExt cx="12543" cy="1010357"/>
          </a:xfrm>
        </p:grpSpPr>
        <p:sp>
          <p:nvSpPr>
            <p:cNvPr name="Freeform 15" id="15"/>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16" id="16"/>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sp>
        <p:nvSpPr>
          <p:cNvPr name="TextBox 17" id="17"/>
          <p:cNvSpPr txBox="true"/>
          <p:nvPr/>
        </p:nvSpPr>
        <p:spPr>
          <a:xfrm rot="0">
            <a:off x="1491859" y="4487589"/>
            <a:ext cx="7652141" cy="5232400"/>
          </a:xfrm>
          <a:prstGeom prst="rect">
            <a:avLst/>
          </a:prstGeom>
        </p:spPr>
        <p:txBody>
          <a:bodyPr anchor="t" rtlCol="false" tIns="0" lIns="0" bIns="0" rIns="0">
            <a:spAutoFit/>
          </a:bodyPr>
          <a:lstStyle/>
          <a:p>
            <a:pPr algn="l">
              <a:lnSpc>
                <a:spcPts val="3499"/>
              </a:lnSpc>
              <a:spcBef>
                <a:spcPct val="0"/>
              </a:spcBef>
            </a:pPr>
            <a:r>
              <a:rPr lang="en-US" b="true" sz="2499">
                <a:solidFill>
                  <a:srgbClr val="0B3454"/>
                </a:solidFill>
                <a:latin typeface="Montserrat Bold"/>
                <a:ea typeface="Montserrat Bold"/>
                <a:cs typeface="Montserrat Bold"/>
                <a:sym typeface="Montserrat Bold"/>
              </a:rPr>
              <a:t>DATA SPLIT</a:t>
            </a:r>
          </a:p>
          <a:p>
            <a:pPr algn="l" marL="539746" indent="-269873" lvl="1">
              <a:lnSpc>
                <a:spcPts val="3499"/>
              </a:lnSpc>
              <a:buFont typeface="Arial"/>
              <a:buChar char="•"/>
            </a:pPr>
            <a:r>
              <a:rPr lang="en-US" sz="2499">
                <a:solidFill>
                  <a:srgbClr val="0B3454"/>
                </a:solidFill>
                <a:latin typeface="Montserrat"/>
                <a:ea typeface="Montserrat"/>
                <a:cs typeface="Montserrat"/>
                <a:sym typeface="Montserrat"/>
              </a:rPr>
              <a:t>SPLIT DAT</a:t>
            </a:r>
            <a:r>
              <a:rPr lang="en-US" sz="2499">
                <a:solidFill>
                  <a:srgbClr val="0B3454"/>
                </a:solidFill>
                <a:latin typeface="Montserrat"/>
                <a:ea typeface="Montserrat"/>
                <a:cs typeface="Montserrat"/>
                <a:sym typeface="Montserrat"/>
              </a:rPr>
              <a:t>a into training data and testi</a:t>
            </a:r>
            <a:r>
              <a:rPr lang="en-US" sz="2499">
                <a:solidFill>
                  <a:srgbClr val="0B3454"/>
                </a:solidFill>
                <a:latin typeface="Montserrat"/>
                <a:ea typeface="Montserrat"/>
                <a:cs typeface="Montserrat"/>
                <a:sym typeface="Montserrat"/>
              </a:rPr>
              <a:t>n</a:t>
            </a:r>
            <a:r>
              <a:rPr lang="en-US" sz="2499">
                <a:solidFill>
                  <a:srgbClr val="0B3454"/>
                </a:solidFill>
                <a:latin typeface="Montserrat"/>
                <a:ea typeface="Montserrat"/>
                <a:cs typeface="Montserrat"/>
                <a:sym typeface="Montserrat"/>
              </a:rPr>
              <a:t>g</a:t>
            </a:r>
            <a:r>
              <a:rPr lang="en-US" sz="2499">
                <a:solidFill>
                  <a:srgbClr val="0B3454"/>
                </a:solidFill>
                <a:latin typeface="Montserrat"/>
                <a:ea typeface="Montserrat"/>
                <a:cs typeface="Montserrat"/>
                <a:sym typeface="Montserrat"/>
              </a:rPr>
              <a:t> data (80:20)</a:t>
            </a:r>
          </a:p>
          <a:p>
            <a:pPr algn="l" marL="539746" indent="-269873" lvl="1">
              <a:lnSpc>
                <a:spcPts val="3499"/>
              </a:lnSpc>
              <a:buFont typeface="Arial"/>
              <a:buChar char="•"/>
            </a:pPr>
            <a:r>
              <a:rPr lang="en-US" sz="2499">
                <a:solidFill>
                  <a:srgbClr val="0B3454"/>
                </a:solidFill>
                <a:latin typeface="Montserrat"/>
                <a:ea typeface="Montserrat"/>
                <a:cs typeface="Montserrat"/>
                <a:sym typeface="Montserrat"/>
              </a:rPr>
              <a:t>Us</a:t>
            </a:r>
            <a:r>
              <a:rPr lang="en-US" sz="2499">
                <a:solidFill>
                  <a:srgbClr val="0B3454"/>
                </a:solidFill>
                <a:latin typeface="Montserrat"/>
                <a:ea typeface="Montserrat"/>
                <a:cs typeface="Montserrat"/>
                <a:sym typeface="Montserrat"/>
              </a:rPr>
              <a:t>e 37 </a:t>
            </a:r>
            <a:r>
              <a:rPr lang="en-US" sz="2499">
                <a:solidFill>
                  <a:srgbClr val="0B3454"/>
                </a:solidFill>
                <a:latin typeface="Montserrat"/>
                <a:ea typeface="Montserrat"/>
                <a:cs typeface="Montserrat"/>
                <a:sym typeface="Montserrat"/>
              </a:rPr>
              <a:t>URL</a:t>
            </a:r>
            <a:r>
              <a:rPr lang="en-US" sz="2499">
                <a:solidFill>
                  <a:srgbClr val="0B3454"/>
                </a:solidFill>
                <a:latin typeface="Montserrat"/>
                <a:ea typeface="Montserrat"/>
                <a:cs typeface="Montserrat"/>
                <a:sym typeface="Montserrat"/>
              </a:rPr>
              <a:t> </a:t>
            </a:r>
            <a:r>
              <a:rPr lang="en-US" sz="2499">
                <a:solidFill>
                  <a:srgbClr val="0B3454"/>
                </a:solidFill>
                <a:latin typeface="Montserrat"/>
                <a:ea typeface="Montserrat"/>
                <a:cs typeface="Montserrat"/>
                <a:sym typeface="Montserrat"/>
              </a:rPr>
              <a:t>f</a:t>
            </a:r>
            <a:r>
              <a:rPr lang="en-US" sz="2499">
                <a:solidFill>
                  <a:srgbClr val="0B3454"/>
                </a:solidFill>
                <a:latin typeface="Montserrat"/>
                <a:ea typeface="Montserrat"/>
                <a:cs typeface="Montserrat"/>
                <a:sym typeface="Montserrat"/>
              </a:rPr>
              <a:t>ea</a:t>
            </a:r>
            <a:r>
              <a:rPr lang="en-US" sz="2499">
                <a:solidFill>
                  <a:srgbClr val="0B3454"/>
                </a:solidFill>
                <a:latin typeface="Montserrat"/>
                <a:ea typeface="Montserrat"/>
                <a:cs typeface="Montserrat"/>
                <a:sym typeface="Montserrat"/>
              </a:rPr>
              <a:t>tur</a:t>
            </a:r>
            <a:r>
              <a:rPr lang="en-US" sz="2499">
                <a:solidFill>
                  <a:srgbClr val="0B3454"/>
                </a:solidFill>
                <a:latin typeface="Montserrat"/>
                <a:ea typeface="Montserrat"/>
                <a:cs typeface="Montserrat"/>
                <a:sym typeface="Montserrat"/>
              </a:rPr>
              <a:t>es </a:t>
            </a:r>
          </a:p>
          <a:p>
            <a:pPr algn="l" marL="539746" indent="-269873" lvl="1">
              <a:lnSpc>
                <a:spcPts val="3499"/>
              </a:lnSpc>
              <a:buFont typeface="Arial"/>
              <a:buChar char="•"/>
            </a:pPr>
            <a:r>
              <a:rPr lang="en-US" sz="2499">
                <a:solidFill>
                  <a:srgbClr val="0B3454"/>
                </a:solidFill>
                <a:latin typeface="Montserrat"/>
                <a:ea typeface="Montserrat"/>
                <a:cs typeface="Montserrat"/>
                <a:sym typeface="Montserrat"/>
              </a:rPr>
              <a:t>O</a:t>
            </a:r>
            <a:r>
              <a:rPr lang="en-US" sz="2499">
                <a:solidFill>
                  <a:srgbClr val="0B3454"/>
                </a:solidFill>
                <a:latin typeface="Montserrat"/>
                <a:ea typeface="Montserrat"/>
                <a:cs typeface="Montserrat"/>
                <a:sym typeface="Montserrat"/>
              </a:rPr>
              <a:t>r</a:t>
            </a:r>
            <a:r>
              <a:rPr lang="en-US" sz="2499">
                <a:solidFill>
                  <a:srgbClr val="0B3454"/>
                </a:solidFill>
                <a:latin typeface="Montserrat"/>
                <a:ea typeface="Montserrat"/>
                <a:cs typeface="Montserrat"/>
                <a:sym typeface="Montserrat"/>
              </a:rPr>
              <a:t> </a:t>
            </a:r>
            <a:r>
              <a:rPr lang="en-US" sz="2499">
                <a:solidFill>
                  <a:srgbClr val="0B3454"/>
                </a:solidFill>
                <a:latin typeface="Montserrat"/>
                <a:ea typeface="Montserrat"/>
                <a:cs typeface="Montserrat"/>
                <a:sym typeface="Montserrat"/>
              </a:rPr>
              <a:t>u</a:t>
            </a:r>
            <a:r>
              <a:rPr lang="en-US" sz="2499">
                <a:solidFill>
                  <a:srgbClr val="0B3454"/>
                </a:solidFill>
                <a:latin typeface="Montserrat"/>
                <a:ea typeface="Montserrat"/>
                <a:cs typeface="Montserrat"/>
                <a:sym typeface="Montserrat"/>
              </a:rPr>
              <a:t>s</a:t>
            </a:r>
            <a:r>
              <a:rPr lang="en-US" sz="2499">
                <a:solidFill>
                  <a:srgbClr val="0B3454"/>
                </a:solidFill>
                <a:latin typeface="Montserrat"/>
                <a:ea typeface="Montserrat"/>
                <a:cs typeface="Montserrat"/>
                <a:sym typeface="Montserrat"/>
              </a:rPr>
              <a:t>e </a:t>
            </a:r>
            <a:r>
              <a:rPr lang="en-US" sz="2499">
                <a:solidFill>
                  <a:srgbClr val="0B3454"/>
                </a:solidFill>
                <a:latin typeface="Montserrat"/>
                <a:ea typeface="Montserrat"/>
                <a:cs typeface="Montserrat"/>
                <a:sym typeface="Montserrat"/>
              </a:rPr>
              <a:t>81 co</a:t>
            </a:r>
            <a:r>
              <a:rPr lang="en-US" sz="2499">
                <a:solidFill>
                  <a:srgbClr val="0B3454"/>
                </a:solidFill>
                <a:latin typeface="Montserrat"/>
                <a:ea typeface="Montserrat"/>
                <a:cs typeface="Montserrat"/>
                <a:sym typeface="Montserrat"/>
              </a:rPr>
              <a:t>m</a:t>
            </a:r>
            <a:r>
              <a:rPr lang="en-US" sz="2499">
                <a:solidFill>
                  <a:srgbClr val="0B3454"/>
                </a:solidFill>
                <a:latin typeface="Montserrat"/>
                <a:ea typeface="Montserrat"/>
                <a:cs typeface="Montserrat"/>
                <a:sym typeface="Montserrat"/>
              </a:rPr>
              <a:t>b</a:t>
            </a:r>
            <a:r>
              <a:rPr lang="en-US" sz="2499">
                <a:solidFill>
                  <a:srgbClr val="0B3454"/>
                </a:solidFill>
                <a:latin typeface="Montserrat"/>
                <a:ea typeface="Montserrat"/>
                <a:cs typeface="Montserrat"/>
                <a:sym typeface="Montserrat"/>
              </a:rPr>
              <a:t>in</a:t>
            </a:r>
            <a:r>
              <a:rPr lang="en-US" sz="2499">
                <a:solidFill>
                  <a:srgbClr val="0B3454"/>
                </a:solidFill>
                <a:latin typeface="Montserrat"/>
                <a:ea typeface="Montserrat"/>
                <a:cs typeface="Montserrat"/>
                <a:sym typeface="Montserrat"/>
              </a:rPr>
              <a:t>ed</a:t>
            </a:r>
            <a:r>
              <a:rPr lang="en-US" sz="2499">
                <a:solidFill>
                  <a:srgbClr val="0B3454"/>
                </a:solidFill>
                <a:latin typeface="Montserrat"/>
                <a:ea typeface="Montserrat"/>
                <a:cs typeface="Montserrat"/>
                <a:sym typeface="Montserrat"/>
              </a:rPr>
              <a:t> </a:t>
            </a:r>
            <a:r>
              <a:rPr lang="en-US" sz="2499">
                <a:solidFill>
                  <a:srgbClr val="0B3454"/>
                </a:solidFill>
                <a:latin typeface="Montserrat"/>
                <a:ea typeface="Montserrat"/>
                <a:cs typeface="Montserrat"/>
                <a:sym typeface="Montserrat"/>
              </a:rPr>
              <a:t>fe</a:t>
            </a:r>
            <a:r>
              <a:rPr lang="en-US" sz="2499">
                <a:solidFill>
                  <a:srgbClr val="0B3454"/>
                </a:solidFill>
                <a:latin typeface="Montserrat"/>
                <a:ea typeface="Montserrat"/>
                <a:cs typeface="Montserrat"/>
                <a:sym typeface="Montserrat"/>
              </a:rPr>
              <a:t>a</a:t>
            </a:r>
            <a:r>
              <a:rPr lang="en-US" sz="2499">
                <a:solidFill>
                  <a:srgbClr val="0B3454"/>
                </a:solidFill>
                <a:latin typeface="Montserrat"/>
                <a:ea typeface="Montserrat"/>
                <a:cs typeface="Montserrat"/>
                <a:sym typeface="Montserrat"/>
              </a:rPr>
              <a:t>t</a:t>
            </a:r>
            <a:r>
              <a:rPr lang="en-US" sz="2499">
                <a:solidFill>
                  <a:srgbClr val="0B3454"/>
                </a:solidFill>
                <a:latin typeface="Montserrat"/>
                <a:ea typeface="Montserrat"/>
                <a:cs typeface="Montserrat"/>
                <a:sym typeface="Montserrat"/>
              </a:rPr>
              <a:t>u</a:t>
            </a:r>
            <a:r>
              <a:rPr lang="en-US" sz="2499">
                <a:solidFill>
                  <a:srgbClr val="0B3454"/>
                </a:solidFill>
                <a:latin typeface="Montserrat"/>
                <a:ea typeface="Montserrat"/>
                <a:cs typeface="Montserrat"/>
                <a:sym typeface="Montserrat"/>
              </a:rPr>
              <a:t>r</a:t>
            </a:r>
            <a:r>
              <a:rPr lang="en-US" sz="2499">
                <a:solidFill>
                  <a:srgbClr val="0B3454"/>
                </a:solidFill>
                <a:latin typeface="Montserrat"/>
                <a:ea typeface="Montserrat"/>
                <a:cs typeface="Montserrat"/>
                <a:sym typeface="Montserrat"/>
              </a:rPr>
              <a:t>es </a:t>
            </a:r>
            <a:r>
              <a:rPr lang="en-US" sz="2499">
                <a:solidFill>
                  <a:srgbClr val="0B3454"/>
                </a:solidFill>
                <a:latin typeface="Montserrat"/>
                <a:ea typeface="Montserrat"/>
                <a:cs typeface="Montserrat"/>
                <a:sym typeface="Montserrat"/>
              </a:rPr>
              <a:t>(URL + web</a:t>
            </a:r>
            <a:r>
              <a:rPr lang="en-US" sz="2499">
                <a:solidFill>
                  <a:srgbClr val="0B3454"/>
                </a:solidFill>
                <a:latin typeface="Montserrat"/>
                <a:ea typeface="Montserrat"/>
                <a:cs typeface="Montserrat"/>
                <a:sym typeface="Montserrat"/>
              </a:rPr>
              <a:t> c</a:t>
            </a:r>
            <a:r>
              <a:rPr lang="en-US" sz="2499">
                <a:solidFill>
                  <a:srgbClr val="0B3454"/>
                </a:solidFill>
                <a:latin typeface="Montserrat"/>
                <a:ea typeface="Montserrat"/>
                <a:cs typeface="Montserrat"/>
                <a:sym typeface="Montserrat"/>
              </a:rPr>
              <a:t>on</a:t>
            </a:r>
            <a:r>
              <a:rPr lang="en-US" sz="2499">
                <a:solidFill>
                  <a:srgbClr val="0B3454"/>
                </a:solidFill>
                <a:latin typeface="Montserrat"/>
                <a:ea typeface="Montserrat"/>
                <a:cs typeface="Montserrat"/>
                <a:sym typeface="Montserrat"/>
              </a:rPr>
              <a:t>te</a:t>
            </a:r>
            <a:r>
              <a:rPr lang="en-US" sz="2499">
                <a:solidFill>
                  <a:srgbClr val="0B3454"/>
                </a:solidFill>
                <a:latin typeface="Montserrat"/>
                <a:ea typeface="Montserrat"/>
                <a:cs typeface="Montserrat"/>
                <a:sym typeface="Montserrat"/>
              </a:rPr>
              <a:t>nt)</a:t>
            </a:r>
          </a:p>
          <a:p>
            <a:pPr algn="l">
              <a:lnSpc>
                <a:spcPts val="3499"/>
              </a:lnSpc>
            </a:pPr>
          </a:p>
          <a:p>
            <a:pPr algn="l">
              <a:lnSpc>
                <a:spcPts val="3499"/>
              </a:lnSpc>
            </a:pPr>
            <a:r>
              <a:rPr lang="en-US" b="true" sz="2499">
                <a:solidFill>
                  <a:srgbClr val="0B3454"/>
                </a:solidFill>
                <a:latin typeface="Montserrat Bold"/>
                <a:ea typeface="Montserrat Bold"/>
                <a:cs typeface="Montserrat Bold"/>
                <a:sym typeface="Montserrat Bold"/>
              </a:rPr>
              <a:t>Hyperparameter Optimization</a:t>
            </a:r>
          </a:p>
          <a:p>
            <a:pPr algn="l" marL="539746" indent="-269873" lvl="1">
              <a:lnSpc>
                <a:spcPts val="3499"/>
              </a:lnSpc>
              <a:buFont typeface="Arial"/>
              <a:buChar char="•"/>
            </a:pPr>
            <a:r>
              <a:rPr lang="en-US" sz="2499">
                <a:solidFill>
                  <a:srgbClr val="0B3454"/>
                </a:solidFill>
                <a:latin typeface="Montserrat"/>
                <a:ea typeface="Montserrat"/>
                <a:cs typeface="Montserrat"/>
                <a:sym typeface="Montserrat"/>
              </a:rPr>
              <a:t>US</a:t>
            </a:r>
            <a:r>
              <a:rPr lang="en-US" sz="2499">
                <a:solidFill>
                  <a:srgbClr val="0B3454"/>
                </a:solidFill>
                <a:latin typeface="Montserrat"/>
                <a:ea typeface="Montserrat"/>
                <a:cs typeface="Montserrat"/>
                <a:sym typeface="Montserrat"/>
              </a:rPr>
              <a:t>e Genetic Algorithm (GA) for tuning</a:t>
            </a:r>
          </a:p>
          <a:p>
            <a:pPr algn="l" marL="539746" indent="-269873" lvl="1">
              <a:lnSpc>
                <a:spcPts val="3499"/>
              </a:lnSpc>
              <a:buFont typeface="Arial"/>
              <a:buChar char="•"/>
            </a:pPr>
            <a:r>
              <a:rPr lang="en-US" sz="2499">
                <a:solidFill>
                  <a:srgbClr val="0B3454"/>
                </a:solidFill>
                <a:latin typeface="Montserrat"/>
                <a:ea typeface="Montserrat"/>
                <a:cs typeface="Montserrat"/>
                <a:sym typeface="Montserrat"/>
              </a:rPr>
              <a:t>Optimize Random Forest and XGBoost parameters</a:t>
            </a:r>
          </a:p>
          <a:p>
            <a:pPr algn="l" marL="539746" indent="-269873" lvl="1">
              <a:lnSpc>
                <a:spcPts val="3499"/>
              </a:lnSpc>
              <a:buFont typeface="Arial"/>
              <a:buChar char="•"/>
            </a:pPr>
            <a:r>
              <a:rPr lang="en-US" sz="2499">
                <a:solidFill>
                  <a:srgbClr val="0B3454"/>
                </a:solidFill>
                <a:latin typeface="Montserrat"/>
                <a:ea typeface="Montserrat"/>
                <a:cs typeface="Montserrat"/>
                <a:sym typeface="Montserrat"/>
              </a:rPr>
              <a:t>Find the best parameters based on F1-score</a:t>
            </a:r>
          </a:p>
        </p:txBody>
      </p:sp>
      <p:sp>
        <p:nvSpPr>
          <p:cNvPr name="TextBox 18" id="18"/>
          <p:cNvSpPr txBox="true"/>
          <p:nvPr/>
        </p:nvSpPr>
        <p:spPr>
          <a:xfrm rot="0">
            <a:off x="9875304" y="4463777"/>
            <a:ext cx="7548596" cy="4794523"/>
          </a:xfrm>
          <a:prstGeom prst="rect">
            <a:avLst/>
          </a:prstGeom>
        </p:spPr>
        <p:txBody>
          <a:bodyPr anchor="t" rtlCol="false" tIns="0" lIns="0" bIns="0" rIns="0">
            <a:spAutoFit/>
          </a:bodyPr>
          <a:lstStyle/>
          <a:p>
            <a:pPr algn="l">
              <a:lnSpc>
                <a:spcPts val="3499"/>
              </a:lnSpc>
              <a:spcBef>
                <a:spcPct val="0"/>
              </a:spcBef>
            </a:pPr>
            <a:r>
              <a:rPr lang="en-US" b="true" sz="2499">
                <a:solidFill>
                  <a:srgbClr val="0B3454"/>
                </a:solidFill>
                <a:latin typeface="Montserrat Bold"/>
                <a:ea typeface="Montserrat Bold"/>
                <a:cs typeface="Montserrat Bold"/>
                <a:sym typeface="Montserrat Bold"/>
              </a:rPr>
              <a:t>MODEL</a:t>
            </a:r>
            <a:r>
              <a:rPr lang="en-US" b="true" sz="2499">
                <a:solidFill>
                  <a:srgbClr val="0B3454"/>
                </a:solidFill>
                <a:latin typeface="Montserrat Bold"/>
                <a:ea typeface="Montserrat Bold"/>
                <a:cs typeface="Montserrat Bold"/>
                <a:sym typeface="Montserrat Bold"/>
              </a:rPr>
              <a:t> TRAINING</a:t>
            </a:r>
          </a:p>
          <a:p>
            <a:pPr algn="l" marL="539746" indent="-269873" lvl="1">
              <a:lnSpc>
                <a:spcPts val="3499"/>
              </a:lnSpc>
              <a:buFont typeface="Arial"/>
              <a:buChar char="•"/>
            </a:pPr>
            <a:r>
              <a:rPr lang="en-US" sz="2499">
                <a:solidFill>
                  <a:srgbClr val="0B3454"/>
                </a:solidFill>
                <a:latin typeface="Montserrat"/>
                <a:ea typeface="Montserrat"/>
                <a:cs typeface="Montserrat"/>
                <a:sym typeface="Montserrat"/>
              </a:rPr>
              <a:t>TRA</a:t>
            </a:r>
            <a:r>
              <a:rPr lang="en-US" sz="2499">
                <a:solidFill>
                  <a:srgbClr val="0B3454"/>
                </a:solidFill>
                <a:latin typeface="Montserrat"/>
                <a:ea typeface="Montserrat"/>
                <a:cs typeface="Montserrat"/>
                <a:sym typeface="Montserrat"/>
              </a:rPr>
              <a:t>in Random Forest model</a:t>
            </a:r>
          </a:p>
          <a:p>
            <a:pPr algn="l" marL="539746" indent="-269873" lvl="1">
              <a:lnSpc>
                <a:spcPts val="3499"/>
              </a:lnSpc>
              <a:buFont typeface="Arial"/>
              <a:buChar char="•"/>
            </a:pPr>
            <a:r>
              <a:rPr lang="en-US" sz="2499">
                <a:solidFill>
                  <a:srgbClr val="0B3454"/>
                </a:solidFill>
                <a:latin typeface="Montserrat"/>
                <a:ea typeface="Montserrat"/>
                <a:cs typeface="Montserrat"/>
                <a:sym typeface="Montserrat"/>
              </a:rPr>
              <a:t>Train XGBoost model</a:t>
            </a:r>
          </a:p>
          <a:p>
            <a:pPr algn="l" marL="539746" indent="-269873" lvl="1">
              <a:lnSpc>
                <a:spcPts val="3499"/>
              </a:lnSpc>
              <a:buFont typeface="Arial"/>
              <a:buChar char="•"/>
            </a:pPr>
            <a:r>
              <a:rPr lang="en-US" sz="2499">
                <a:solidFill>
                  <a:srgbClr val="0B3454"/>
                </a:solidFill>
                <a:latin typeface="Montserrat"/>
                <a:ea typeface="Montserrat"/>
                <a:cs typeface="Montserrat"/>
                <a:sym typeface="Montserrat"/>
              </a:rPr>
              <a:t>Use best parameters from tuning</a:t>
            </a:r>
          </a:p>
          <a:p>
            <a:pPr algn="l">
              <a:lnSpc>
                <a:spcPts val="3499"/>
              </a:lnSpc>
            </a:pPr>
          </a:p>
          <a:p>
            <a:pPr algn="l">
              <a:lnSpc>
                <a:spcPts val="3499"/>
              </a:lnSpc>
            </a:pPr>
            <a:r>
              <a:rPr lang="en-US" b="true" sz="2499">
                <a:solidFill>
                  <a:srgbClr val="0B3454"/>
                </a:solidFill>
                <a:latin typeface="Montserrat Bold"/>
                <a:ea typeface="Montserrat Bold"/>
                <a:cs typeface="Montserrat Bold"/>
                <a:sym typeface="Montserrat Bold"/>
              </a:rPr>
              <a:t>STACKING MODEL</a:t>
            </a:r>
          </a:p>
          <a:p>
            <a:pPr algn="l" marL="539746" indent="-269873" lvl="1">
              <a:lnSpc>
                <a:spcPts val="3499"/>
              </a:lnSpc>
              <a:buFont typeface="Arial"/>
              <a:buChar char="•"/>
            </a:pPr>
            <a:r>
              <a:rPr lang="en-US" sz="2499">
                <a:solidFill>
                  <a:srgbClr val="0B3454"/>
                </a:solidFill>
                <a:latin typeface="Montserrat"/>
                <a:ea typeface="Montserrat"/>
                <a:cs typeface="Montserrat"/>
                <a:sym typeface="Montserrat"/>
              </a:rPr>
              <a:t>Combine multiple models</a:t>
            </a:r>
          </a:p>
          <a:p>
            <a:pPr algn="l" marL="539746" indent="-269873" lvl="1">
              <a:lnSpc>
                <a:spcPts val="3499"/>
              </a:lnSpc>
              <a:buFont typeface="Arial"/>
              <a:buChar char="•"/>
            </a:pPr>
            <a:r>
              <a:rPr lang="en-US" sz="2499">
                <a:solidFill>
                  <a:srgbClr val="0B3454"/>
                </a:solidFill>
                <a:latin typeface="Montserrat"/>
                <a:ea typeface="Montserrat"/>
                <a:cs typeface="Montserrat"/>
                <a:sym typeface="Montserrat"/>
              </a:rPr>
              <a:t>Use Random Forest and XGBoost as base models</a:t>
            </a:r>
          </a:p>
          <a:p>
            <a:pPr algn="l" marL="539746" indent="-269873" lvl="1">
              <a:lnSpc>
                <a:spcPts val="3499"/>
              </a:lnSpc>
              <a:buFont typeface="Arial"/>
              <a:buChar char="•"/>
            </a:pPr>
            <a:r>
              <a:rPr lang="en-US" sz="2499">
                <a:solidFill>
                  <a:srgbClr val="0B3454"/>
                </a:solidFill>
                <a:latin typeface="Montserrat"/>
                <a:ea typeface="Montserrat"/>
                <a:cs typeface="Montserrat"/>
                <a:sym typeface="Montserrat"/>
              </a:rPr>
              <a:t>Use Logistic Regression as meta-classifier</a:t>
            </a:r>
          </a:p>
          <a:p>
            <a:pPr algn="l" marL="539746" indent="-269873" lvl="1">
              <a:lnSpc>
                <a:spcPts val="3499"/>
              </a:lnSpc>
              <a:buFont typeface="Arial"/>
              <a:buChar char="•"/>
            </a:pPr>
            <a:r>
              <a:rPr lang="en-US" sz="2499">
                <a:solidFill>
                  <a:srgbClr val="0B3454"/>
                </a:solidFill>
                <a:latin typeface="Montserrat"/>
                <a:ea typeface="Montserrat"/>
                <a:cs typeface="Montserrat"/>
                <a:sym typeface="Montserrat"/>
              </a:rPr>
              <a:t>Impro</a:t>
            </a:r>
            <a:r>
              <a:rPr lang="en-US" sz="2499">
                <a:solidFill>
                  <a:srgbClr val="0B3454"/>
                </a:solidFill>
                <a:latin typeface="Montserrat"/>
                <a:ea typeface="Montserrat"/>
                <a:cs typeface="Montserrat"/>
                <a:sym typeface="Montserrat"/>
              </a:rPr>
              <a:t>ve prediction performance</a:t>
            </a:r>
          </a:p>
        </p:txBody>
      </p:sp>
      <p:sp>
        <p:nvSpPr>
          <p:cNvPr name="TextBox 19" id="19"/>
          <p:cNvSpPr txBox="true"/>
          <p:nvPr/>
        </p:nvSpPr>
        <p:spPr>
          <a:xfrm rot="0">
            <a:off x="2321605" y="2210600"/>
            <a:ext cx="10874008" cy="1028700"/>
          </a:xfrm>
          <a:prstGeom prst="rect">
            <a:avLst/>
          </a:prstGeom>
        </p:spPr>
        <p:txBody>
          <a:bodyPr anchor="t" rtlCol="false" tIns="0" lIns="0" bIns="0" rIns="0">
            <a:spAutoFit/>
          </a:bodyPr>
          <a:lstStyle/>
          <a:p>
            <a:pPr algn="l">
              <a:lnSpc>
                <a:spcPts val="8400"/>
              </a:lnSpc>
            </a:pPr>
            <a:r>
              <a:rPr lang="en-US" sz="6000" b="true">
                <a:solidFill>
                  <a:srgbClr val="002254"/>
                </a:solidFill>
                <a:latin typeface="Montserrat Ultra-Bold"/>
                <a:ea typeface="Montserrat Ultra-Bold"/>
                <a:cs typeface="Montserrat Ultra-Bold"/>
                <a:sym typeface="Montserrat Ultra-Bold"/>
              </a:rPr>
              <a:t>Model Development</a:t>
            </a:r>
          </a:p>
        </p:txBody>
      </p:sp>
      <p:sp>
        <p:nvSpPr>
          <p:cNvPr name="TextBox 20" id="20"/>
          <p:cNvSpPr txBox="true"/>
          <p:nvPr/>
        </p:nvSpPr>
        <p:spPr>
          <a:xfrm rot="0">
            <a:off x="1174644" y="3334599"/>
            <a:ext cx="15840888" cy="850900"/>
          </a:xfrm>
          <a:prstGeom prst="rect">
            <a:avLst/>
          </a:prstGeom>
        </p:spPr>
        <p:txBody>
          <a:bodyPr anchor="t" rtlCol="false" tIns="0" lIns="0" bIns="0" rIns="0">
            <a:spAutoFit/>
          </a:bodyPr>
          <a:lstStyle/>
          <a:p>
            <a:pPr algn="just">
              <a:lnSpc>
                <a:spcPts val="3499"/>
              </a:lnSpc>
              <a:spcBef>
                <a:spcPct val="0"/>
              </a:spcBef>
            </a:pPr>
            <a:r>
              <a:rPr lang="en-US" sz="2499">
                <a:solidFill>
                  <a:srgbClr val="000000"/>
                </a:solidFill>
                <a:latin typeface="Montserrat"/>
                <a:ea typeface="Montserrat"/>
                <a:cs typeface="Montserrat"/>
                <a:sym typeface="Montserrat"/>
              </a:rPr>
              <a:t>Model Dvelopment is the process of building and learning </a:t>
            </a:r>
            <a:r>
              <a:rPr lang="en-US" sz="2499">
                <a:solidFill>
                  <a:srgbClr val="000000"/>
                </a:solidFill>
                <a:latin typeface="Montserrat"/>
                <a:ea typeface="Montserrat"/>
                <a:cs typeface="Montserrat"/>
                <a:sym typeface="Montserrat"/>
              </a:rPr>
              <a:t>the model from data. This step h</a:t>
            </a:r>
            <a:r>
              <a:rPr lang="en-US" sz="2499">
                <a:solidFill>
                  <a:srgbClr val="000000"/>
                </a:solidFill>
                <a:latin typeface="Montserrat"/>
                <a:ea typeface="Montserrat"/>
                <a:cs typeface="Montserrat"/>
                <a:sym typeface="Montserrat"/>
              </a:rPr>
              <a:t>elps the system detect phishing websites.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9259" t="0" r="-9259" b="0"/>
            </a:stretch>
          </a:blipFill>
        </p:spPr>
      </p:sp>
      <p:sp>
        <p:nvSpPr>
          <p:cNvPr name="Freeform 3" id="3"/>
          <p:cNvSpPr/>
          <p:nvPr/>
        </p:nvSpPr>
        <p:spPr>
          <a:xfrm flipH="false" flipV="false" rot="0">
            <a:off x="692764" y="400218"/>
            <a:ext cx="963762" cy="963762"/>
          </a:xfrm>
          <a:custGeom>
            <a:avLst/>
            <a:gdLst/>
            <a:ahLst/>
            <a:cxnLst/>
            <a:rect r="r" b="b" t="t" l="l"/>
            <a:pathLst>
              <a:path h="963762" w="963762">
                <a:moveTo>
                  <a:pt x="0" y="0"/>
                </a:moveTo>
                <a:lnTo>
                  <a:pt x="963761" y="0"/>
                </a:lnTo>
                <a:lnTo>
                  <a:pt x="963761" y="963762"/>
                </a:lnTo>
                <a:lnTo>
                  <a:pt x="0" y="963762"/>
                </a:lnTo>
                <a:lnTo>
                  <a:pt x="0" y="0"/>
                </a:lnTo>
                <a:close/>
              </a:path>
            </a:pathLst>
          </a:custGeom>
          <a:blipFill>
            <a:blip r:embed="rId3"/>
            <a:stretch>
              <a:fillRect l="0" t="0" r="0" b="0"/>
            </a:stretch>
          </a:blipFill>
        </p:spPr>
      </p:sp>
      <p:sp>
        <p:nvSpPr>
          <p:cNvPr name="TextBox 4" id="4"/>
          <p:cNvSpPr txBox="true"/>
          <p:nvPr/>
        </p:nvSpPr>
        <p:spPr>
          <a:xfrm rot="0">
            <a:off x="1864064" y="681990"/>
            <a:ext cx="3686274" cy="346710"/>
          </a:xfrm>
          <a:prstGeom prst="rect">
            <a:avLst/>
          </a:prstGeom>
        </p:spPr>
        <p:txBody>
          <a:bodyPr anchor="t" rtlCol="false" tIns="0" lIns="0" bIns="0" rIns="0">
            <a:spAutoFit/>
          </a:bodyPr>
          <a:lstStyle/>
          <a:p>
            <a:pPr algn="ctr">
              <a:lnSpc>
                <a:spcPts val="2400"/>
              </a:lnSpc>
              <a:spcBef>
                <a:spcPct val="0"/>
              </a:spcBef>
            </a:pPr>
            <a:r>
              <a:rPr lang="en-US" b="true" sz="2400">
                <a:solidFill>
                  <a:srgbClr val="0B3454"/>
                </a:solidFill>
                <a:latin typeface="Poppins Semi-Bold"/>
                <a:ea typeface="Poppins Semi-Bold"/>
                <a:cs typeface="Poppins Semi-Bold"/>
                <a:sym typeface="Poppins Semi-Bold"/>
              </a:rPr>
              <a:t>INSTITUT TEKNOLOGI DEL</a:t>
            </a:r>
          </a:p>
        </p:txBody>
      </p:sp>
      <p:grpSp>
        <p:nvGrpSpPr>
          <p:cNvPr name="Group 5" id="5"/>
          <p:cNvGrpSpPr/>
          <p:nvPr/>
        </p:nvGrpSpPr>
        <p:grpSpPr>
          <a:xfrm rot="5400000">
            <a:off x="4215892" y="-286945"/>
            <a:ext cx="47625" cy="3836200"/>
            <a:chOff x="0" y="0"/>
            <a:chExt cx="12543" cy="1010357"/>
          </a:xfrm>
        </p:grpSpPr>
        <p:sp>
          <p:nvSpPr>
            <p:cNvPr name="Freeform 6" id="6"/>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7" id="7"/>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5400000">
            <a:off x="4215892" y="-103929"/>
            <a:ext cx="47625" cy="3836200"/>
            <a:chOff x="0" y="0"/>
            <a:chExt cx="12543" cy="1010357"/>
          </a:xfrm>
        </p:grpSpPr>
        <p:sp>
          <p:nvSpPr>
            <p:cNvPr name="Freeform 9" id="9"/>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10" id="10"/>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5400000">
            <a:off x="15317387" y="7364012"/>
            <a:ext cx="47625" cy="3836200"/>
            <a:chOff x="0" y="0"/>
            <a:chExt cx="12543" cy="1010357"/>
          </a:xfrm>
        </p:grpSpPr>
        <p:sp>
          <p:nvSpPr>
            <p:cNvPr name="Freeform 12" id="12"/>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13" id="13"/>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5400000">
            <a:off x="16174370" y="7687862"/>
            <a:ext cx="47625" cy="3836200"/>
            <a:chOff x="0" y="0"/>
            <a:chExt cx="12543" cy="1010357"/>
          </a:xfrm>
        </p:grpSpPr>
        <p:sp>
          <p:nvSpPr>
            <p:cNvPr name="Freeform 15" id="15"/>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16" id="16"/>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sp>
        <p:nvSpPr>
          <p:cNvPr name="TextBox 17" id="17"/>
          <p:cNvSpPr txBox="true"/>
          <p:nvPr/>
        </p:nvSpPr>
        <p:spPr>
          <a:xfrm rot="0">
            <a:off x="10208346" y="3649242"/>
            <a:ext cx="6279333" cy="3445582"/>
          </a:xfrm>
          <a:prstGeom prst="rect">
            <a:avLst/>
          </a:prstGeom>
        </p:spPr>
        <p:txBody>
          <a:bodyPr anchor="t" rtlCol="false" tIns="0" lIns="0" bIns="0" rIns="0">
            <a:spAutoFit/>
          </a:bodyPr>
          <a:lstStyle/>
          <a:p>
            <a:pPr algn="just">
              <a:lnSpc>
                <a:spcPts val="3455"/>
              </a:lnSpc>
              <a:spcBef>
                <a:spcPct val="0"/>
              </a:spcBef>
            </a:pPr>
            <a:r>
              <a:rPr lang="en-US" b="true" sz="2468">
                <a:solidFill>
                  <a:srgbClr val="0B3454"/>
                </a:solidFill>
                <a:latin typeface="Montserrat Bold"/>
                <a:ea typeface="Montserrat Bold"/>
                <a:cs typeface="Montserrat Bold"/>
                <a:sym typeface="Montserrat Bold"/>
              </a:rPr>
              <a:t>MODEL EV</a:t>
            </a:r>
            <a:r>
              <a:rPr lang="en-US" b="true" sz="2468">
                <a:solidFill>
                  <a:srgbClr val="0B3454"/>
                </a:solidFill>
                <a:latin typeface="Montserrat Bold"/>
                <a:ea typeface="Montserrat Bold"/>
                <a:cs typeface="Montserrat Bold"/>
                <a:sym typeface="Montserrat Bold"/>
              </a:rPr>
              <a:t>ALUATION</a:t>
            </a:r>
          </a:p>
          <a:p>
            <a:pPr algn="just" marL="532886" indent="-266443" lvl="1">
              <a:lnSpc>
                <a:spcPts val="3455"/>
              </a:lnSpc>
              <a:buFont typeface="Arial"/>
              <a:buChar char="•"/>
            </a:pPr>
            <a:r>
              <a:rPr lang="en-US" sz="2468">
                <a:solidFill>
                  <a:srgbClr val="0B3454"/>
                </a:solidFill>
                <a:latin typeface="Montserrat"/>
                <a:ea typeface="Montserrat"/>
                <a:cs typeface="Montserrat"/>
                <a:sym typeface="Montserrat"/>
              </a:rPr>
              <a:t>EVALUATE</a:t>
            </a:r>
            <a:r>
              <a:rPr lang="en-US" sz="2468">
                <a:solidFill>
                  <a:srgbClr val="0B3454"/>
                </a:solidFill>
                <a:latin typeface="Montserrat"/>
                <a:ea typeface="Montserrat"/>
                <a:cs typeface="Montserrat"/>
                <a:sym typeface="Montserrat"/>
              </a:rPr>
              <a:t> model using:</a:t>
            </a:r>
          </a:p>
          <a:p>
            <a:pPr algn="just" marL="1065772" indent="-355257" lvl="2">
              <a:lnSpc>
                <a:spcPts val="3455"/>
              </a:lnSpc>
              <a:buFont typeface="Arial"/>
              <a:buChar char="⚬"/>
            </a:pPr>
            <a:r>
              <a:rPr lang="en-US" sz="2468">
                <a:solidFill>
                  <a:srgbClr val="0B3454"/>
                </a:solidFill>
                <a:latin typeface="Montserrat"/>
                <a:ea typeface="Montserrat"/>
                <a:cs typeface="Montserrat"/>
                <a:sym typeface="Montserrat"/>
              </a:rPr>
              <a:t>Accuracy</a:t>
            </a:r>
          </a:p>
          <a:p>
            <a:pPr algn="just" marL="1065772" indent="-355257" lvl="2">
              <a:lnSpc>
                <a:spcPts val="3455"/>
              </a:lnSpc>
              <a:buFont typeface="Arial"/>
              <a:buChar char="⚬"/>
            </a:pPr>
            <a:r>
              <a:rPr lang="en-US" sz="2468">
                <a:solidFill>
                  <a:srgbClr val="0B3454"/>
                </a:solidFill>
                <a:latin typeface="Montserrat"/>
                <a:ea typeface="Montserrat"/>
                <a:cs typeface="Montserrat"/>
                <a:sym typeface="Montserrat"/>
              </a:rPr>
              <a:t>Precisio</a:t>
            </a:r>
            <a:r>
              <a:rPr lang="en-US" sz="2468">
                <a:solidFill>
                  <a:srgbClr val="0B3454"/>
                </a:solidFill>
                <a:latin typeface="Montserrat"/>
                <a:ea typeface="Montserrat"/>
                <a:cs typeface="Montserrat"/>
                <a:sym typeface="Montserrat"/>
              </a:rPr>
              <a:t>n</a:t>
            </a:r>
          </a:p>
          <a:p>
            <a:pPr algn="just" marL="1065772" indent="-355257" lvl="2">
              <a:lnSpc>
                <a:spcPts val="3455"/>
              </a:lnSpc>
              <a:buFont typeface="Arial"/>
              <a:buChar char="⚬"/>
            </a:pPr>
            <a:r>
              <a:rPr lang="en-US" sz="2468">
                <a:solidFill>
                  <a:srgbClr val="0B3454"/>
                </a:solidFill>
                <a:latin typeface="Montserrat"/>
                <a:ea typeface="Montserrat"/>
                <a:cs typeface="Montserrat"/>
                <a:sym typeface="Montserrat"/>
              </a:rPr>
              <a:t>R</a:t>
            </a:r>
            <a:r>
              <a:rPr lang="en-US" sz="2468">
                <a:solidFill>
                  <a:srgbClr val="0B3454"/>
                </a:solidFill>
                <a:latin typeface="Montserrat"/>
                <a:ea typeface="Montserrat"/>
                <a:cs typeface="Montserrat"/>
                <a:sym typeface="Montserrat"/>
              </a:rPr>
              <a:t>ecall</a:t>
            </a:r>
          </a:p>
          <a:p>
            <a:pPr algn="just" marL="1065772" indent="-355257" lvl="2">
              <a:lnSpc>
                <a:spcPts val="3455"/>
              </a:lnSpc>
              <a:buFont typeface="Arial"/>
              <a:buChar char="⚬"/>
            </a:pPr>
            <a:r>
              <a:rPr lang="en-US" sz="2468">
                <a:solidFill>
                  <a:srgbClr val="0B3454"/>
                </a:solidFill>
                <a:latin typeface="Montserrat"/>
                <a:ea typeface="Montserrat"/>
                <a:cs typeface="Montserrat"/>
                <a:sym typeface="Montserrat"/>
              </a:rPr>
              <a:t>F1-score</a:t>
            </a:r>
          </a:p>
          <a:p>
            <a:pPr algn="just" marL="1065772" indent="-355257" lvl="2">
              <a:lnSpc>
                <a:spcPts val="3455"/>
              </a:lnSpc>
              <a:buFont typeface="Arial"/>
              <a:buChar char="⚬"/>
            </a:pPr>
            <a:r>
              <a:rPr lang="en-US" sz="2468">
                <a:solidFill>
                  <a:srgbClr val="0B3454"/>
                </a:solidFill>
                <a:latin typeface="Montserrat"/>
                <a:ea typeface="Montserrat"/>
                <a:cs typeface="Montserrat"/>
                <a:sym typeface="Montserrat"/>
              </a:rPr>
              <a:t>AUC</a:t>
            </a:r>
          </a:p>
          <a:p>
            <a:pPr algn="just" marL="532886" indent="-266443" lvl="1">
              <a:lnSpc>
                <a:spcPts val="3455"/>
              </a:lnSpc>
              <a:buFont typeface="Arial"/>
              <a:buChar char="•"/>
            </a:pPr>
            <a:r>
              <a:rPr lang="en-US" sz="2468">
                <a:solidFill>
                  <a:srgbClr val="0B3454"/>
                </a:solidFill>
                <a:latin typeface="Montserrat"/>
                <a:ea typeface="Montserrat"/>
                <a:cs typeface="Montserrat"/>
                <a:sym typeface="Montserrat"/>
              </a:rPr>
              <a:t>Me</a:t>
            </a:r>
            <a:r>
              <a:rPr lang="en-US" sz="2468">
                <a:solidFill>
                  <a:srgbClr val="0B3454"/>
                </a:solidFill>
                <a:latin typeface="Montserrat"/>
                <a:ea typeface="Montserrat"/>
                <a:cs typeface="Montserrat"/>
                <a:sym typeface="Montserrat"/>
              </a:rPr>
              <a:t>asu</a:t>
            </a:r>
            <a:r>
              <a:rPr lang="en-US" sz="2468">
                <a:solidFill>
                  <a:srgbClr val="0B3454"/>
                </a:solidFill>
                <a:latin typeface="Montserrat"/>
                <a:ea typeface="Montserrat"/>
                <a:cs typeface="Montserrat"/>
                <a:sym typeface="Montserrat"/>
              </a:rPr>
              <a:t>r</a:t>
            </a:r>
            <a:r>
              <a:rPr lang="en-US" sz="2468">
                <a:solidFill>
                  <a:srgbClr val="0B3454"/>
                </a:solidFill>
                <a:latin typeface="Montserrat"/>
                <a:ea typeface="Montserrat"/>
                <a:cs typeface="Montserrat"/>
                <a:sym typeface="Montserrat"/>
              </a:rPr>
              <a:t>e model</a:t>
            </a:r>
            <a:r>
              <a:rPr lang="en-US" sz="2468">
                <a:solidFill>
                  <a:srgbClr val="0B3454"/>
                </a:solidFill>
                <a:latin typeface="Montserrat"/>
                <a:ea typeface="Montserrat"/>
                <a:cs typeface="Montserrat"/>
                <a:sym typeface="Montserrat"/>
              </a:rPr>
              <a:t> performanc</a:t>
            </a:r>
            <a:r>
              <a:rPr lang="en-US" sz="2468">
                <a:solidFill>
                  <a:srgbClr val="0B3454"/>
                </a:solidFill>
                <a:latin typeface="Montserrat"/>
                <a:ea typeface="Montserrat"/>
                <a:cs typeface="Montserrat"/>
                <a:sym typeface="Montserrat"/>
              </a:rPr>
              <a:t>e</a:t>
            </a:r>
          </a:p>
        </p:txBody>
      </p:sp>
      <p:sp>
        <p:nvSpPr>
          <p:cNvPr name="TextBox 18" id="18"/>
          <p:cNvSpPr txBox="true"/>
          <p:nvPr/>
        </p:nvSpPr>
        <p:spPr>
          <a:xfrm rot="0">
            <a:off x="5550338" y="7902475"/>
            <a:ext cx="7548596" cy="1727300"/>
          </a:xfrm>
          <a:prstGeom prst="rect">
            <a:avLst/>
          </a:prstGeom>
        </p:spPr>
        <p:txBody>
          <a:bodyPr anchor="t" rtlCol="false" tIns="0" lIns="0" bIns="0" rIns="0">
            <a:spAutoFit/>
          </a:bodyPr>
          <a:lstStyle/>
          <a:p>
            <a:pPr algn="l">
              <a:lnSpc>
                <a:spcPts val="3499"/>
              </a:lnSpc>
              <a:spcBef>
                <a:spcPct val="0"/>
              </a:spcBef>
            </a:pPr>
            <a:r>
              <a:rPr lang="en-US" b="true" sz="2499">
                <a:solidFill>
                  <a:srgbClr val="0B3454"/>
                </a:solidFill>
                <a:latin typeface="Montserrat Bold"/>
                <a:ea typeface="Montserrat Bold"/>
                <a:cs typeface="Montserrat Bold"/>
                <a:sym typeface="Montserrat Bold"/>
              </a:rPr>
              <a:t>MODEL</a:t>
            </a:r>
            <a:r>
              <a:rPr lang="en-US" b="true" sz="2499">
                <a:solidFill>
                  <a:srgbClr val="0B3454"/>
                </a:solidFill>
                <a:latin typeface="Montserrat Bold"/>
                <a:ea typeface="Montserrat Bold"/>
                <a:cs typeface="Montserrat Bold"/>
                <a:sym typeface="Montserrat Bold"/>
              </a:rPr>
              <a:t> SAVING</a:t>
            </a:r>
          </a:p>
          <a:p>
            <a:pPr algn="l" marL="539746" indent="-269873" lvl="1">
              <a:lnSpc>
                <a:spcPts val="3499"/>
              </a:lnSpc>
              <a:buFont typeface="Arial"/>
              <a:buChar char="•"/>
            </a:pPr>
            <a:r>
              <a:rPr lang="en-US" sz="2499">
                <a:solidFill>
                  <a:srgbClr val="0B3454"/>
                </a:solidFill>
                <a:latin typeface="Montserrat"/>
                <a:ea typeface="Montserrat"/>
                <a:cs typeface="Montserrat"/>
                <a:sym typeface="Montserrat"/>
              </a:rPr>
              <a:t>SAVE BEST PARAMETERS </a:t>
            </a:r>
            <a:r>
              <a:rPr lang="en-US" sz="2499">
                <a:solidFill>
                  <a:srgbClr val="0B3454"/>
                </a:solidFill>
                <a:latin typeface="Montserrat"/>
                <a:ea typeface="Montserrat"/>
                <a:cs typeface="Montserrat"/>
                <a:sym typeface="Montserrat"/>
              </a:rPr>
              <a:t>in JSON file</a:t>
            </a:r>
          </a:p>
          <a:p>
            <a:pPr algn="l" marL="539746" indent="-269873" lvl="1">
              <a:lnSpc>
                <a:spcPts val="3499"/>
              </a:lnSpc>
              <a:buFont typeface="Arial"/>
              <a:buChar char="•"/>
            </a:pPr>
            <a:r>
              <a:rPr lang="en-US" sz="2499">
                <a:solidFill>
                  <a:srgbClr val="0B3454"/>
                </a:solidFill>
                <a:latin typeface="Montserrat"/>
                <a:ea typeface="Montserrat"/>
                <a:cs typeface="Montserrat"/>
                <a:sym typeface="Montserrat"/>
              </a:rPr>
              <a:t>Save model in pickle file</a:t>
            </a:r>
          </a:p>
          <a:p>
            <a:pPr algn="l" marL="539746" indent="-269873" lvl="1">
              <a:lnSpc>
                <a:spcPts val="3499"/>
              </a:lnSpc>
              <a:buFont typeface="Arial"/>
              <a:buChar char="•"/>
            </a:pPr>
            <a:r>
              <a:rPr lang="en-US" sz="2499">
                <a:solidFill>
                  <a:srgbClr val="0B3454"/>
                </a:solidFill>
                <a:latin typeface="Montserrat"/>
                <a:ea typeface="Montserrat"/>
                <a:cs typeface="Montserrat"/>
                <a:sym typeface="Montserrat"/>
              </a:rPr>
              <a:t>Save metadata (features, median, etc.)</a:t>
            </a:r>
          </a:p>
        </p:txBody>
      </p:sp>
      <p:sp>
        <p:nvSpPr>
          <p:cNvPr name="TextBox 19" id="19"/>
          <p:cNvSpPr txBox="true"/>
          <p:nvPr/>
        </p:nvSpPr>
        <p:spPr>
          <a:xfrm rot="0">
            <a:off x="1028700" y="3772700"/>
            <a:ext cx="8421219" cy="3198666"/>
          </a:xfrm>
          <a:prstGeom prst="rect">
            <a:avLst/>
          </a:prstGeom>
        </p:spPr>
        <p:txBody>
          <a:bodyPr anchor="t" rtlCol="false" tIns="0" lIns="0" bIns="0" rIns="0">
            <a:spAutoFit/>
          </a:bodyPr>
          <a:lstStyle/>
          <a:p>
            <a:pPr algn="just">
              <a:lnSpc>
                <a:spcPts val="3671"/>
              </a:lnSpc>
              <a:spcBef>
                <a:spcPct val="0"/>
              </a:spcBef>
            </a:pPr>
            <a:r>
              <a:rPr lang="en-US" b="true" sz="2622">
                <a:solidFill>
                  <a:srgbClr val="000000"/>
                </a:solidFill>
                <a:latin typeface="Montserrat Bold"/>
                <a:ea typeface="Montserrat Bold"/>
                <a:cs typeface="Montserrat Bold"/>
                <a:sym typeface="Montserrat Bold"/>
              </a:rPr>
              <a:t>CONFUSION MATRIX</a:t>
            </a:r>
          </a:p>
          <a:p>
            <a:pPr algn="l" marL="566251" indent="-283125" lvl="1">
              <a:lnSpc>
                <a:spcPts val="3671"/>
              </a:lnSpc>
              <a:buFont typeface="Arial"/>
              <a:buChar char="•"/>
            </a:pPr>
            <a:r>
              <a:rPr lang="en-US" sz="2622">
                <a:solidFill>
                  <a:srgbClr val="0B3454"/>
                </a:solidFill>
                <a:latin typeface="Montserrat"/>
                <a:ea typeface="Montserrat"/>
                <a:cs typeface="Montserrat"/>
                <a:sym typeface="Montserrat"/>
              </a:rPr>
              <a:t>REPRESENT FOUR CLASIFICATION</a:t>
            </a:r>
            <a:r>
              <a:rPr lang="en-US" sz="2622">
                <a:solidFill>
                  <a:srgbClr val="0B3454"/>
                </a:solidFill>
                <a:latin typeface="Montserrat"/>
                <a:ea typeface="Montserrat"/>
                <a:cs typeface="Montserrat"/>
                <a:sym typeface="Montserrat"/>
              </a:rPr>
              <a:t> outcomes:</a:t>
            </a:r>
          </a:p>
          <a:p>
            <a:pPr algn="just" marL="1132501" indent="-377500" lvl="2">
              <a:lnSpc>
                <a:spcPts val="3671"/>
              </a:lnSpc>
              <a:buFont typeface="Arial"/>
              <a:buChar char="⚬"/>
            </a:pPr>
            <a:r>
              <a:rPr lang="en-US" sz="2622">
                <a:solidFill>
                  <a:srgbClr val="000000"/>
                </a:solidFill>
                <a:latin typeface="Montserrat"/>
                <a:ea typeface="Montserrat"/>
                <a:cs typeface="Montserrat"/>
                <a:sym typeface="Montserrat"/>
              </a:rPr>
              <a:t>True Positive </a:t>
            </a:r>
          </a:p>
          <a:p>
            <a:pPr algn="just" marL="1132501" indent="-377500" lvl="2">
              <a:lnSpc>
                <a:spcPts val="3671"/>
              </a:lnSpc>
              <a:buFont typeface="Arial"/>
              <a:buChar char="⚬"/>
            </a:pPr>
            <a:r>
              <a:rPr lang="en-US" sz="2622">
                <a:solidFill>
                  <a:srgbClr val="000000"/>
                </a:solidFill>
                <a:latin typeface="Montserrat"/>
                <a:ea typeface="Montserrat"/>
                <a:cs typeface="Montserrat"/>
                <a:sym typeface="Montserrat"/>
              </a:rPr>
              <a:t>True Negative</a:t>
            </a:r>
          </a:p>
          <a:p>
            <a:pPr algn="just" marL="1132501" indent="-377500" lvl="2">
              <a:lnSpc>
                <a:spcPts val="3671"/>
              </a:lnSpc>
              <a:buFont typeface="Arial"/>
              <a:buChar char="⚬"/>
            </a:pPr>
            <a:r>
              <a:rPr lang="en-US" sz="2622">
                <a:solidFill>
                  <a:srgbClr val="000000"/>
                </a:solidFill>
                <a:latin typeface="Montserrat"/>
                <a:ea typeface="Montserrat"/>
                <a:cs typeface="Montserrat"/>
                <a:sym typeface="Montserrat"/>
              </a:rPr>
              <a:t>False Positive</a:t>
            </a:r>
          </a:p>
          <a:p>
            <a:pPr algn="just" marL="1132501" indent="-377500" lvl="2">
              <a:lnSpc>
                <a:spcPts val="3671"/>
              </a:lnSpc>
              <a:buFont typeface="Arial"/>
              <a:buChar char="⚬"/>
            </a:pPr>
            <a:r>
              <a:rPr lang="en-US" sz="2622">
                <a:solidFill>
                  <a:srgbClr val="000000"/>
                </a:solidFill>
                <a:latin typeface="Montserrat"/>
                <a:ea typeface="Montserrat"/>
                <a:cs typeface="Montserrat"/>
                <a:sym typeface="Montserrat"/>
              </a:rPr>
              <a:t>False Negative</a:t>
            </a:r>
          </a:p>
          <a:p>
            <a:pPr algn="just" marL="566251" indent="-283125" lvl="1">
              <a:lnSpc>
                <a:spcPts val="3671"/>
              </a:lnSpc>
              <a:buFont typeface="Arial"/>
              <a:buChar char="•"/>
            </a:pPr>
            <a:r>
              <a:rPr lang="en-US" sz="2622">
                <a:solidFill>
                  <a:srgbClr val="0B3454"/>
                </a:solidFill>
                <a:latin typeface="Montserrat"/>
                <a:ea typeface="Montserrat"/>
                <a:cs typeface="Montserrat"/>
                <a:sym typeface="Montserrat"/>
              </a:rPr>
              <a:t>Basis for Calculating evaluation metric. </a:t>
            </a:r>
          </a:p>
        </p:txBody>
      </p:sp>
      <p:sp>
        <p:nvSpPr>
          <p:cNvPr name="TextBox 20" id="20"/>
          <p:cNvSpPr txBox="true"/>
          <p:nvPr/>
        </p:nvSpPr>
        <p:spPr>
          <a:xfrm rot="0">
            <a:off x="2474005" y="2363000"/>
            <a:ext cx="10874008" cy="1028700"/>
          </a:xfrm>
          <a:prstGeom prst="rect">
            <a:avLst/>
          </a:prstGeom>
        </p:spPr>
        <p:txBody>
          <a:bodyPr anchor="t" rtlCol="false" tIns="0" lIns="0" bIns="0" rIns="0">
            <a:spAutoFit/>
          </a:bodyPr>
          <a:lstStyle/>
          <a:p>
            <a:pPr algn="l">
              <a:lnSpc>
                <a:spcPts val="8400"/>
              </a:lnSpc>
            </a:pPr>
            <a:r>
              <a:rPr lang="en-US" sz="6000" b="true">
                <a:solidFill>
                  <a:srgbClr val="002254"/>
                </a:solidFill>
                <a:latin typeface="Montserrat Ultra-Bold"/>
                <a:ea typeface="Montserrat Ultra-Bold"/>
                <a:cs typeface="Montserrat Ultra-Bold"/>
                <a:sym typeface="Montserrat Ultra-Bold"/>
              </a:rPr>
              <a:t>Model Development</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9259" t="0" r="-9259" b="0"/>
            </a:stretch>
          </a:blipFill>
        </p:spPr>
      </p:sp>
      <p:sp>
        <p:nvSpPr>
          <p:cNvPr name="Freeform 3" id="3"/>
          <p:cNvSpPr/>
          <p:nvPr/>
        </p:nvSpPr>
        <p:spPr>
          <a:xfrm flipH="false" flipV="false" rot="0">
            <a:off x="692764" y="400218"/>
            <a:ext cx="963762" cy="963762"/>
          </a:xfrm>
          <a:custGeom>
            <a:avLst/>
            <a:gdLst/>
            <a:ahLst/>
            <a:cxnLst/>
            <a:rect r="r" b="b" t="t" l="l"/>
            <a:pathLst>
              <a:path h="963762" w="963762">
                <a:moveTo>
                  <a:pt x="0" y="0"/>
                </a:moveTo>
                <a:lnTo>
                  <a:pt x="963761" y="0"/>
                </a:lnTo>
                <a:lnTo>
                  <a:pt x="963761" y="963762"/>
                </a:lnTo>
                <a:lnTo>
                  <a:pt x="0" y="963762"/>
                </a:lnTo>
                <a:lnTo>
                  <a:pt x="0" y="0"/>
                </a:lnTo>
                <a:close/>
              </a:path>
            </a:pathLst>
          </a:custGeom>
          <a:blipFill>
            <a:blip r:embed="rId3"/>
            <a:stretch>
              <a:fillRect l="0" t="0" r="0" b="0"/>
            </a:stretch>
          </a:blipFill>
        </p:spPr>
      </p:sp>
      <p:sp>
        <p:nvSpPr>
          <p:cNvPr name="TextBox 4" id="4"/>
          <p:cNvSpPr txBox="true"/>
          <p:nvPr/>
        </p:nvSpPr>
        <p:spPr>
          <a:xfrm rot="0">
            <a:off x="1864064" y="681990"/>
            <a:ext cx="3686274" cy="346710"/>
          </a:xfrm>
          <a:prstGeom prst="rect">
            <a:avLst/>
          </a:prstGeom>
        </p:spPr>
        <p:txBody>
          <a:bodyPr anchor="t" rtlCol="false" tIns="0" lIns="0" bIns="0" rIns="0">
            <a:spAutoFit/>
          </a:bodyPr>
          <a:lstStyle/>
          <a:p>
            <a:pPr algn="ctr">
              <a:lnSpc>
                <a:spcPts val="2400"/>
              </a:lnSpc>
              <a:spcBef>
                <a:spcPct val="0"/>
              </a:spcBef>
            </a:pPr>
            <a:r>
              <a:rPr lang="en-US" b="true" sz="2400">
                <a:solidFill>
                  <a:srgbClr val="0B3454"/>
                </a:solidFill>
                <a:latin typeface="Poppins Semi-Bold"/>
                <a:ea typeface="Poppins Semi-Bold"/>
                <a:cs typeface="Poppins Semi-Bold"/>
                <a:sym typeface="Poppins Semi-Bold"/>
              </a:rPr>
              <a:t>INSTITUT TEKNOLOGI DEL</a:t>
            </a:r>
          </a:p>
        </p:txBody>
      </p:sp>
      <p:grpSp>
        <p:nvGrpSpPr>
          <p:cNvPr name="Group 5" id="5"/>
          <p:cNvGrpSpPr/>
          <p:nvPr/>
        </p:nvGrpSpPr>
        <p:grpSpPr>
          <a:xfrm rot="5400000">
            <a:off x="4215892" y="-286945"/>
            <a:ext cx="47625" cy="3836200"/>
            <a:chOff x="0" y="0"/>
            <a:chExt cx="12543" cy="1010357"/>
          </a:xfrm>
        </p:grpSpPr>
        <p:sp>
          <p:nvSpPr>
            <p:cNvPr name="Freeform 6" id="6"/>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7" id="7"/>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5400000">
            <a:off x="4215892" y="-103929"/>
            <a:ext cx="47625" cy="3836200"/>
            <a:chOff x="0" y="0"/>
            <a:chExt cx="12543" cy="1010357"/>
          </a:xfrm>
        </p:grpSpPr>
        <p:sp>
          <p:nvSpPr>
            <p:cNvPr name="Freeform 9" id="9"/>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10" id="10"/>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5400000">
            <a:off x="13383524" y="7364012"/>
            <a:ext cx="47625" cy="3836200"/>
            <a:chOff x="0" y="0"/>
            <a:chExt cx="12543" cy="1010357"/>
          </a:xfrm>
        </p:grpSpPr>
        <p:sp>
          <p:nvSpPr>
            <p:cNvPr name="Freeform 12" id="12"/>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13" id="13"/>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5400000">
            <a:off x="13383524" y="7547029"/>
            <a:ext cx="47625" cy="3836200"/>
            <a:chOff x="0" y="0"/>
            <a:chExt cx="12543" cy="1010357"/>
          </a:xfrm>
        </p:grpSpPr>
        <p:sp>
          <p:nvSpPr>
            <p:cNvPr name="Freeform 15" id="15"/>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16" id="16"/>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sp>
        <p:nvSpPr>
          <p:cNvPr name="TextBox 17" id="17"/>
          <p:cNvSpPr txBox="true"/>
          <p:nvPr/>
        </p:nvSpPr>
        <p:spPr>
          <a:xfrm rot="0">
            <a:off x="2321605" y="2210600"/>
            <a:ext cx="10874008" cy="1028750"/>
          </a:xfrm>
          <a:prstGeom prst="rect">
            <a:avLst/>
          </a:prstGeom>
        </p:spPr>
        <p:txBody>
          <a:bodyPr anchor="t" rtlCol="false" tIns="0" lIns="0" bIns="0" rIns="0">
            <a:spAutoFit/>
          </a:bodyPr>
          <a:lstStyle/>
          <a:p>
            <a:pPr algn="l">
              <a:lnSpc>
                <a:spcPts val="8400"/>
              </a:lnSpc>
            </a:pPr>
            <a:r>
              <a:rPr lang="en-US" sz="6000" b="true">
                <a:solidFill>
                  <a:srgbClr val="002254"/>
                </a:solidFill>
                <a:latin typeface="Montserrat Ultra-Bold"/>
                <a:ea typeface="Montserrat Ultra-Bold"/>
                <a:cs typeface="Montserrat Ultra-Bold"/>
                <a:sym typeface="Montserrat Ultra-Bold"/>
              </a:rPr>
              <a:t>Deployment</a:t>
            </a:r>
          </a:p>
        </p:txBody>
      </p:sp>
      <p:sp>
        <p:nvSpPr>
          <p:cNvPr name="TextBox 18" id="18"/>
          <p:cNvSpPr txBox="true"/>
          <p:nvPr/>
        </p:nvSpPr>
        <p:spPr>
          <a:xfrm rot="0">
            <a:off x="1321222" y="3334599"/>
            <a:ext cx="15767441" cy="850950"/>
          </a:xfrm>
          <a:prstGeom prst="rect">
            <a:avLst/>
          </a:prstGeom>
        </p:spPr>
        <p:txBody>
          <a:bodyPr anchor="t" rtlCol="false" tIns="0" lIns="0" bIns="0" rIns="0">
            <a:spAutoFit/>
          </a:bodyPr>
          <a:lstStyle/>
          <a:p>
            <a:pPr algn="just">
              <a:lnSpc>
                <a:spcPts val="3499"/>
              </a:lnSpc>
              <a:spcBef>
                <a:spcPct val="0"/>
              </a:spcBef>
            </a:pPr>
            <a:r>
              <a:rPr lang="en-US" sz="2499">
                <a:solidFill>
                  <a:srgbClr val="000000"/>
                </a:solidFill>
                <a:latin typeface="Montserrat"/>
                <a:ea typeface="Montserrat"/>
                <a:cs typeface="Montserrat"/>
                <a:sym typeface="Montserrat"/>
              </a:rPr>
              <a:t>Deployment is the process of using the train</a:t>
            </a:r>
            <a:r>
              <a:rPr lang="en-US" sz="2499">
                <a:solidFill>
                  <a:srgbClr val="000000"/>
                </a:solidFill>
                <a:latin typeface="Montserrat"/>
                <a:ea typeface="Montserrat"/>
                <a:cs typeface="Montserrat"/>
                <a:sym typeface="Montserrat"/>
              </a:rPr>
              <a:t>ed model in a real application. Users can ch</a:t>
            </a:r>
            <a:r>
              <a:rPr lang="en-US" sz="2499">
                <a:solidFill>
                  <a:srgbClr val="000000"/>
                </a:solidFill>
                <a:latin typeface="Montserrat"/>
                <a:ea typeface="Montserrat"/>
                <a:cs typeface="Montserrat"/>
                <a:sym typeface="Montserrat"/>
              </a:rPr>
              <a:t>eck if a website is phishing or not.</a:t>
            </a:r>
          </a:p>
        </p:txBody>
      </p:sp>
      <p:sp>
        <p:nvSpPr>
          <p:cNvPr name="TextBox 19" id="19"/>
          <p:cNvSpPr txBox="true"/>
          <p:nvPr/>
        </p:nvSpPr>
        <p:spPr>
          <a:xfrm rot="0">
            <a:off x="1491859" y="4487589"/>
            <a:ext cx="7652141" cy="4356348"/>
          </a:xfrm>
          <a:prstGeom prst="rect">
            <a:avLst/>
          </a:prstGeom>
        </p:spPr>
        <p:txBody>
          <a:bodyPr anchor="t" rtlCol="false" tIns="0" lIns="0" bIns="0" rIns="0">
            <a:spAutoFit/>
          </a:bodyPr>
          <a:lstStyle/>
          <a:p>
            <a:pPr algn="l">
              <a:lnSpc>
                <a:spcPts val="3499"/>
              </a:lnSpc>
              <a:spcBef>
                <a:spcPct val="0"/>
              </a:spcBef>
            </a:pPr>
            <a:r>
              <a:rPr lang="en-US" b="true" sz="2499">
                <a:solidFill>
                  <a:srgbClr val="0B3454"/>
                </a:solidFill>
                <a:latin typeface="Montserrat Bold"/>
                <a:ea typeface="Montserrat Bold"/>
                <a:cs typeface="Montserrat Bold"/>
                <a:sym typeface="Montserrat Bold"/>
              </a:rPr>
              <a:t>PREDICTION PROCESS</a:t>
            </a:r>
          </a:p>
          <a:p>
            <a:pPr algn="l" marL="539746" indent="-269873" lvl="1">
              <a:lnSpc>
                <a:spcPts val="3499"/>
              </a:lnSpc>
              <a:buFont typeface="Arial"/>
              <a:buChar char="•"/>
            </a:pPr>
            <a:r>
              <a:rPr lang="en-US" sz="2499">
                <a:solidFill>
                  <a:srgbClr val="0B3454"/>
                </a:solidFill>
                <a:latin typeface="Montserrat"/>
                <a:ea typeface="Montserrat"/>
                <a:cs typeface="Montserrat"/>
                <a:sym typeface="Montserrat"/>
              </a:rPr>
              <a:t>EXTRACT</a:t>
            </a:r>
            <a:r>
              <a:rPr lang="en-US" sz="2499">
                <a:solidFill>
                  <a:srgbClr val="0B3454"/>
                </a:solidFill>
                <a:latin typeface="Montserrat"/>
                <a:ea typeface="Montserrat"/>
                <a:cs typeface="Montserrat"/>
                <a:sym typeface="Montserrat"/>
              </a:rPr>
              <a:t> features from the URL</a:t>
            </a:r>
          </a:p>
          <a:p>
            <a:pPr algn="l" marL="539746" indent="-269873" lvl="1">
              <a:lnSpc>
                <a:spcPts val="3499"/>
              </a:lnSpc>
              <a:buFont typeface="Arial"/>
              <a:buChar char="•"/>
            </a:pPr>
            <a:r>
              <a:rPr lang="en-US" sz="2499">
                <a:solidFill>
                  <a:srgbClr val="0B3454"/>
                </a:solidFill>
                <a:latin typeface="Montserrat"/>
                <a:ea typeface="Montserrat"/>
                <a:cs typeface="Montserrat"/>
                <a:sym typeface="Montserrat"/>
              </a:rPr>
              <a:t>Apply rule-based filteri</a:t>
            </a:r>
            <a:r>
              <a:rPr lang="en-US" sz="2499">
                <a:solidFill>
                  <a:srgbClr val="0B3454"/>
                </a:solidFill>
                <a:latin typeface="Montserrat"/>
                <a:ea typeface="Montserrat"/>
                <a:cs typeface="Montserrat"/>
                <a:sym typeface="Montserrat"/>
              </a:rPr>
              <a:t>n</a:t>
            </a:r>
            <a:r>
              <a:rPr lang="en-US" sz="2499">
                <a:solidFill>
                  <a:srgbClr val="0B3454"/>
                </a:solidFill>
                <a:latin typeface="Montserrat"/>
                <a:ea typeface="Montserrat"/>
                <a:cs typeface="Montserrat"/>
                <a:sym typeface="Montserrat"/>
              </a:rPr>
              <a:t>g</a:t>
            </a:r>
          </a:p>
          <a:p>
            <a:pPr algn="l" marL="539746" indent="-269873" lvl="1">
              <a:lnSpc>
                <a:spcPts val="3499"/>
              </a:lnSpc>
              <a:buFont typeface="Arial"/>
              <a:buChar char="•"/>
            </a:pPr>
            <a:r>
              <a:rPr lang="en-US" sz="2499">
                <a:solidFill>
                  <a:srgbClr val="0B3454"/>
                </a:solidFill>
                <a:latin typeface="Montserrat"/>
                <a:ea typeface="Montserrat"/>
                <a:cs typeface="Montserrat"/>
                <a:sym typeface="Montserrat"/>
              </a:rPr>
              <a:t>Us</a:t>
            </a:r>
            <a:r>
              <a:rPr lang="en-US" sz="2499">
                <a:solidFill>
                  <a:srgbClr val="0B3454"/>
                </a:solidFill>
                <a:latin typeface="Montserrat"/>
                <a:ea typeface="Montserrat"/>
                <a:cs typeface="Montserrat"/>
                <a:sym typeface="Montserrat"/>
              </a:rPr>
              <a:t>e machine lea</a:t>
            </a:r>
            <a:r>
              <a:rPr lang="en-US" sz="2499">
                <a:solidFill>
                  <a:srgbClr val="0B3454"/>
                </a:solidFill>
                <a:latin typeface="Montserrat"/>
                <a:ea typeface="Montserrat"/>
                <a:cs typeface="Montserrat"/>
                <a:sym typeface="Montserrat"/>
              </a:rPr>
              <a:t>rning mod</a:t>
            </a:r>
            <a:r>
              <a:rPr lang="en-US" sz="2499">
                <a:solidFill>
                  <a:srgbClr val="0B3454"/>
                </a:solidFill>
                <a:latin typeface="Montserrat"/>
                <a:ea typeface="Montserrat"/>
                <a:cs typeface="Montserrat"/>
                <a:sym typeface="Montserrat"/>
              </a:rPr>
              <a:t>el</a:t>
            </a:r>
            <a:r>
              <a:rPr lang="en-US" sz="2499">
                <a:solidFill>
                  <a:srgbClr val="0B3454"/>
                </a:solidFill>
                <a:latin typeface="Montserrat"/>
                <a:ea typeface="Montserrat"/>
                <a:cs typeface="Montserrat"/>
                <a:sym typeface="Montserrat"/>
              </a:rPr>
              <a:t> </a:t>
            </a:r>
            <a:r>
              <a:rPr lang="en-US" sz="2499">
                <a:solidFill>
                  <a:srgbClr val="0B3454"/>
                </a:solidFill>
                <a:latin typeface="Montserrat"/>
                <a:ea typeface="Montserrat"/>
                <a:cs typeface="Montserrat"/>
                <a:sym typeface="Montserrat"/>
              </a:rPr>
              <a:t>if ne</a:t>
            </a:r>
            <a:r>
              <a:rPr lang="en-US" sz="2499">
                <a:solidFill>
                  <a:srgbClr val="0B3454"/>
                </a:solidFill>
                <a:latin typeface="Montserrat"/>
                <a:ea typeface="Montserrat"/>
                <a:cs typeface="Montserrat"/>
                <a:sym typeface="Montserrat"/>
              </a:rPr>
              <a:t>eded</a:t>
            </a:r>
          </a:p>
          <a:p>
            <a:pPr algn="l" marL="539746" indent="-269873" lvl="1">
              <a:lnSpc>
                <a:spcPts val="3499"/>
              </a:lnSpc>
              <a:buFont typeface="Arial"/>
              <a:buChar char="•"/>
            </a:pPr>
            <a:r>
              <a:rPr lang="en-US" sz="2499">
                <a:solidFill>
                  <a:srgbClr val="0B3454"/>
                </a:solidFill>
                <a:latin typeface="Montserrat"/>
                <a:ea typeface="Montserrat"/>
                <a:cs typeface="Montserrat"/>
                <a:sym typeface="Montserrat"/>
              </a:rPr>
              <a:t>Ret</a:t>
            </a:r>
            <a:r>
              <a:rPr lang="en-US" sz="2499">
                <a:solidFill>
                  <a:srgbClr val="0B3454"/>
                </a:solidFill>
                <a:latin typeface="Montserrat"/>
                <a:ea typeface="Montserrat"/>
                <a:cs typeface="Montserrat"/>
                <a:sym typeface="Montserrat"/>
              </a:rPr>
              <a:t>u</a:t>
            </a:r>
            <a:r>
              <a:rPr lang="en-US" sz="2499">
                <a:solidFill>
                  <a:srgbClr val="0B3454"/>
                </a:solidFill>
                <a:latin typeface="Montserrat"/>
                <a:ea typeface="Montserrat"/>
                <a:cs typeface="Montserrat"/>
                <a:sym typeface="Montserrat"/>
              </a:rPr>
              <a:t>rn</a:t>
            </a:r>
            <a:r>
              <a:rPr lang="en-US" sz="2499">
                <a:solidFill>
                  <a:srgbClr val="0B3454"/>
                </a:solidFill>
                <a:latin typeface="Montserrat"/>
                <a:ea typeface="Montserrat"/>
                <a:cs typeface="Montserrat"/>
                <a:sym typeface="Montserrat"/>
              </a:rPr>
              <a:t> pr</a:t>
            </a:r>
            <a:r>
              <a:rPr lang="en-US" sz="2499">
                <a:solidFill>
                  <a:srgbClr val="0B3454"/>
                </a:solidFill>
                <a:latin typeface="Montserrat"/>
                <a:ea typeface="Montserrat"/>
                <a:cs typeface="Montserrat"/>
                <a:sym typeface="Montserrat"/>
              </a:rPr>
              <a:t>edi</a:t>
            </a:r>
            <a:r>
              <a:rPr lang="en-US" sz="2499">
                <a:solidFill>
                  <a:srgbClr val="0B3454"/>
                </a:solidFill>
                <a:latin typeface="Montserrat"/>
                <a:ea typeface="Montserrat"/>
                <a:cs typeface="Montserrat"/>
                <a:sym typeface="Montserrat"/>
              </a:rPr>
              <a:t>cti</a:t>
            </a:r>
            <a:r>
              <a:rPr lang="en-US" sz="2499">
                <a:solidFill>
                  <a:srgbClr val="0B3454"/>
                </a:solidFill>
                <a:latin typeface="Montserrat"/>
                <a:ea typeface="Montserrat"/>
                <a:cs typeface="Montserrat"/>
                <a:sym typeface="Montserrat"/>
              </a:rPr>
              <a:t>on and probabili</a:t>
            </a:r>
            <a:r>
              <a:rPr lang="en-US" sz="2499">
                <a:solidFill>
                  <a:srgbClr val="0B3454"/>
                </a:solidFill>
                <a:latin typeface="Montserrat"/>
                <a:ea typeface="Montserrat"/>
                <a:cs typeface="Montserrat"/>
                <a:sym typeface="Montserrat"/>
              </a:rPr>
              <a:t>ty i</a:t>
            </a:r>
            <a:r>
              <a:rPr lang="en-US" sz="2499">
                <a:solidFill>
                  <a:srgbClr val="0B3454"/>
                </a:solidFill>
                <a:latin typeface="Montserrat"/>
                <a:ea typeface="Montserrat"/>
                <a:cs typeface="Montserrat"/>
                <a:sym typeface="Montserrat"/>
              </a:rPr>
              <a:t>n JSON</a:t>
            </a:r>
          </a:p>
          <a:p>
            <a:pPr algn="l">
              <a:lnSpc>
                <a:spcPts val="3499"/>
              </a:lnSpc>
            </a:pPr>
          </a:p>
          <a:p>
            <a:pPr algn="l">
              <a:lnSpc>
                <a:spcPts val="3499"/>
              </a:lnSpc>
            </a:pPr>
            <a:r>
              <a:rPr lang="en-US" b="true" sz="2499">
                <a:solidFill>
                  <a:srgbClr val="0B3454"/>
                </a:solidFill>
                <a:latin typeface="Montserrat Bold"/>
                <a:ea typeface="Montserrat Bold"/>
                <a:cs typeface="Montserrat Bold"/>
                <a:sym typeface="Montserrat Bold"/>
              </a:rPr>
              <a:t>Flask API</a:t>
            </a:r>
          </a:p>
          <a:p>
            <a:pPr algn="l" marL="539746" indent="-269873" lvl="1">
              <a:lnSpc>
                <a:spcPts val="3499"/>
              </a:lnSpc>
              <a:buFont typeface="Arial"/>
              <a:buChar char="•"/>
            </a:pPr>
            <a:r>
              <a:rPr lang="en-US" sz="2499">
                <a:solidFill>
                  <a:srgbClr val="0B3454"/>
                </a:solidFill>
                <a:latin typeface="Montserrat"/>
                <a:ea typeface="Montserrat"/>
                <a:cs typeface="Montserrat"/>
                <a:sym typeface="Montserrat"/>
              </a:rPr>
              <a:t>US</a:t>
            </a:r>
            <a:r>
              <a:rPr lang="en-US" sz="2499">
                <a:solidFill>
                  <a:srgbClr val="0B3454"/>
                </a:solidFill>
                <a:latin typeface="Montserrat"/>
                <a:ea typeface="Montserrat"/>
                <a:cs typeface="Montserrat"/>
                <a:sym typeface="Montserrat"/>
              </a:rPr>
              <a:t>e Flask API for prediction</a:t>
            </a:r>
          </a:p>
          <a:p>
            <a:pPr algn="l" marL="539746" indent="-269873" lvl="1">
              <a:lnSpc>
                <a:spcPts val="3499"/>
              </a:lnSpc>
              <a:buFont typeface="Arial"/>
              <a:buChar char="•"/>
            </a:pPr>
            <a:r>
              <a:rPr lang="en-US" sz="2499">
                <a:solidFill>
                  <a:srgbClr val="0B3454"/>
                </a:solidFill>
                <a:latin typeface="Montserrat"/>
                <a:ea typeface="Montserrat"/>
                <a:cs typeface="Montserrat"/>
                <a:sym typeface="Montserrat"/>
              </a:rPr>
              <a:t>Provide endpoint for URL input</a:t>
            </a:r>
          </a:p>
          <a:p>
            <a:pPr algn="l" marL="539746" indent="-269873" lvl="1">
              <a:lnSpc>
                <a:spcPts val="3499"/>
              </a:lnSpc>
              <a:buFont typeface="Arial"/>
              <a:buChar char="•"/>
            </a:pPr>
            <a:r>
              <a:rPr lang="en-US" sz="2499">
                <a:solidFill>
                  <a:srgbClr val="0B3454"/>
                </a:solidFill>
                <a:latin typeface="Montserrat"/>
                <a:ea typeface="Montserrat"/>
                <a:cs typeface="Montserrat"/>
                <a:sym typeface="Montserrat"/>
              </a:rPr>
              <a:t>Return prediction result</a:t>
            </a:r>
          </a:p>
        </p:txBody>
      </p:sp>
      <p:sp>
        <p:nvSpPr>
          <p:cNvPr name="TextBox 20" id="20"/>
          <p:cNvSpPr txBox="true"/>
          <p:nvPr/>
        </p:nvSpPr>
        <p:spPr>
          <a:xfrm rot="0">
            <a:off x="9607159" y="4743788"/>
            <a:ext cx="7652141" cy="3918174"/>
          </a:xfrm>
          <a:prstGeom prst="rect">
            <a:avLst/>
          </a:prstGeom>
        </p:spPr>
        <p:txBody>
          <a:bodyPr anchor="t" rtlCol="false" tIns="0" lIns="0" bIns="0" rIns="0">
            <a:spAutoFit/>
          </a:bodyPr>
          <a:lstStyle/>
          <a:p>
            <a:pPr algn="l">
              <a:lnSpc>
                <a:spcPts val="3499"/>
              </a:lnSpc>
              <a:spcBef>
                <a:spcPct val="0"/>
              </a:spcBef>
            </a:pPr>
            <a:r>
              <a:rPr lang="en-US" b="true" sz="2499">
                <a:solidFill>
                  <a:srgbClr val="0B3454"/>
                </a:solidFill>
                <a:latin typeface="Montserrat Bold"/>
                <a:ea typeface="Montserrat Bold"/>
                <a:cs typeface="Montserrat Bold"/>
                <a:sym typeface="Montserrat Bold"/>
              </a:rPr>
              <a:t>MODEL LOADING</a:t>
            </a:r>
          </a:p>
          <a:p>
            <a:pPr algn="l" marL="539746" indent="-269873" lvl="1">
              <a:lnSpc>
                <a:spcPts val="3499"/>
              </a:lnSpc>
              <a:buFont typeface="Arial"/>
              <a:buChar char="•"/>
            </a:pPr>
            <a:r>
              <a:rPr lang="en-US" sz="2499">
                <a:solidFill>
                  <a:srgbClr val="0B3454"/>
                </a:solidFill>
                <a:latin typeface="Montserrat"/>
                <a:ea typeface="Montserrat"/>
                <a:cs typeface="Montserrat"/>
                <a:sym typeface="Montserrat"/>
              </a:rPr>
              <a:t>LOAD</a:t>
            </a:r>
            <a:r>
              <a:rPr lang="en-US" sz="2499">
                <a:solidFill>
                  <a:srgbClr val="0B3454"/>
                </a:solidFill>
                <a:latin typeface="Montserrat"/>
                <a:ea typeface="Montserrat"/>
                <a:cs typeface="Montserrat"/>
                <a:sym typeface="Montserrat"/>
              </a:rPr>
              <a:t> model and metadata once</a:t>
            </a:r>
          </a:p>
          <a:p>
            <a:pPr algn="l" marL="539746" indent="-269873" lvl="1">
              <a:lnSpc>
                <a:spcPts val="3499"/>
              </a:lnSpc>
              <a:buFont typeface="Arial"/>
              <a:buChar char="•"/>
            </a:pPr>
            <a:r>
              <a:rPr lang="en-US" sz="2499">
                <a:solidFill>
                  <a:srgbClr val="0B3454"/>
                </a:solidFill>
                <a:latin typeface="Montserrat"/>
                <a:ea typeface="Montserrat"/>
                <a:cs typeface="Montserrat"/>
                <a:sym typeface="Montserrat"/>
              </a:rPr>
              <a:t>Do</a:t>
            </a:r>
            <a:r>
              <a:rPr lang="en-US" sz="2499">
                <a:solidFill>
                  <a:srgbClr val="0B3454"/>
                </a:solidFill>
                <a:latin typeface="Montserrat"/>
                <a:ea typeface="Montserrat"/>
                <a:cs typeface="Montserrat"/>
                <a:sym typeface="Montserrat"/>
              </a:rPr>
              <a:t>ne when the applicat</a:t>
            </a:r>
            <a:r>
              <a:rPr lang="en-US" sz="2499">
                <a:solidFill>
                  <a:srgbClr val="0B3454"/>
                </a:solidFill>
                <a:latin typeface="Montserrat"/>
                <a:ea typeface="Montserrat"/>
                <a:cs typeface="Montserrat"/>
                <a:sym typeface="Montserrat"/>
              </a:rPr>
              <a:t>ion starts</a:t>
            </a:r>
          </a:p>
          <a:p>
            <a:pPr algn="l" marL="539746" indent="-269873" lvl="1">
              <a:lnSpc>
                <a:spcPts val="3499"/>
              </a:lnSpc>
              <a:buFont typeface="Arial"/>
              <a:buChar char="•"/>
            </a:pPr>
            <a:r>
              <a:rPr lang="en-US" sz="2499">
                <a:solidFill>
                  <a:srgbClr val="0B3454"/>
                </a:solidFill>
                <a:latin typeface="Montserrat"/>
                <a:ea typeface="Montserrat"/>
                <a:cs typeface="Montserrat"/>
                <a:sym typeface="Montserrat"/>
              </a:rPr>
              <a:t>Make</a:t>
            </a:r>
            <a:r>
              <a:rPr lang="en-US" sz="2499">
                <a:solidFill>
                  <a:srgbClr val="0B3454"/>
                </a:solidFill>
                <a:latin typeface="Montserrat"/>
                <a:ea typeface="Montserrat"/>
                <a:cs typeface="Montserrat"/>
                <a:sym typeface="Montserrat"/>
              </a:rPr>
              <a:t> pr</a:t>
            </a:r>
            <a:r>
              <a:rPr lang="en-US" sz="2499">
                <a:solidFill>
                  <a:srgbClr val="0B3454"/>
                </a:solidFill>
                <a:latin typeface="Montserrat"/>
                <a:ea typeface="Montserrat"/>
                <a:cs typeface="Montserrat"/>
                <a:sym typeface="Montserrat"/>
              </a:rPr>
              <a:t>edi</a:t>
            </a:r>
            <a:r>
              <a:rPr lang="en-US" sz="2499">
                <a:solidFill>
                  <a:srgbClr val="0B3454"/>
                </a:solidFill>
                <a:latin typeface="Montserrat"/>
                <a:ea typeface="Montserrat"/>
                <a:cs typeface="Montserrat"/>
                <a:sym typeface="Montserrat"/>
              </a:rPr>
              <a:t>cti</a:t>
            </a:r>
            <a:r>
              <a:rPr lang="en-US" sz="2499">
                <a:solidFill>
                  <a:srgbClr val="0B3454"/>
                </a:solidFill>
                <a:latin typeface="Montserrat"/>
                <a:ea typeface="Montserrat"/>
                <a:cs typeface="Montserrat"/>
                <a:sym typeface="Montserrat"/>
              </a:rPr>
              <a:t>on faster</a:t>
            </a:r>
          </a:p>
          <a:p>
            <a:pPr algn="l">
              <a:lnSpc>
                <a:spcPts val="3499"/>
              </a:lnSpc>
            </a:pPr>
          </a:p>
          <a:p>
            <a:pPr algn="l">
              <a:lnSpc>
                <a:spcPts val="3499"/>
              </a:lnSpc>
            </a:pPr>
            <a:r>
              <a:rPr lang="en-US" b="true" sz="2499">
                <a:solidFill>
                  <a:srgbClr val="0B3454"/>
                </a:solidFill>
                <a:latin typeface="Montserrat Bold"/>
                <a:ea typeface="Montserrat Bold"/>
                <a:cs typeface="Montserrat Bold"/>
                <a:sym typeface="Montserrat Bold"/>
              </a:rPr>
              <a:t>Feature Extraction</a:t>
            </a:r>
          </a:p>
          <a:p>
            <a:pPr algn="l" marL="539746" indent="-269873" lvl="1">
              <a:lnSpc>
                <a:spcPts val="3499"/>
              </a:lnSpc>
              <a:buFont typeface="Arial"/>
              <a:buChar char="•"/>
            </a:pPr>
            <a:r>
              <a:rPr lang="en-US" sz="2499">
                <a:solidFill>
                  <a:srgbClr val="0B3454"/>
                </a:solidFill>
                <a:latin typeface="Montserrat"/>
                <a:ea typeface="Montserrat"/>
                <a:cs typeface="Montserrat"/>
                <a:sym typeface="Montserrat"/>
              </a:rPr>
              <a:t>EXTRACT URL</a:t>
            </a:r>
            <a:r>
              <a:rPr lang="en-US" sz="2499">
                <a:solidFill>
                  <a:srgbClr val="0B3454"/>
                </a:solidFill>
                <a:latin typeface="Montserrat"/>
                <a:ea typeface="Montserrat"/>
                <a:cs typeface="Montserrat"/>
                <a:sym typeface="Montserrat"/>
              </a:rPr>
              <a:t> features automatically</a:t>
            </a:r>
          </a:p>
          <a:p>
            <a:pPr algn="l" marL="539746" indent="-269873" lvl="1">
              <a:lnSpc>
                <a:spcPts val="3499"/>
              </a:lnSpc>
              <a:buFont typeface="Arial"/>
              <a:buChar char="•"/>
            </a:pPr>
            <a:r>
              <a:rPr lang="en-US" sz="2499">
                <a:solidFill>
                  <a:srgbClr val="0B3454"/>
                </a:solidFill>
                <a:latin typeface="Montserrat"/>
                <a:ea typeface="Montserrat"/>
                <a:cs typeface="Montserrat"/>
                <a:sym typeface="Montserrat"/>
              </a:rPr>
              <a:t>Extract web content features if needed</a:t>
            </a:r>
          </a:p>
          <a:p>
            <a:pPr algn="l" marL="539746" indent="-269873" lvl="1">
              <a:lnSpc>
                <a:spcPts val="3499"/>
              </a:lnSpc>
              <a:buFont typeface="Arial"/>
              <a:buChar char="•"/>
            </a:pPr>
            <a:r>
              <a:rPr lang="en-US" sz="2499">
                <a:solidFill>
                  <a:srgbClr val="0B3454"/>
                </a:solidFill>
                <a:latin typeface="Montserrat"/>
                <a:ea typeface="Montserrat"/>
                <a:cs typeface="Montserrat"/>
                <a:sym typeface="Montserrat"/>
              </a:rPr>
              <a:t>Use features for prediction</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9259" t="0" r="-9259" b="0"/>
            </a:stretch>
          </a:blipFill>
        </p:spPr>
      </p:sp>
      <p:sp>
        <p:nvSpPr>
          <p:cNvPr name="Freeform 3" id="3"/>
          <p:cNvSpPr/>
          <p:nvPr/>
        </p:nvSpPr>
        <p:spPr>
          <a:xfrm flipH="false" flipV="false" rot="0">
            <a:off x="692764" y="400218"/>
            <a:ext cx="963762" cy="963762"/>
          </a:xfrm>
          <a:custGeom>
            <a:avLst/>
            <a:gdLst/>
            <a:ahLst/>
            <a:cxnLst/>
            <a:rect r="r" b="b" t="t" l="l"/>
            <a:pathLst>
              <a:path h="963762" w="963762">
                <a:moveTo>
                  <a:pt x="0" y="0"/>
                </a:moveTo>
                <a:lnTo>
                  <a:pt x="963761" y="0"/>
                </a:lnTo>
                <a:lnTo>
                  <a:pt x="963761" y="963762"/>
                </a:lnTo>
                <a:lnTo>
                  <a:pt x="0" y="963762"/>
                </a:lnTo>
                <a:lnTo>
                  <a:pt x="0" y="0"/>
                </a:lnTo>
                <a:close/>
              </a:path>
            </a:pathLst>
          </a:custGeom>
          <a:blipFill>
            <a:blip r:embed="rId3"/>
            <a:stretch>
              <a:fillRect l="0" t="0" r="0" b="0"/>
            </a:stretch>
          </a:blipFill>
        </p:spPr>
      </p:sp>
      <p:sp>
        <p:nvSpPr>
          <p:cNvPr name="TextBox 4" id="4"/>
          <p:cNvSpPr txBox="true"/>
          <p:nvPr/>
        </p:nvSpPr>
        <p:spPr>
          <a:xfrm rot="0">
            <a:off x="1864064" y="681990"/>
            <a:ext cx="3686274" cy="346710"/>
          </a:xfrm>
          <a:prstGeom prst="rect">
            <a:avLst/>
          </a:prstGeom>
        </p:spPr>
        <p:txBody>
          <a:bodyPr anchor="t" rtlCol="false" tIns="0" lIns="0" bIns="0" rIns="0">
            <a:spAutoFit/>
          </a:bodyPr>
          <a:lstStyle/>
          <a:p>
            <a:pPr algn="ctr">
              <a:lnSpc>
                <a:spcPts val="2400"/>
              </a:lnSpc>
              <a:spcBef>
                <a:spcPct val="0"/>
              </a:spcBef>
            </a:pPr>
            <a:r>
              <a:rPr lang="en-US" b="true" sz="2400">
                <a:solidFill>
                  <a:srgbClr val="0B3454"/>
                </a:solidFill>
                <a:latin typeface="Poppins Semi-Bold"/>
                <a:ea typeface="Poppins Semi-Bold"/>
                <a:cs typeface="Poppins Semi-Bold"/>
                <a:sym typeface="Poppins Semi-Bold"/>
              </a:rPr>
              <a:t>INSTITUT TEKNOLOGI DEL</a:t>
            </a:r>
          </a:p>
        </p:txBody>
      </p:sp>
      <p:grpSp>
        <p:nvGrpSpPr>
          <p:cNvPr name="Group 5" id="5"/>
          <p:cNvGrpSpPr/>
          <p:nvPr/>
        </p:nvGrpSpPr>
        <p:grpSpPr>
          <a:xfrm rot="5400000">
            <a:off x="4215892" y="-286945"/>
            <a:ext cx="47625" cy="3836200"/>
            <a:chOff x="0" y="0"/>
            <a:chExt cx="12543" cy="1010357"/>
          </a:xfrm>
        </p:grpSpPr>
        <p:sp>
          <p:nvSpPr>
            <p:cNvPr name="Freeform 6" id="6"/>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7" id="7"/>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5400000">
            <a:off x="4215892" y="-103929"/>
            <a:ext cx="47625" cy="3836200"/>
            <a:chOff x="0" y="0"/>
            <a:chExt cx="12543" cy="1010357"/>
          </a:xfrm>
        </p:grpSpPr>
        <p:sp>
          <p:nvSpPr>
            <p:cNvPr name="Freeform 9" id="9"/>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10" id="10"/>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5400000">
            <a:off x="13383524" y="7364012"/>
            <a:ext cx="47625" cy="3836200"/>
            <a:chOff x="0" y="0"/>
            <a:chExt cx="12543" cy="1010357"/>
          </a:xfrm>
        </p:grpSpPr>
        <p:sp>
          <p:nvSpPr>
            <p:cNvPr name="Freeform 12" id="12"/>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13" id="13"/>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5400000">
            <a:off x="13383524" y="7547029"/>
            <a:ext cx="47625" cy="3836200"/>
            <a:chOff x="0" y="0"/>
            <a:chExt cx="12543" cy="1010357"/>
          </a:xfrm>
        </p:grpSpPr>
        <p:sp>
          <p:nvSpPr>
            <p:cNvPr name="Freeform 15" id="15"/>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16" id="16"/>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sp>
        <p:nvSpPr>
          <p:cNvPr name="TextBox 17" id="17"/>
          <p:cNvSpPr txBox="true"/>
          <p:nvPr/>
        </p:nvSpPr>
        <p:spPr>
          <a:xfrm rot="0">
            <a:off x="2662509" y="2033817"/>
            <a:ext cx="3833883" cy="1028750"/>
          </a:xfrm>
          <a:prstGeom prst="rect">
            <a:avLst/>
          </a:prstGeom>
        </p:spPr>
        <p:txBody>
          <a:bodyPr anchor="t" rtlCol="false" tIns="0" lIns="0" bIns="0" rIns="0">
            <a:spAutoFit/>
          </a:bodyPr>
          <a:lstStyle/>
          <a:p>
            <a:pPr algn="l">
              <a:lnSpc>
                <a:spcPts val="8400"/>
              </a:lnSpc>
            </a:pPr>
            <a:r>
              <a:rPr lang="en-US" sz="6000" b="true">
                <a:solidFill>
                  <a:srgbClr val="002254"/>
                </a:solidFill>
                <a:latin typeface="Montserrat Ultra-Bold"/>
                <a:ea typeface="Montserrat Ultra-Bold"/>
                <a:cs typeface="Montserrat Ultra-Bold"/>
                <a:sym typeface="Montserrat Ultra-Bold"/>
              </a:rPr>
              <a:t>SHAP</a:t>
            </a:r>
          </a:p>
        </p:txBody>
      </p:sp>
      <p:sp>
        <p:nvSpPr>
          <p:cNvPr name="TextBox 18" id="18"/>
          <p:cNvSpPr txBox="true"/>
          <p:nvPr/>
        </p:nvSpPr>
        <p:spPr>
          <a:xfrm rot="0">
            <a:off x="1864064" y="3519766"/>
            <a:ext cx="14154448" cy="1289124"/>
          </a:xfrm>
          <a:prstGeom prst="rect">
            <a:avLst/>
          </a:prstGeom>
        </p:spPr>
        <p:txBody>
          <a:bodyPr anchor="t" rtlCol="false" tIns="0" lIns="0" bIns="0" rIns="0">
            <a:spAutoFit/>
          </a:bodyPr>
          <a:lstStyle/>
          <a:p>
            <a:pPr algn="just">
              <a:lnSpc>
                <a:spcPts val="3499"/>
              </a:lnSpc>
              <a:spcBef>
                <a:spcPct val="0"/>
              </a:spcBef>
            </a:pPr>
            <a:r>
              <a:rPr lang="en-US" b="true" sz="2499">
                <a:solidFill>
                  <a:srgbClr val="000000"/>
                </a:solidFill>
                <a:latin typeface="Montserrat Bold"/>
                <a:ea typeface="Montserrat Bold"/>
                <a:cs typeface="Montserrat Bold"/>
                <a:sym typeface="Montserrat Bold"/>
              </a:rPr>
              <a:t>SHAP</a:t>
            </a:r>
            <a:r>
              <a:rPr lang="en-US" sz="2499">
                <a:solidFill>
                  <a:srgbClr val="000000"/>
                </a:solidFill>
                <a:latin typeface="Montserrat"/>
                <a:ea typeface="Montserrat"/>
                <a:cs typeface="Montserrat"/>
                <a:sym typeface="Montserrat"/>
              </a:rPr>
              <a:t> is used to explain how each feature contributes to the model's prediction. It identifies th</a:t>
            </a:r>
            <a:r>
              <a:rPr lang="en-US" sz="2499">
                <a:solidFill>
                  <a:srgbClr val="000000"/>
                </a:solidFill>
                <a:latin typeface="Montserrat"/>
                <a:ea typeface="Montserrat"/>
                <a:cs typeface="Montserrat"/>
                <a:sym typeface="Montserrat"/>
              </a:rPr>
              <a:t>e most influential features affecting phishing or benign class</a:t>
            </a:r>
            <a:r>
              <a:rPr lang="en-US" sz="2499">
                <a:solidFill>
                  <a:srgbClr val="000000"/>
                </a:solidFill>
                <a:latin typeface="Montserrat"/>
                <a:ea typeface="Montserrat"/>
                <a:cs typeface="Montserrat"/>
                <a:sym typeface="Montserrat"/>
              </a:rPr>
              <a:t>ifications, making the decision-making process more transparent.</a:t>
            </a:r>
          </a:p>
        </p:txBody>
      </p:sp>
      <p:sp>
        <p:nvSpPr>
          <p:cNvPr name="TextBox 19" id="19"/>
          <p:cNvSpPr txBox="true"/>
          <p:nvPr/>
        </p:nvSpPr>
        <p:spPr>
          <a:xfrm rot="0">
            <a:off x="2321605" y="5351816"/>
            <a:ext cx="10700164" cy="2165474"/>
          </a:xfrm>
          <a:prstGeom prst="rect">
            <a:avLst/>
          </a:prstGeom>
        </p:spPr>
        <p:txBody>
          <a:bodyPr anchor="t" rtlCol="false" tIns="0" lIns="0" bIns="0" rIns="0">
            <a:spAutoFit/>
          </a:bodyPr>
          <a:lstStyle/>
          <a:p>
            <a:pPr algn="l">
              <a:lnSpc>
                <a:spcPts val="3499"/>
              </a:lnSpc>
            </a:pPr>
            <a:r>
              <a:rPr lang="en-US" sz="2499" b="true">
                <a:solidFill>
                  <a:srgbClr val="0B3454"/>
                </a:solidFill>
                <a:latin typeface="Montserrat Bold"/>
                <a:ea typeface="Montserrat Bold"/>
                <a:cs typeface="Montserrat Bold"/>
                <a:sym typeface="Montserrat Bold"/>
              </a:rPr>
              <a:t>Impl</a:t>
            </a:r>
            <a:r>
              <a:rPr lang="en-US" b="true" sz="2499">
                <a:solidFill>
                  <a:srgbClr val="0B3454"/>
                </a:solidFill>
                <a:latin typeface="Montserrat Bold"/>
                <a:ea typeface="Montserrat Bold"/>
                <a:cs typeface="Montserrat Bold"/>
                <a:sym typeface="Montserrat Bold"/>
              </a:rPr>
              <a:t>ementation:</a:t>
            </a:r>
          </a:p>
          <a:p>
            <a:pPr algn="l" marL="539746" indent="-269873" lvl="1">
              <a:lnSpc>
                <a:spcPts val="3499"/>
              </a:lnSpc>
              <a:buFont typeface="Arial"/>
              <a:buChar char="•"/>
            </a:pPr>
            <a:r>
              <a:rPr lang="en-US" sz="2499">
                <a:solidFill>
                  <a:srgbClr val="0B3454"/>
                </a:solidFill>
                <a:latin typeface="Montserrat"/>
                <a:ea typeface="Montserrat"/>
                <a:cs typeface="Montserrat"/>
                <a:sym typeface="Montserrat"/>
              </a:rPr>
              <a:t>TREEEXPLAINER → RANDOM</a:t>
            </a:r>
            <a:r>
              <a:rPr lang="en-US" sz="2499">
                <a:solidFill>
                  <a:srgbClr val="0B3454"/>
                </a:solidFill>
                <a:latin typeface="Montserrat"/>
                <a:ea typeface="Montserrat"/>
                <a:cs typeface="Montserrat"/>
                <a:sym typeface="Montserrat"/>
              </a:rPr>
              <a:t> Forest &amp; XGBoost</a:t>
            </a:r>
          </a:p>
          <a:p>
            <a:pPr algn="l" marL="539746" indent="-269873" lvl="1">
              <a:lnSpc>
                <a:spcPts val="3499"/>
              </a:lnSpc>
              <a:buFont typeface="Arial"/>
              <a:buChar char="•"/>
            </a:pPr>
            <a:r>
              <a:rPr lang="en-US" sz="2499">
                <a:solidFill>
                  <a:srgbClr val="0B3454"/>
                </a:solidFill>
                <a:latin typeface="Montserrat"/>
                <a:ea typeface="Montserrat"/>
                <a:cs typeface="Montserrat"/>
                <a:sym typeface="Montserrat"/>
              </a:rPr>
              <a:t>KernelExplainer → Stacking Ensemble (Logistic Regression)</a:t>
            </a:r>
          </a:p>
          <a:p>
            <a:pPr algn="l" marL="539746" indent="-269873" lvl="1">
              <a:lnSpc>
                <a:spcPts val="3499"/>
              </a:lnSpc>
              <a:buFont typeface="Arial"/>
              <a:buChar char="•"/>
            </a:pPr>
            <a:r>
              <a:rPr lang="en-US" sz="2499">
                <a:solidFill>
                  <a:srgbClr val="0B3454"/>
                </a:solidFill>
                <a:latin typeface="Montserrat"/>
                <a:ea typeface="Montserrat"/>
                <a:cs typeface="Montserrat"/>
                <a:sym typeface="Montserrat"/>
              </a:rPr>
              <a:t>Displays Top Influential Features</a:t>
            </a:r>
          </a:p>
          <a:p>
            <a:pPr algn="l" marL="539746" indent="-269873" lvl="1">
              <a:lnSpc>
                <a:spcPts val="3499"/>
              </a:lnSpc>
              <a:buFont typeface="Arial"/>
              <a:buChar char="•"/>
            </a:pPr>
            <a:r>
              <a:rPr lang="en-US" sz="2499">
                <a:solidFill>
                  <a:srgbClr val="0B3454"/>
                </a:solidFill>
                <a:latin typeface="Montserrat"/>
                <a:ea typeface="Montserrat"/>
                <a:cs typeface="Montserrat"/>
                <a:sym typeface="Montserrat"/>
              </a:rPr>
              <a:t>Shows positive and negative feature contributions</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9259" t="0" r="-9259" b="0"/>
            </a:stretch>
          </a:blipFill>
        </p:spPr>
      </p:sp>
      <p:sp>
        <p:nvSpPr>
          <p:cNvPr name="Freeform 3" id="3"/>
          <p:cNvSpPr/>
          <p:nvPr/>
        </p:nvSpPr>
        <p:spPr>
          <a:xfrm flipH="false" flipV="false" rot="0">
            <a:off x="692764" y="400218"/>
            <a:ext cx="963762" cy="963762"/>
          </a:xfrm>
          <a:custGeom>
            <a:avLst/>
            <a:gdLst/>
            <a:ahLst/>
            <a:cxnLst/>
            <a:rect r="r" b="b" t="t" l="l"/>
            <a:pathLst>
              <a:path h="963762" w="963762">
                <a:moveTo>
                  <a:pt x="0" y="0"/>
                </a:moveTo>
                <a:lnTo>
                  <a:pt x="963761" y="0"/>
                </a:lnTo>
                <a:lnTo>
                  <a:pt x="963761" y="963762"/>
                </a:lnTo>
                <a:lnTo>
                  <a:pt x="0" y="963762"/>
                </a:lnTo>
                <a:lnTo>
                  <a:pt x="0" y="0"/>
                </a:lnTo>
                <a:close/>
              </a:path>
            </a:pathLst>
          </a:custGeom>
          <a:blipFill>
            <a:blip r:embed="rId3"/>
            <a:stretch>
              <a:fillRect l="0" t="0" r="0" b="0"/>
            </a:stretch>
          </a:blipFill>
        </p:spPr>
      </p:sp>
      <p:sp>
        <p:nvSpPr>
          <p:cNvPr name="TextBox 4" id="4"/>
          <p:cNvSpPr txBox="true"/>
          <p:nvPr/>
        </p:nvSpPr>
        <p:spPr>
          <a:xfrm rot="0">
            <a:off x="1864064" y="681990"/>
            <a:ext cx="3686274" cy="346710"/>
          </a:xfrm>
          <a:prstGeom prst="rect">
            <a:avLst/>
          </a:prstGeom>
        </p:spPr>
        <p:txBody>
          <a:bodyPr anchor="t" rtlCol="false" tIns="0" lIns="0" bIns="0" rIns="0">
            <a:spAutoFit/>
          </a:bodyPr>
          <a:lstStyle/>
          <a:p>
            <a:pPr algn="ctr">
              <a:lnSpc>
                <a:spcPts val="2400"/>
              </a:lnSpc>
              <a:spcBef>
                <a:spcPct val="0"/>
              </a:spcBef>
            </a:pPr>
            <a:r>
              <a:rPr lang="en-US" b="true" sz="2400">
                <a:solidFill>
                  <a:srgbClr val="0B3454"/>
                </a:solidFill>
                <a:latin typeface="Poppins Semi-Bold"/>
                <a:ea typeface="Poppins Semi-Bold"/>
                <a:cs typeface="Poppins Semi-Bold"/>
                <a:sym typeface="Poppins Semi-Bold"/>
              </a:rPr>
              <a:t>INSTITUT TEKNOLOGI DEL</a:t>
            </a:r>
          </a:p>
        </p:txBody>
      </p:sp>
      <p:grpSp>
        <p:nvGrpSpPr>
          <p:cNvPr name="Group 5" id="5"/>
          <p:cNvGrpSpPr/>
          <p:nvPr/>
        </p:nvGrpSpPr>
        <p:grpSpPr>
          <a:xfrm rot="5400000">
            <a:off x="4215892" y="-286945"/>
            <a:ext cx="47625" cy="3836200"/>
            <a:chOff x="0" y="0"/>
            <a:chExt cx="12543" cy="1010357"/>
          </a:xfrm>
        </p:grpSpPr>
        <p:sp>
          <p:nvSpPr>
            <p:cNvPr name="Freeform 6" id="6"/>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7" id="7"/>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5400000">
            <a:off x="4215892" y="-103929"/>
            <a:ext cx="47625" cy="3836200"/>
            <a:chOff x="0" y="0"/>
            <a:chExt cx="12543" cy="1010357"/>
          </a:xfrm>
        </p:grpSpPr>
        <p:sp>
          <p:nvSpPr>
            <p:cNvPr name="Freeform 9" id="9"/>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10" id="10"/>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5400000">
            <a:off x="13383524" y="7364012"/>
            <a:ext cx="47625" cy="3836200"/>
            <a:chOff x="0" y="0"/>
            <a:chExt cx="12543" cy="1010357"/>
          </a:xfrm>
        </p:grpSpPr>
        <p:sp>
          <p:nvSpPr>
            <p:cNvPr name="Freeform 12" id="12"/>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13" id="13"/>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5400000">
            <a:off x="13383524" y="7547029"/>
            <a:ext cx="47625" cy="3836200"/>
            <a:chOff x="0" y="0"/>
            <a:chExt cx="12543" cy="1010357"/>
          </a:xfrm>
        </p:grpSpPr>
        <p:sp>
          <p:nvSpPr>
            <p:cNvPr name="Freeform 15" id="15"/>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16" id="16"/>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sp>
        <p:nvSpPr>
          <p:cNvPr name="TextBox 17" id="17"/>
          <p:cNvSpPr txBox="true"/>
          <p:nvPr/>
        </p:nvSpPr>
        <p:spPr>
          <a:xfrm rot="0">
            <a:off x="2662509" y="2033817"/>
            <a:ext cx="7205590" cy="1028750"/>
          </a:xfrm>
          <a:prstGeom prst="rect">
            <a:avLst/>
          </a:prstGeom>
        </p:spPr>
        <p:txBody>
          <a:bodyPr anchor="t" rtlCol="false" tIns="0" lIns="0" bIns="0" rIns="0">
            <a:spAutoFit/>
          </a:bodyPr>
          <a:lstStyle/>
          <a:p>
            <a:pPr algn="l">
              <a:lnSpc>
                <a:spcPts val="8400"/>
              </a:lnSpc>
            </a:pPr>
            <a:r>
              <a:rPr lang="en-US" sz="6000" b="true">
                <a:solidFill>
                  <a:srgbClr val="002254"/>
                </a:solidFill>
                <a:latin typeface="Montserrat Ultra-Bold"/>
                <a:ea typeface="Montserrat Ultra-Bold"/>
                <a:cs typeface="Montserrat Ultra-Bold"/>
                <a:sym typeface="Montserrat Ultra-Bold"/>
              </a:rPr>
              <a:t>LLM Reasoning</a:t>
            </a:r>
          </a:p>
        </p:txBody>
      </p:sp>
      <p:sp>
        <p:nvSpPr>
          <p:cNvPr name="TextBox 18" id="18"/>
          <p:cNvSpPr txBox="true"/>
          <p:nvPr/>
        </p:nvSpPr>
        <p:spPr>
          <a:xfrm rot="0">
            <a:off x="1864064" y="3519766"/>
            <a:ext cx="14154448" cy="850950"/>
          </a:xfrm>
          <a:prstGeom prst="rect">
            <a:avLst/>
          </a:prstGeom>
        </p:spPr>
        <p:txBody>
          <a:bodyPr anchor="t" rtlCol="false" tIns="0" lIns="0" bIns="0" rIns="0">
            <a:spAutoFit/>
          </a:bodyPr>
          <a:lstStyle/>
          <a:p>
            <a:pPr algn="just">
              <a:lnSpc>
                <a:spcPts val="3499"/>
              </a:lnSpc>
              <a:spcBef>
                <a:spcPct val="0"/>
              </a:spcBef>
            </a:pPr>
            <a:r>
              <a:rPr lang="en-US" b="true" sz="2499">
                <a:solidFill>
                  <a:srgbClr val="000000"/>
                </a:solidFill>
                <a:latin typeface="Montserrat Bold"/>
                <a:ea typeface="Montserrat Bold"/>
                <a:cs typeface="Montserrat Bold"/>
                <a:sym typeface="Montserrat Bold"/>
              </a:rPr>
              <a:t>Large Language Model </a:t>
            </a:r>
            <a:r>
              <a:rPr lang="en-US" sz="2499">
                <a:solidFill>
                  <a:srgbClr val="000000"/>
                </a:solidFill>
                <a:latin typeface="Montserrat"/>
                <a:ea typeface="Montserrat"/>
                <a:cs typeface="Montserrat"/>
                <a:sym typeface="Montserrat"/>
              </a:rPr>
              <a:t>(LLM) Reasoning is used to transform technical prediction r</a:t>
            </a:r>
            <a:r>
              <a:rPr lang="en-US" sz="2499">
                <a:solidFill>
                  <a:srgbClr val="000000"/>
                </a:solidFill>
                <a:latin typeface="Montserrat"/>
                <a:ea typeface="Montserrat"/>
                <a:cs typeface="Montserrat"/>
                <a:sym typeface="Montserrat"/>
              </a:rPr>
              <a:t>esults and SHAP outputs in</a:t>
            </a:r>
            <a:r>
              <a:rPr lang="en-US" sz="2499">
                <a:solidFill>
                  <a:srgbClr val="000000"/>
                </a:solidFill>
                <a:latin typeface="Montserrat"/>
                <a:ea typeface="Montserrat"/>
                <a:cs typeface="Montserrat"/>
                <a:sym typeface="Montserrat"/>
              </a:rPr>
              <a:t>to human-readable explanations.</a:t>
            </a:r>
          </a:p>
        </p:txBody>
      </p:sp>
      <p:sp>
        <p:nvSpPr>
          <p:cNvPr name="TextBox 19" id="19"/>
          <p:cNvSpPr txBox="true"/>
          <p:nvPr/>
        </p:nvSpPr>
        <p:spPr>
          <a:xfrm rot="0">
            <a:off x="2662509" y="5094616"/>
            <a:ext cx="8002798" cy="2165474"/>
          </a:xfrm>
          <a:prstGeom prst="rect">
            <a:avLst/>
          </a:prstGeom>
        </p:spPr>
        <p:txBody>
          <a:bodyPr anchor="t" rtlCol="false" tIns="0" lIns="0" bIns="0" rIns="0">
            <a:spAutoFit/>
          </a:bodyPr>
          <a:lstStyle/>
          <a:p>
            <a:pPr algn="l">
              <a:lnSpc>
                <a:spcPts val="3499"/>
              </a:lnSpc>
            </a:pPr>
            <a:r>
              <a:rPr lang="en-US" sz="2499" b="true">
                <a:solidFill>
                  <a:srgbClr val="0B3454"/>
                </a:solidFill>
                <a:latin typeface="Montserrat Bold"/>
                <a:ea typeface="Montserrat Bold"/>
                <a:cs typeface="Montserrat Bold"/>
                <a:sym typeface="Montserrat Bold"/>
              </a:rPr>
              <a:t>Impl</a:t>
            </a:r>
            <a:r>
              <a:rPr lang="en-US" b="true" sz="2499">
                <a:solidFill>
                  <a:srgbClr val="0B3454"/>
                </a:solidFill>
                <a:latin typeface="Montserrat Bold"/>
                <a:ea typeface="Montserrat Bold"/>
                <a:cs typeface="Montserrat Bold"/>
                <a:sym typeface="Montserrat Bold"/>
              </a:rPr>
              <a:t>ementation:</a:t>
            </a:r>
          </a:p>
          <a:p>
            <a:pPr algn="l" marL="539746" indent="-269873" lvl="1">
              <a:lnSpc>
                <a:spcPts val="3499"/>
              </a:lnSpc>
              <a:buFont typeface="Arial"/>
              <a:buChar char="•"/>
            </a:pPr>
            <a:r>
              <a:rPr lang="en-US" sz="2499">
                <a:solidFill>
                  <a:srgbClr val="0B3454"/>
                </a:solidFill>
                <a:latin typeface="Montserrat"/>
                <a:ea typeface="Montserrat"/>
                <a:cs typeface="Montserrat"/>
                <a:sym typeface="Montserrat"/>
              </a:rPr>
              <a:t>PREDICTION</a:t>
            </a:r>
            <a:r>
              <a:rPr lang="en-US" sz="2499">
                <a:solidFill>
                  <a:srgbClr val="0B3454"/>
                </a:solidFill>
                <a:latin typeface="Montserrat"/>
                <a:ea typeface="Montserrat"/>
                <a:cs typeface="Montserrat"/>
                <a:sym typeface="Montserrat"/>
              </a:rPr>
              <a:t> result</a:t>
            </a:r>
          </a:p>
          <a:p>
            <a:pPr algn="l" marL="539746" indent="-269873" lvl="1">
              <a:lnSpc>
                <a:spcPts val="3499"/>
              </a:lnSpc>
              <a:buFont typeface="Arial"/>
              <a:buChar char="•"/>
            </a:pPr>
            <a:r>
              <a:rPr lang="en-US" sz="2499">
                <a:solidFill>
                  <a:srgbClr val="0B3454"/>
                </a:solidFill>
                <a:latin typeface="Montserrat"/>
                <a:ea typeface="Montserrat"/>
                <a:cs typeface="Montserrat"/>
                <a:sym typeface="Montserrat"/>
              </a:rPr>
              <a:t>Probability score</a:t>
            </a:r>
          </a:p>
          <a:p>
            <a:pPr algn="l" marL="539746" indent="-269873" lvl="1">
              <a:lnSpc>
                <a:spcPts val="3499"/>
              </a:lnSpc>
              <a:buFont typeface="Arial"/>
              <a:buChar char="•"/>
            </a:pPr>
            <a:r>
              <a:rPr lang="en-US" sz="2499">
                <a:solidFill>
                  <a:srgbClr val="0B3454"/>
                </a:solidFill>
                <a:latin typeface="Montserrat"/>
                <a:ea typeface="Montserrat"/>
                <a:cs typeface="Montserrat"/>
                <a:sym typeface="Montserrat"/>
              </a:rPr>
              <a:t>Top SHAP features</a:t>
            </a:r>
          </a:p>
          <a:p>
            <a:pPr algn="l" marL="539746" indent="-269873" lvl="1">
              <a:lnSpc>
                <a:spcPts val="3499"/>
              </a:lnSpc>
              <a:buFont typeface="Arial"/>
              <a:buChar char="•"/>
            </a:pPr>
            <a:r>
              <a:rPr lang="en-US" sz="2499">
                <a:solidFill>
                  <a:srgbClr val="0B3454"/>
                </a:solidFill>
                <a:latin typeface="Montserrat"/>
                <a:ea typeface="Montserrat"/>
                <a:cs typeface="Montserrat"/>
                <a:sym typeface="Montserrat"/>
              </a:rPr>
              <a:t>Feature contributions</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9259" t="0" r="-9259" b="0"/>
            </a:stretch>
          </a:blipFill>
        </p:spPr>
      </p:sp>
      <p:grpSp>
        <p:nvGrpSpPr>
          <p:cNvPr name="Group 3" id="3"/>
          <p:cNvGrpSpPr/>
          <p:nvPr/>
        </p:nvGrpSpPr>
        <p:grpSpPr>
          <a:xfrm rot="0">
            <a:off x="17398178" y="-234246"/>
            <a:ext cx="330630" cy="10755493"/>
            <a:chOff x="0" y="0"/>
            <a:chExt cx="87079" cy="2832722"/>
          </a:xfrm>
        </p:grpSpPr>
        <p:sp>
          <p:nvSpPr>
            <p:cNvPr name="Freeform 4" id="4"/>
            <p:cNvSpPr/>
            <p:nvPr/>
          </p:nvSpPr>
          <p:spPr>
            <a:xfrm flipH="false" flipV="false" rot="0">
              <a:off x="0" y="0"/>
              <a:ext cx="87079" cy="2832722"/>
            </a:xfrm>
            <a:custGeom>
              <a:avLst/>
              <a:gdLst/>
              <a:ahLst/>
              <a:cxnLst/>
              <a:rect r="r" b="b" t="t" l="l"/>
              <a:pathLst>
                <a:path h="2832722" w="87079">
                  <a:moveTo>
                    <a:pt x="0" y="0"/>
                  </a:moveTo>
                  <a:lnTo>
                    <a:pt x="87079" y="0"/>
                  </a:lnTo>
                  <a:lnTo>
                    <a:pt x="87079" y="2832722"/>
                  </a:lnTo>
                  <a:lnTo>
                    <a:pt x="0" y="2832722"/>
                  </a:lnTo>
                  <a:close/>
                </a:path>
              </a:pathLst>
            </a:custGeom>
            <a:solidFill>
              <a:srgbClr val="002254"/>
            </a:solidFill>
          </p:spPr>
        </p:sp>
        <p:sp>
          <p:nvSpPr>
            <p:cNvPr name="TextBox 5" id="5"/>
            <p:cNvSpPr txBox="true"/>
            <p:nvPr/>
          </p:nvSpPr>
          <p:spPr>
            <a:xfrm>
              <a:off x="0" y="-38100"/>
              <a:ext cx="87079" cy="2870822"/>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6723937" y="-234246"/>
            <a:ext cx="330630" cy="10755493"/>
            <a:chOff x="0" y="0"/>
            <a:chExt cx="87079" cy="2832722"/>
          </a:xfrm>
        </p:grpSpPr>
        <p:sp>
          <p:nvSpPr>
            <p:cNvPr name="Freeform 7" id="7"/>
            <p:cNvSpPr/>
            <p:nvPr/>
          </p:nvSpPr>
          <p:spPr>
            <a:xfrm flipH="false" flipV="false" rot="0">
              <a:off x="0" y="0"/>
              <a:ext cx="87079" cy="2832722"/>
            </a:xfrm>
            <a:custGeom>
              <a:avLst/>
              <a:gdLst/>
              <a:ahLst/>
              <a:cxnLst/>
              <a:rect r="r" b="b" t="t" l="l"/>
              <a:pathLst>
                <a:path h="2832722" w="87079">
                  <a:moveTo>
                    <a:pt x="0" y="0"/>
                  </a:moveTo>
                  <a:lnTo>
                    <a:pt x="87079" y="0"/>
                  </a:lnTo>
                  <a:lnTo>
                    <a:pt x="87079" y="2832722"/>
                  </a:lnTo>
                  <a:lnTo>
                    <a:pt x="0" y="2832722"/>
                  </a:lnTo>
                  <a:close/>
                </a:path>
              </a:pathLst>
            </a:custGeom>
            <a:solidFill>
              <a:srgbClr val="002254"/>
            </a:solidFill>
          </p:spPr>
        </p:sp>
        <p:sp>
          <p:nvSpPr>
            <p:cNvPr name="TextBox 8" id="8"/>
            <p:cNvSpPr txBox="true"/>
            <p:nvPr/>
          </p:nvSpPr>
          <p:spPr>
            <a:xfrm>
              <a:off x="0" y="-38100"/>
              <a:ext cx="87079" cy="2870822"/>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028700" y="3758565"/>
            <a:ext cx="13218650" cy="3036570"/>
          </a:xfrm>
          <a:prstGeom prst="rect">
            <a:avLst/>
          </a:prstGeom>
        </p:spPr>
        <p:txBody>
          <a:bodyPr anchor="t" rtlCol="false" tIns="0" lIns="0" bIns="0" rIns="0">
            <a:spAutoFit/>
          </a:bodyPr>
          <a:lstStyle/>
          <a:p>
            <a:pPr algn="l">
              <a:lnSpc>
                <a:spcPts val="11640"/>
              </a:lnSpc>
            </a:pPr>
            <a:r>
              <a:rPr lang="en-US" sz="12000" b="true">
                <a:solidFill>
                  <a:srgbClr val="002254"/>
                </a:solidFill>
                <a:latin typeface="Montserrat Ultra-Bold"/>
                <a:ea typeface="Montserrat Ultra-Bold"/>
                <a:cs typeface="Montserrat Ultra-Bold"/>
                <a:sym typeface="Montserrat Ultra-Bold"/>
              </a:rPr>
              <a:t>RESULTS &amp;</a:t>
            </a:r>
          </a:p>
          <a:p>
            <a:pPr algn="l">
              <a:lnSpc>
                <a:spcPts val="11640"/>
              </a:lnSpc>
            </a:pPr>
            <a:r>
              <a:rPr lang="en-US" sz="12000" b="true">
                <a:solidFill>
                  <a:srgbClr val="002254"/>
                </a:solidFill>
                <a:latin typeface="Montserrat Ultra-Bold"/>
                <a:ea typeface="Montserrat Ultra-Bold"/>
                <a:cs typeface="Montserrat Ultra-Bold"/>
                <a:sym typeface="Montserrat Ultra-Bold"/>
              </a:rPr>
              <a:t>DISCUSSION</a:t>
            </a:r>
          </a:p>
        </p:txBody>
      </p:sp>
      <p:sp>
        <p:nvSpPr>
          <p:cNvPr name="Freeform 10" id="10"/>
          <p:cNvSpPr/>
          <p:nvPr/>
        </p:nvSpPr>
        <p:spPr>
          <a:xfrm flipH="false" flipV="false" rot="0">
            <a:off x="692764" y="400218"/>
            <a:ext cx="963762" cy="963762"/>
          </a:xfrm>
          <a:custGeom>
            <a:avLst/>
            <a:gdLst/>
            <a:ahLst/>
            <a:cxnLst/>
            <a:rect r="r" b="b" t="t" l="l"/>
            <a:pathLst>
              <a:path h="963762" w="963762">
                <a:moveTo>
                  <a:pt x="0" y="0"/>
                </a:moveTo>
                <a:lnTo>
                  <a:pt x="963761" y="0"/>
                </a:lnTo>
                <a:lnTo>
                  <a:pt x="963761" y="963762"/>
                </a:lnTo>
                <a:lnTo>
                  <a:pt x="0" y="963762"/>
                </a:lnTo>
                <a:lnTo>
                  <a:pt x="0" y="0"/>
                </a:lnTo>
                <a:close/>
              </a:path>
            </a:pathLst>
          </a:custGeom>
          <a:blipFill>
            <a:blip r:embed="rId3"/>
            <a:stretch>
              <a:fillRect l="0" t="0" r="0" b="0"/>
            </a:stretch>
          </a:blipFill>
        </p:spPr>
      </p:sp>
      <p:sp>
        <p:nvSpPr>
          <p:cNvPr name="TextBox 11" id="11"/>
          <p:cNvSpPr txBox="true"/>
          <p:nvPr/>
        </p:nvSpPr>
        <p:spPr>
          <a:xfrm rot="0">
            <a:off x="1864064" y="681990"/>
            <a:ext cx="3686274" cy="346710"/>
          </a:xfrm>
          <a:prstGeom prst="rect">
            <a:avLst/>
          </a:prstGeom>
        </p:spPr>
        <p:txBody>
          <a:bodyPr anchor="t" rtlCol="false" tIns="0" lIns="0" bIns="0" rIns="0">
            <a:spAutoFit/>
          </a:bodyPr>
          <a:lstStyle/>
          <a:p>
            <a:pPr algn="ctr">
              <a:lnSpc>
                <a:spcPts val="2400"/>
              </a:lnSpc>
              <a:spcBef>
                <a:spcPct val="0"/>
              </a:spcBef>
            </a:pPr>
            <a:r>
              <a:rPr lang="en-US" b="true" sz="2400">
                <a:solidFill>
                  <a:srgbClr val="0B3454"/>
                </a:solidFill>
                <a:latin typeface="Poppins Semi-Bold"/>
                <a:ea typeface="Poppins Semi-Bold"/>
                <a:cs typeface="Poppins Semi-Bold"/>
                <a:sym typeface="Poppins Semi-Bold"/>
              </a:rPr>
              <a:t>INSTITUT TEKNOLOGI DEL</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9259" t="0" r="-9259" b="0"/>
            </a:stretch>
          </a:blipFill>
        </p:spPr>
      </p:sp>
      <p:grpSp>
        <p:nvGrpSpPr>
          <p:cNvPr name="Group 3" id="3"/>
          <p:cNvGrpSpPr/>
          <p:nvPr/>
        </p:nvGrpSpPr>
        <p:grpSpPr>
          <a:xfrm rot="0">
            <a:off x="17398178" y="-234246"/>
            <a:ext cx="330630" cy="10755493"/>
            <a:chOff x="0" y="0"/>
            <a:chExt cx="87079" cy="2832722"/>
          </a:xfrm>
        </p:grpSpPr>
        <p:sp>
          <p:nvSpPr>
            <p:cNvPr name="Freeform 4" id="4"/>
            <p:cNvSpPr/>
            <p:nvPr/>
          </p:nvSpPr>
          <p:spPr>
            <a:xfrm flipH="false" flipV="false" rot="0">
              <a:off x="0" y="0"/>
              <a:ext cx="87079" cy="2832722"/>
            </a:xfrm>
            <a:custGeom>
              <a:avLst/>
              <a:gdLst/>
              <a:ahLst/>
              <a:cxnLst/>
              <a:rect r="r" b="b" t="t" l="l"/>
              <a:pathLst>
                <a:path h="2832722" w="87079">
                  <a:moveTo>
                    <a:pt x="0" y="0"/>
                  </a:moveTo>
                  <a:lnTo>
                    <a:pt x="87079" y="0"/>
                  </a:lnTo>
                  <a:lnTo>
                    <a:pt x="87079" y="2832722"/>
                  </a:lnTo>
                  <a:lnTo>
                    <a:pt x="0" y="2832722"/>
                  </a:lnTo>
                  <a:close/>
                </a:path>
              </a:pathLst>
            </a:custGeom>
            <a:solidFill>
              <a:srgbClr val="002254"/>
            </a:solidFill>
          </p:spPr>
        </p:sp>
        <p:sp>
          <p:nvSpPr>
            <p:cNvPr name="TextBox 5" id="5"/>
            <p:cNvSpPr txBox="true"/>
            <p:nvPr/>
          </p:nvSpPr>
          <p:spPr>
            <a:xfrm>
              <a:off x="0" y="-38100"/>
              <a:ext cx="87079" cy="2870822"/>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6723937" y="-234246"/>
            <a:ext cx="330630" cy="10755493"/>
            <a:chOff x="0" y="0"/>
            <a:chExt cx="87079" cy="2832722"/>
          </a:xfrm>
        </p:grpSpPr>
        <p:sp>
          <p:nvSpPr>
            <p:cNvPr name="Freeform 7" id="7"/>
            <p:cNvSpPr/>
            <p:nvPr/>
          </p:nvSpPr>
          <p:spPr>
            <a:xfrm flipH="false" flipV="false" rot="0">
              <a:off x="0" y="0"/>
              <a:ext cx="87079" cy="2832722"/>
            </a:xfrm>
            <a:custGeom>
              <a:avLst/>
              <a:gdLst/>
              <a:ahLst/>
              <a:cxnLst/>
              <a:rect r="r" b="b" t="t" l="l"/>
              <a:pathLst>
                <a:path h="2832722" w="87079">
                  <a:moveTo>
                    <a:pt x="0" y="0"/>
                  </a:moveTo>
                  <a:lnTo>
                    <a:pt x="87079" y="0"/>
                  </a:lnTo>
                  <a:lnTo>
                    <a:pt x="87079" y="2832722"/>
                  </a:lnTo>
                  <a:lnTo>
                    <a:pt x="0" y="2832722"/>
                  </a:lnTo>
                  <a:close/>
                </a:path>
              </a:pathLst>
            </a:custGeom>
            <a:solidFill>
              <a:srgbClr val="002254"/>
            </a:solidFill>
          </p:spPr>
        </p:sp>
        <p:sp>
          <p:nvSpPr>
            <p:cNvPr name="TextBox 8" id="8"/>
            <p:cNvSpPr txBox="true"/>
            <p:nvPr/>
          </p:nvSpPr>
          <p:spPr>
            <a:xfrm>
              <a:off x="0" y="-38100"/>
              <a:ext cx="87079" cy="2870822"/>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692764" y="400218"/>
            <a:ext cx="963762" cy="963762"/>
          </a:xfrm>
          <a:custGeom>
            <a:avLst/>
            <a:gdLst/>
            <a:ahLst/>
            <a:cxnLst/>
            <a:rect r="r" b="b" t="t" l="l"/>
            <a:pathLst>
              <a:path h="963762" w="963762">
                <a:moveTo>
                  <a:pt x="0" y="0"/>
                </a:moveTo>
                <a:lnTo>
                  <a:pt x="963761" y="0"/>
                </a:lnTo>
                <a:lnTo>
                  <a:pt x="963761" y="963762"/>
                </a:lnTo>
                <a:lnTo>
                  <a:pt x="0" y="963762"/>
                </a:lnTo>
                <a:lnTo>
                  <a:pt x="0" y="0"/>
                </a:lnTo>
                <a:close/>
              </a:path>
            </a:pathLst>
          </a:custGeom>
          <a:blipFill>
            <a:blip r:embed="rId3"/>
            <a:stretch>
              <a:fillRect l="0" t="0" r="0" b="0"/>
            </a:stretch>
          </a:blipFill>
        </p:spPr>
      </p:sp>
      <p:sp>
        <p:nvSpPr>
          <p:cNvPr name="Freeform 10" id="10"/>
          <p:cNvSpPr/>
          <p:nvPr/>
        </p:nvSpPr>
        <p:spPr>
          <a:xfrm flipH="false" flipV="false" rot="0">
            <a:off x="2781968" y="3002350"/>
            <a:ext cx="11676287" cy="6845223"/>
          </a:xfrm>
          <a:custGeom>
            <a:avLst/>
            <a:gdLst/>
            <a:ahLst/>
            <a:cxnLst/>
            <a:rect r="r" b="b" t="t" l="l"/>
            <a:pathLst>
              <a:path h="6845223" w="11676287">
                <a:moveTo>
                  <a:pt x="0" y="0"/>
                </a:moveTo>
                <a:lnTo>
                  <a:pt x="11676287" y="0"/>
                </a:lnTo>
                <a:lnTo>
                  <a:pt x="11676287" y="6845224"/>
                </a:lnTo>
                <a:lnTo>
                  <a:pt x="0" y="6845224"/>
                </a:lnTo>
                <a:lnTo>
                  <a:pt x="0" y="0"/>
                </a:lnTo>
                <a:close/>
              </a:path>
            </a:pathLst>
          </a:custGeom>
          <a:blipFill>
            <a:blip r:embed="rId4"/>
            <a:stretch>
              <a:fillRect l="0" t="0" r="0" b="0"/>
            </a:stretch>
          </a:blipFill>
        </p:spPr>
      </p:sp>
      <p:sp>
        <p:nvSpPr>
          <p:cNvPr name="TextBox 11" id="11"/>
          <p:cNvSpPr txBox="true"/>
          <p:nvPr/>
        </p:nvSpPr>
        <p:spPr>
          <a:xfrm rot="0">
            <a:off x="1864064" y="681990"/>
            <a:ext cx="3686274" cy="346710"/>
          </a:xfrm>
          <a:prstGeom prst="rect">
            <a:avLst/>
          </a:prstGeom>
        </p:spPr>
        <p:txBody>
          <a:bodyPr anchor="t" rtlCol="false" tIns="0" lIns="0" bIns="0" rIns="0">
            <a:spAutoFit/>
          </a:bodyPr>
          <a:lstStyle/>
          <a:p>
            <a:pPr algn="ctr">
              <a:lnSpc>
                <a:spcPts val="2400"/>
              </a:lnSpc>
              <a:spcBef>
                <a:spcPct val="0"/>
              </a:spcBef>
            </a:pPr>
            <a:r>
              <a:rPr lang="en-US" b="true" sz="2400">
                <a:solidFill>
                  <a:srgbClr val="0B3454"/>
                </a:solidFill>
                <a:latin typeface="Poppins Semi-Bold"/>
                <a:ea typeface="Poppins Semi-Bold"/>
                <a:cs typeface="Poppins Semi-Bold"/>
                <a:sym typeface="Poppins Semi-Bold"/>
              </a:rPr>
              <a:t>INSTITUT TEKNOLOGI DEL</a:t>
            </a:r>
          </a:p>
        </p:txBody>
      </p:sp>
      <p:sp>
        <p:nvSpPr>
          <p:cNvPr name="TextBox 12" id="12"/>
          <p:cNvSpPr txBox="true"/>
          <p:nvPr/>
        </p:nvSpPr>
        <p:spPr>
          <a:xfrm rot="0">
            <a:off x="2734343" y="1414298"/>
            <a:ext cx="11629283" cy="1287144"/>
          </a:xfrm>
          <a:prstGeom prst="rect">
            <a:avLst/>
          </a:prstGeom>
        </p:spPr>
        <p:txBody>
          <a:bodyPr anchor="t" rtlCol="false" tIns="0" lIns="0" bIns="0" rIns="0">
            <a:spAutoFit/>
          </a:bodyPr>
          <a:lstStyle/>
          <a:p>
            <a:pPr algn="l">
              <a:lnSpc>
                <a:spcPts val="5180"/>
              </a:lnSpc>
            </a:pPr>
            <a:r>
              <a:rPr lang="en-US" sz="3700" b="true">
                <a:solidFill>
                  <a:srgbClr val="002254"/>
                </a:solidFill>
                <a:latin typeface="Montserrat Ultra-Bold"/>
                <a:ea typeface="Montserrat Ultra-Bold"/>
                <a:cs typeface="Montserrat Ultra-Bold"/>
                <a:sym typeface="Montserrat Ultra-Bold"/>
              </a:rPr>
              <a:t>Comparison Results of The Performance of All Models on The Test Data</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9259" t="0" r="-9259" b="0"/>
            </a:stretch>
          </a:blipFill>
        </p:spPr>
      </p:sp>
      <p:sp>
        <p:nvSpPr>
          <p:cNvPr name="TextBox 3" id="3"/>
          <p:cNvSpPr txBox="true"/>
          <p:nvPr/>
        </p:nvSpPr>
        <p:spPr>
          <a:xfrm rot="0">
            <a:off x="1482461" y="1107617"/>
            <a:ext cx="15323078" cy="1694815"/>
          </a:xfrm>
          <a:prstGeom prst="rect">
            <a:avLst/>
          </a:prstGeom>
        </p:spPr>
        <p:txBody>
          <a:bodyPr anchor="t" rtlCol="false" tIns="0" lIns="0" bIns="0" rIns="0">
            <a:spAutoFit/>
          </a:bodyPr>
          <a:lstStyle/>
          <a:p>
            <a:pPr algn="ctr">
              <a:lnSpc>
                <a:spcPts val="6860"/>
              </a:lnSpc>
            </a:pPr>
            <a:r>
              <a:rPr lang="en-US" sz="4900" b="true">
                <a:solidFill>
                  <a:srgbClr val="002254"/>
                </a:solidFill>
                <a:latin typeface="Montserrat Ultra-Bold"/>
                <a:ea typeface="Montserrat Ultra-Bold"/>
                <a:cs typeface="Montserrat Ultra-Bold"/>
                <a:sym typeface="Montserrat Ultra-Bold"/>
              </a:rPr>
              <a:t>SHAP (SHapley Additive exPlanations) Interpretation</a:t>
            </a:r>
          </a:p>
        </p:txBody>
      </p:sp>
      <p:sp>
        <p:nvSpPr>
          <p:cNvPr name="Freeform 4" id="4"/>
          <p:cNvSpPr/>
          <p:nvPr/>
        </p:nvSpPr>
        <p:spPr>
          <a:xfrm flipH="false" flipV="false" rot="0">
            <a:off x="692764" y="400218"/>
            <a:ext cx="963762" cy="963762"/>
          </a:xfrm>
          <a:custGeom>
            <a:avLst/>
            <a:gdLst/>
            <a:ahLst/>
            <a:cxnLst/>
            <a:rect r="r" b="b" t="t" l="l"/>
            <a:pathLst>
              <a:path h="963762" w="963762">
                <a:moveTo>
                  <a:pt x="0" y="0"/>
                </a:moveTo>
                <a:lnTo>
                  <a:pt x="963761" y="0"/>
                </a:lnTo>
                <a:lnTo>
                  <a:pt x="963761" y="963762"/>
                </a:lnTo>
                <a:lnTo>
                  <a:pt x="0" y="963762"/>
                </a:lnTo>
                <a:lnTo>
                  <a:pt x="0" y="0"/>
                </a:lnTo>
                <a:close/>
              </a:path>
            </a:pathLst>
          </a:custGeom>
          <a:blipFill>
            <a:blip r:embed="rId3"/>
            <a:stretch>
              <a:fillRect l="0" t="0" r="0" b="0"/>
            </a:stretch>
          </a:blipFill>
        </p:spPr>
      </p:sp>
      <p:sp>
        <p:nvSpPr>
          <p:cNvPr name="TextBox 5" id="5"/>
          <p:cNvSpPr txBox="true"/>
          <p:nvPr/>
        </p:nvSpPr>
        <p:spPr>
          <a:xfrm rot="0">
            <a:off x="1864064" y="681990"/>
            <a:ext cx="3686274" cy="346710"/>
          </a:xfrm>
          <a:prstGeom prst="rect">
            <a:avLst/>
          </a:prstGeom>
        </p:spPr>
        <p:txBody>
          <a:bodyPr anchor="t" rtlCol="false" tIns="0" lIns="0" bIns="0" rIns="0">
            <a:spAutoFit/>
          </a:bodyPr>
          <a:lstStyle/>
          <a:p>
            <a:pPr algn="ctr">
              <a:lnSpc>
                <a:spcPts val="2400"/>
              </a:lnSpc>
              <a:spcBef>
                <a:spcPct val="0"/>
              </a:spcBef>
            </a:pPr>
            <a:r>
              <a:rPr lang="en-US" b="true" sz="2400">
                <a:solidFill>
                  <a:srgbClr val="0B3454"/>
                </a:solidFill>
                <a:latin typeface="Poppins Semi-Bold"/>
                <a:ea typeface="Poppins Semi-Bold"/>
                <a:cs typeface="Poppins Semi-Bold"/>
                <a:sym typeface="Poppins Semi-Bold"/>
              </a:rPr>
              <a:t>INSTITUT TEKNOLOGI DEL</a:t>
            </a:r>
          </a:p>
        </p:txBody>
      </p:sp>
      <p:graphicFrame>
        <p:nvGraphicFramePr>
          <p:cNvPr name="Table 6" id="6"/>
          <p:cNvGraphicFramePr>
            <a:graphicFrameLocks noGrp="true"/>
          </p:cNvGraphicFramePr>
          <p:nvPr/>
        </p:nvGraphicFramePr>
        <p:xfrm>
          <a:off x="3235844" y="3144751"/>
          <a:ext cx="11816312" cy="6113549"/>
        </p:xfrm>
        <a:graphic>
          <a:graphicData uri="http://schemas.openxmlformats.org/drawingml/2006/table">
            <a:tbl>
              <a:tblPr/>
              <a:tblGrid>
                <a:gridCol w="1918404"/>
                <a:gridCol w="3055808"/>
                <a:gridCol w="3510964"/>
                <a:gridCol w="3331136"/>
              </a:tblGrid>
              <a:tr h="501614">
                <a:tc>
                  <a:txBody>
                    <a:bodyPr anchor="t" rtlCol="false"/>
                    <a:lstStyle/>
                    <a:p>
                      <a:pPr algn="ctr">
                        <a:lnSpc>
                          <a:spcPts val="2799"/>
                        </a:lnSpc>
                        <a:defRPr/>
                      </a:pPr>
                      <a:r>
                        <a:rPr lang="en-US" sz="1999" b="true">
                          <a:solidFill>
                            <a:srgbClr val="000000"/>
                          </a:solidFill>
                          <a:latin typeface="Montserrat Bold"/>
                          <a:ea typeface="Montserrat Bold"/>
                          <a:cs typeface="Montserrat Bold"/>
                          <a:sym typeface="Montserrat Bold"/>
                        </a:rPr>
                        <a:t>Rank</a:t>
                      </a:r>
                      <a:endParaRPr lang="en-US" sz="1100"/>
                    </a:p>
                  </a:txBody>
                  <a:tcPr marL="0" marR="0" marT="0" marB="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99ACFF"/>
                    </a:solidFill>
                  </a:tcPr>
                </a:tc>
                <a:tc>
                  <a:txBody>
                    <a:bodyPr anchor="t" rtlCol="false"/>
                    <a:lstStyle/>
                    <a:p>
                      <a:pPr algn="ctr">
                        <a:lnSpc>
                          <a:spcPts val="2799"/>
                        </a:lnSpc>
                        <a:defRPr/>
                      </a:pPr>
                      <a:r>
                        <a:rPr lang="en-US" sz="1999" b="true">
                          <a:solidFill>
                            <a:srgbClr val="000000"/>
                          </a:solidFill>
                          <a:latin typeface="Montserrat Bold"/>
                          <a:ea typeface="Montserrat Bold"/>
                          <a:cs typeface="Montserrat Bold"/>
                          <a:sym typeface="Montserrat Bold"/>
                        </a:rPr>
                        <a:t>Random Forest</a:t>
                      </a:r>
                      <a:endParaRPr lang="en-US" sz="1100"/>
                    </a:p>
                  </a:txBody>
                  <a:tcPr marL="0" marR="0" marT="0" marB="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99ACFF"/>
                    </a:solidFill>
                  </a:tcPr>
                </a:tc>
                <a:tc>
                  <a:txBody>
                    <a:bodyPr anchor="t" rtlCol="false"/>
                    <a:lstStyle/>
                    <a:p>
                      <a:pPr algn="ctr">
                        <a:lnSpc>
                          <a:spcPts val="2799"/>
                        </a:lnSpc>
                        <a:defRPr/>
                      </a:pPr>
                      <a:r>
                        <a:rPr lang="en-US" sz="1999" b="true">
                          <a:solidFill>
                            <a:srgbClr val="000000"/>
                          </a:solidFill>
                          <a:latin typeface="Montserrat Bold"/>
                          <a:ea typeface="Montserrat Bold"/>
                          <a:cs typeface="Montserrat Bold"/>
                          <a:sym typeface="Montserrat Bold"/>
                        </a:rPr>
                        <a:t>XGBoost</a:t>
                      </a:r>
                      <a:endParaRPr lang="en-US" sz="1100"/>
                    </a:p>
                  </a:txBody>
                  <a:tcPr marL="0" marR="0" marT="0" marB="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99ACFF"/>
                    </a:solidFill>
                  </a:tcPr>
                </a:tc>
                <a:tc>
                  <a:txBody>
                    <a:bodyPr anchor="t" rtlCol="false"/>
                    <a:lstStyle/>
                    <a:p>
                      <a:pPr algn="ctr">
                        <a:lnSpc>
                          <a:spcPts val="2799"/>
                        </a:lnSpc>
                        <a:defRPr/>
                      </a:pPr>
                      <a:r>
                        <a:rPr lang="en-US" sz="1999" b="true">
                          <a:solidFill>
                            <a:srgbClr val="000000"/>
                          </a:solidFill>
                          <a:latin typeface="Montserrat Bold"/>
                          <a:ea typeface="Montserrat Bold"/>
                          <a:cs typeface="Montserrat Bold"/>
                          <a:sym typeface="Montserrat Bold"/>
                        </a:rPr>
                        <a:t>Stacking</a:t>
                      </a:r>
                      <a:endParaRPr lang="en-US" sz="1100"/>
                    </a:p>
                  </a:txBody>
                  <a:tcPr marL="0" marR="0" marT="0" marB="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99ACFF"/>
                    </a:solidFill>
                  </a:tcPr>
                </a:tc>
              </a:tr>
              <a:tr h="1122387">
                <a:tc>
                  <a:txBody>
                    <a:bodyPr anchor="t" rtlCol="false"/>
                    <a:lstStyle/>
                    <a:p>
                      <a:pPr algn="ctr">
                        <a:lnSpc>
                          <a:spcPts val="2799"/>
                        </a:lnSpc>
                        <a:defRPr/>
                      </a:pPr>
                      <a:r>
                        <a:rPr lang="en-US" sz="1999" b="true">
                          <a:solidFill>
                            <a:srgbClr val="000000"/>
                          </a:solidFill>
                          <a:latin typeface="Montserrat Bold"/>
                          <a:ea typeface="Montserrat Bold"/>
                          <a:cs typeface="Montserrat Bold"/>
                          <a:sym typeface="Montserrat Bold"/>
                        </a:rPr>
                        <a:t>0</a:t>
                      </a:r>
                      <a:endParaRPr lang="en-US" sz="1100"/>
                    </a:p>
                  </a:txBody>
                  <a:tcPr marL="0" marR="0" marT="0" marB="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c>
                  <a:txBody>
                    <a:bodyPr anchor="t" rtlCol="false"/>
                    <a:lstStyle/>
                    <a:p>
                      <a:pPr algn="ctr">
                        <a:lnSpc>
                          <a:spcPts val="2799"/>
                        </a:lnSpc>
                        <a:defRPr/>
                      </a:pPr>
                      <a:r>
                        <a:rPr lang="en-US" sz="1999">
                          <a:solidFill>
                            <a:srgbClr val="000000"/>
                          </a:solidFill>
                          <a:latin typeface="Montserrat"/>
                          <a:ea typeface="Montserrat"/>
                          <a:cs typeface="Montserrat"/>
                          <a:sym typeface="Montserrat"/>
                        </a:rPr>
                        <a:t>Google_index</a:t>
                      </a:r>
                      <a:endParaRPr lang="en-US" sz="1100"/>
                    </a:p>
                    <a:p>
                      <a:pPr algn="ctr">
                        <a:lnSpc>
                          <a:spcPts val="2799"/>
                        </a:lnSpc>
                      </a:pPr>
                      <a:r>
                        <a:rPr lang="en-US" sz="1999">
                          <a:solidFill>
                            <a:srgbClr val="000000"/>
                          </a:solidFill>
                          <a:latin typeface="Montserrat"/>
                          <a:ea typeface="Montserrat"/>
                          <a:cs typeface="Montserrat"/>
                          <a:sym typeface="Montserrat"/>
                        </a:rPr>
                        <a:t>0.0888</a:t>
                      </a:r>
                    </a:p>
                  </a:txBody>
                  <a:tcPr marL="0" marR="0" marT="0" marB="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2799"/>
                        </a:lnSpc>
                        <a:defRPr/>
                      </a:pPr>
                      <a:r>
                        <a:rPr lang="en-US" sz="1999">
                          <a:solidFill>
                            <a:srgbClr val="000000"/>
                          </a:solidFill>
                          <a:latin typeface="Montserrat"/>
                          <a:ea typeface="Montserrat"/>
                          <a:cs typeface="Montserrat"/>
                          <a:sym typeface="Montserrat"/>
                        </a:rPr>
                        <a:t>page_rank</a:t>
                      </a:r>
                      <a:endParaRPr lang="en-US" sz="1100"/>
                    </a:p>
                    <a:p>
                      <a:pPr algn="ctr">
                        <a:lnSpc>
                          <a:spcPts val="2799"/>
                        </a:lnSpc>
                      </a:pPr>
                      <a:r>
                        <a:rPr lang="en-US" sz="1999">
                          <a:solidFill>
                            <a:srgbClr val="000000"/>
                          </a:solidFill>
                          <a:latin typeface="Montserrat"/>
                          <a:ea typeface="Montserrat"/>
                          <a:cs typeface="Montserrat"/>
                          <a:sym typeface="Montserrat"/>
                        </a:rPr>
                        <a:t>1.5294</a:t>
                      </a:r>
                    </a:p>
                    <a:p>
                      <a:pPr algn="ctr">
                        <a:lnSpc>
                          <a:spcPts val="2799"/>
                        </a:lnSpc>
                      </a:pPr>
                    </a:p>
                  </a:txBody>
                  <a:tcPr marL="0" marR="0" marT="0" marB="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2799"/>
                        </a:lnSpc>
                        <a:defRPr/>
                      </a:pPr>
                      <a:r>
                        <a:rPr lang="en-US" sz="1999">
                          <a:solidFill>
                            <a:srgbClr val="000000"/>
                          </a:solidFill>
                          <a:latin typeface="Montserrat"/>
                          <a:ea typeface="Montserrat"/>
                          <a:cs typeface="Montserrat"/>
                          <a:sym typeface="Montserrat"/>
                        </a:rPr>
                        <a:t>page_rank</a:t>
                      </a:r>
                      <a:endParaRPr lang="en-US" sz="1100"/>
                    </a:p>
                    <a:p>
                      <a:pPr algn="ctr">
                        <a:lnSpc>
                          <a:spcPts val="2799"/>
                        </a:lnSpc>
                      </a:pPr>
                      <a:r>
                        <a:rPr lang="en-US" sz="1999">
                          <a:solidFill>
                            <a:srgbClr val="000000"/>
                          </a:solidFill>
                          <a:latin typeface="Montserrat"/>
                          <a:ea typeface="Montserrat"/>
                          <a:cs typeface="Montserrat"/>
                          <a:sym typeface="Montserrat"/>
                        </a:rPr>
                        <a:t>0</a:t>
                      </a:r>
                      <a:r>
                        <a:rPr lang="en-US" sz="1999">
                          <a:solidFill>
                            <a:srgbClr val="000000"/>
                          </a:solidFill>
                          <a:latin typeface="Montserrat"/>
                          <a:ea typeface="Montserrat"/>
                          <a:cs typeface="Montserrat"/>
                          <a:sym typeface="Montserrat"/>
                        </a:rPr>
                        <a:t>.1095</a:t>
                      </a:r>
                    </a:p>
                    <a:p>
                      <a:pPr algn="ctr">
                        <a:lnSpc>
                          <a:spcPts val="2799"/>
                        </a:lnSpc>
                      </a:pPr>
                    </a:p>
                  </a:txBody>
                  <a:tcPr marL="0" marR="0" marT="0" marB="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r>
              <a:tr h="1122387">
                <a:tc>
                  <a:txBody>
                    <a:bodyPr anchor="t" rtlCol="false"/>
                    <a:lstStyle/>
                    <a:p>
                      <a:pPr algn="ctr">
                        <a:lnSpc>
                          <a:spcPts val="2799"/>
                        </a:lnSpc>
                        <a:defRPr/>
                      </a:pPr>
                      <a:r>
                        <a:rPr lang="en-US" sz="1999" b="true">
                          <a:solidFill>
                            <a:srgbClr val="000000"/>
                          </a:solidFill>
                          <a:latin typeface="Montserrat Bold"/>
                          <a:ea typeface="Montserrat Bold"/>
                          <a:cs typeface="Montserrat Bold"/>
                          <a:sym typeface="Montserrat Bold"/>
                        </a:rPr>
                        <a:t>1</a:t>
                      </a:r>
                      <a:endParaRPr lang="en-US" sz="1100"/>
                    </a:p>
                  </a:txBody>
                  <a:tcPr marL="0" marR="0" marT="0" marB="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c>
                  <a:txBody>
                    <a:bodyPr anchor="t" rtlCol="false"/>
                    <a:lstStyle/>
                    <a:p>
                      <a:pPr algn="ctr">
                        <a:lnSpc>
                          <a:spcPts val="2799"/>
                        </a:lnSpc>
                        <a:defRPr/>
                      </a:pPr>
                      <a:r>
                        <a:rPr lang="en-US" sz="1999">
                          <a:solidFill>
                            <a:srgbClr val="000000"/>
                          </a:solidFill>
                          <a:latin typeface="Montserrat"/>
                          <a:ea typeface="Montserrat"/>
                          <a:cs typeface="Montserrat"/>
                          <a:sym typeface="Montserrat"/>
                        </a:rPr>
                        <a:t>page_rank</a:t>
                      </a:r>
                      <a:endParaRPr lang="en-US" sz="1100"/>
                    </a:p>
                    <a:p>
                      <a:pPr algn="ctr">
                        <a:lnSpc>
                          <a:spcPts val="2799"/>
                        </a:lnSpc>
                      </a:pPr>
                      <a:r>
                        <a:rPr lang="en-US" sz="1999">
                          <a:solidFill>
                            <a:srgbClr val="000000"/>
                          </a:solidFill>
                          <a:latin typeface="Montserrat"/>
                          <a:ea typeface="Montserrat"/>
                          <a:cs typeface="Montserrat"/>
                          <a:sym typeface="Montserrat"/>
                        </a:rPr>
                        <a:t>0.0749</a:t>
                      </a:r>
                    </a:p>
                    <a:p>
                      <a:pPr algn="ctr">
                        <a:lnSpc>
                          <a:spcPts val="2799"/>
                        </a:lnSpc>
                      </a:pPr>
                    </a:p>
                  </a:txBody>
                  <a:tcPr marL="0" marR="0" marT="0" marB="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2799"/>
                        </a:lnSpc>
                        <a:defRPr/>
                      </a:pPr>
                      <a:r>
                        <a:rPr lang="en-US" sz="1999">
                          <a:solidFill>
                            <a:srgbClr val="000000"/>
                          </a:solidFill>
                          <a:latin typeface="Montserrat"/>
                          <a:ea typeface="Montserrat"/>
                          <a:cs typeface="Montserrat"/>
                          <a:sym typeface="Montserrat"/>
                        </a:rPr>
                        <a:t>google_index</a:t>
                      </a:r>
                      <a:endParaRPr lang="en-US" sz="1100"/>
                    </a:p>
                    <a:p>
                      <a:pPr algn="ctr">
                        <a:lnSpc>
                          <a:spcPts val="2799"/>
                        </a:lnSpc>
                      </a:pPr>
                      <a:r>
                        <a:rPr lang="en-US" sz="1999">
                          <a:solidFill>
                            <a:srgbClr val="000000"/>
                          </a:solidFill>
                          <a:latin typeface="Montserrat"/>
                          <a:ea typeface="Montserrat"/>
                          <a:cs typeface="Montserrat"/>
                          <a:sym typeface="Montserrat"/>
                        </a:rPr>
                        <a:t>1.1084</a:t>
                      </a:r>
                    </a:p>
                    <a:p>
                      <a:pPr algn="ctr">
                        <a:lnSpc>
                          <a:spcPts val="2799"/>
                        </a:lnSpc>
                      </a:pPr>
                    </a:p>
                  </a:txBody>
                  <a:tcPr marL="0" marR="0" marT="0" marB="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2799"/>
                        </a:lnSpc>
                        <a:defRPr/>
                      </a:pPr>
                      <a:r>
                        <a:rPr lang="en-US" sz="1999">
                          <a:solidFill>
                            <a:srgbClr val="000000"/>
                          </a:solidFill>
                          <a:latin typeface="Montserrat"/>
                          <a:ea typeface="Montserrat"/>
                          <a:cs typeface="Montserrat"/>
                          <a:sym typeface="Montserrat"/>
                        </a:rPr>
                        <a:t>google_index</a:t>
                      </a:r>
                      <a:endParaRPr lang="en-US" sz="1100"/>
                    </a:p>
                    <a:p>
                      <a:pPr algn="ctr">
                        <a:lnSpc>
                          <a:spcPts val="2799"/>
                        </a:lnSpc>
                      </a:pPr>
                      <a:r>
                        <a:rPr lang="en-US" sz="1999">
                          <a:solidFill>
                            <a:srgbClr val="000000"/>
                          </a:solidFill>
                          <a:latin typeface="Montserrat"/>
                          <a:ea typeface="Montserrat"/>
                          <a:cs typeface="Montserrat"/>
                          <a:sym typeface="Montserrat"/>
                        </a:rPr>
                        <a:t>0</a:t>
                      </a:r>
                      <a:r>
                        <a:rPr lang="en-US" sz="1999">
                          <a:solidFill>
                            <a:srgbClr val="000000"/>
                          </a:solidFill>
                          <a:latin typeface="Montserrat"/>
                          <a:ea typeface="Montserrat"/>
                          <a:cs typeface="Montserrat"/>
                          <a:sym typeface="Montserrat"/>
                        </a:rPr>
                        <a:t>.0920</a:t>
                      </a:r>
                    </a:p>
                    <a:p>
                      <a:pPr algn="ctr">
                        <a:lnSpc>
                          <a:spcPts val="2799"/>
                        </a:lnSpc>
                      </a:pPr>
                    </a:p>
                  </a:txBody>
                  <a:tcPr marL="0" marR="0" marT="0" marB="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r>
              <a:tr h="1122387">
                <a:tc>
                  <a:txBody>
                    <a:bodyPr anchor="t" rtlCol="false"/>
                    <a:lstStyle/>
                    <a:p>
                      <a:pPr algn="ctr">
                        <a:lnSpc>
                          <a:spcPts val="2799"/>
                        </a:lnSpc>
                        <a:defRPr/>
                      </a:pPr>
                      <a:r>
                        <a:rPr lang="en-US" sz="1999" b="true">
                          <a:solidFill>
                            <a:srgbClr val="000000"/>
                          </a:solidFill>
                          <a:latin typeface="Montserrat Bold"/>
                          <a:ea typeface="Montserrat Bold"/>
                          <a:cs typeface="Montserrat Bold"/>
                          <a:sym typeface="Montserrat Bold"/>
                        </a:rPr>
                        <a:t>2</a:t>
                      </a:r>
                      <a:endParaRPr lang="en-US" sz="1100"/>
                    </a:p>
                  </a:txBody>
                  <a:tcPr marL="0" marR="0" marT="0" marB="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c>
                  <a:txBody>
                    <a:bodyPr anchor="t" rtlCol="false"/>
                    <a:lstStyle/>
                    <a:p>
                      <a:pPr algn="ctr">
                        <a:lnSpc>
                          <a:spcPts val="2799"/>
                        </a:lnSpc>
                        <a:defRPr/>
                      </a:pPr>
                      <a:r>
                        <a:rPr lang="en-US" sz="1999">
                          <a:solidFill>
                            <a:srgbClr val="000000"/>
                          </a:solidFill>
                          <a:latin typeface="Montserrat"/>
                          <a:ea typeface="Montserrat"/>
                          <a:cs typeface="Montserrat"/>
                          <a:sym typeface="Montserrat"/>
                        </a:rPr>
                        <a:t>nb_hyperlinks</a:t>
                      </a:r>
                      <a:endParaRPr lang="en-US" sz="1100"/>
                    </a:p>
                    <a:p>
                      <a:pPr algn="ctr">
                        <a:lnSpc>
                          <a:spcPts val="2799"/>
                        </a:lnSpc>
                      </a:pPr>
                      <a:r>
                        <a:rPr lang="en-US" sz="1999">
                          <a:solidFill>
                            <a:srgbClr val="000000"/>
                          </a:solidFill>
                          <a:latin typeface="Montserrat"/>
                          <a:ea typeface="Montserrat"/>
                          <a:cs typeface="Montserrat"/>
                          <a:sym typeface="Montserrat"/>
                        </a:rPr>
                        <a:t>0.0418</a:t>
                      </a:r>
                    </a:p>
                    <a:p>
                      <a:pPr algn="ctr">
                        <a:lnSpc>
                          <a:spcPts val="2799"/>
                        </a:lnSpc>
                      </a:pPr>
                    </a:p>
                  </a:txBody>
                  <a:tcPr marL="0" marR="0" marT="0" marB="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2799"/>
                        </a:lnSpc>
                        <a:defRPr/>
                      </a:pPr>
                      <a:r>
                        <a:rPr lang="en-US" sz="1999">
                          <a:solidFill>
                            <a:srgbClr val="000000"/>
                          </a:solidFill>
                          <a:latin typeface="Montserrat"/>
                          <a:ea typeface="Montserrat"/>
                          <a:cs typeface="Montserrat"/>
                          <a:sym typeface="Montserrat"/>
                        </a:rPr>
                        <a:t>nb_www</a:t>
                      </a:r>
                      <a:endParaRPr lang="en-US" sz="1100"/>
                    </a:p>
                    <a:p>
                      <a:pPr algn="ctr">
                        <a:lnSpc>
                          <a:spcPts val="2799"/>
                        </a:lnSpc>
                      </a:pPr>
                      <a:r>
                        <a:rPr lang="en-US" sz="1999">
                          <a:solidFill>
                            <a:srgbClr val="000000"/>
                          </a:solidFill>
                          <a:latin typeface="Montserrat"/>
                          <a:ea typeface="Montserrat"/>
                          <a:cs typeface="Montserrat"/>
                          <a:sym typeface="Montserrat"/>
                        </a:rPr>
                        <a:t>0.9198</a:t>
                      </a:r>
                    </a:p>
                    <a:p>
                      <a:pPr algn="ctr">
                        <a:lnSpc>
                          <a:spcPts val="2799"/>
                        </a:lnSpc>
                      </a:pPr>
                    </a:p>
                  </a:txBody>
                  <a:tcPr marL="0" marR="0" marT="0" marB="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2799"/>
                        </a:lnSpc>
                        <a:defRPr/>
                      </a:pPr>
                      <a:r>
                        <a:rPr lang="en-US" sz="1999">
                          <a:solidFill>
                            <a:srgbClr val="000000"/>
                          </a:solidFill>
                          <a:latin typeface="Montserrat"/>
                          <a:ea typeface="Montserrat"/>
                          <a:cs typeface="Montserrat"/>
                          <a:sym typeface="Montserrat"/>
                        </a:rPr>
                        <a:t>nb_hyperlinks</a:t>
                      </a:r>
                      <a:endParaRPr lang="en-US" sz="1100"/>
                    </a:p>
                    <a:p>
                      <a:pPr algn="ctr">
                        <a:lnSpc>
                          <a:spcPts val="2799"/>
                        </a:lnSpc>
                      </a:pPr>
                      <a:r>
                        <a:rPr lang="en-US" sz="1999">
                          <a:solidFill>
                            <a:srgbClr val="000000"/>
                          </a:solidFill>
                          <a:latin typeface="Montserrat"/>
                          <a:ea typeface="Montserrat"/>
                          <a:cs typeface="Montserrat"/>
                          <a:sym typeface="Montserrat"/>
                        </a:rPr>
                        <a:t>0.046</a:t>
                      </a:r>
                      <a:r>
                        <a:rPr lang="en-US" sz="1999">
                          <a:solidFill>
                            <a:srgbClr val="000000"/>
                          </a:solidFill>
                          <a:latin typeface="Montserrat"/>
                          <a:ea typeface="Montserrat"/>
                          <a:cs typeface="Montserrat"/>
                          <a:sym typeface="Montserrat"/>
                        </a:rPr>
                        <a:t>8</a:t>
                      </a:r>
                    </a:p>
                    <a:p>
                      <a:pPr algn="ctr">
                        <a:lnSpc>
                          <a:spcPts val="2799"/>
                        </a:lnSpc>
                      </a:pPr>
                    </a:p>
                  </a:txBody>
                  <a:tcPr marL="0" marR="0" marT="0" marB="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r>
              <a:tr h="1122387">
                <a:tc>
                  <a:txBody>
                    <a:bodyPr anchor="t" rtlCol="false"/>
                    <a:lstStyle/>
                    <a:p>
                      <a:pPr algn="ctr">
                        <a:lnSpc>
                          <a:spcPts val="2799"/>
                        </a:lnSpc>
                        <a:defRPr/>
                      </a:pPr>
                      <a:r>
                        <a:rPr lang="en-US" sz="1999" b="true">
                          <a:solidFill>
                            <a:srgbClr val="000000"/>
                          </a:solidFill>
                          <a:latin typeface="Montserrat Bold"/>
                          <a:ea typeface="Montserrat Bold"/>
                          <a:cs typeface="Montserrat Bold"/>
                          <a:sym typeface="Montserrat Bold"/>
                        </a:rPr>
                        <a:t>3</a:t>
                      </a:r>
                      <a:endParaRPr lang="en-US" sz="1100"/>
                    </a:p>
                  </a:txBody>
                  <a:tcPr marL="0" marR="0" marT="0" marB="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c>
                  <a:txBody>
                    <a:bodyPr anchor="t" rtlCol="false"/>
                    <a:lstStyle/>
                    <a:p>
                      <a:pPr algn="ctr">
                        <a:lnSpc>
                          <a:spcPts val="2799"/>
                        </a:lnSpc>
                        <a:defRPr/>
                      </a:pPr>
                      <a:r>
                        <a:rPr lang="en-US" sz="1999">
                          <a:solidFill>
                            <a:srgbClr val="000000"/>
                          </a:solidFill>
                          <a:latin typeface="Montserrat"/>
                          <a:ea typeface="Montserrat"/>
                          <a:cs typeface="Montserrat"/>
                          <a:sym typeface="Montserrat"/>
                        </a:rPr>
                        <a:t>web_traffic</a:t>
                      </a:r>
                      <a:endParaRPr lang="en-US" sz="1100"/>
                    </a:p>
                    <a:p>
                      <a:pPr algn="ctr">
                        <a:lnSpc>
                          <a:spcPts val="2799"/>
                        </a:lnSpc>
                      </a:pPr>
                      <a:r>
                        <a:rPr lang="en-US" sz="1999">
                          <a:solidFill>
                            <a:srgbClr val="000000"/>
                          </a:solidFill>
                          <a:latin typeface="Montserrat"/>
                          <a:ea typeface="Montserrat"/>
                          <a:cs typeface="Montserrat"/>
                          <a:sym typeface="Montserrat"/>
                        </a:rPr>
                        <a:t>0.0391</a:t>
                      </a:r>
                    </a:p>
                    <a:p>
                      <a:pPr algn="ctr">
                        <a:lnSpc>
                          <a:spcPts val="2799"/>
                        </a:lnSpc>
                      </a:pPr>
                    </a:p>
                  </a:txBody>
                  <a:tcPr marL="0" marR="0" marT="0" marB="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2799"/>
                        </a:lnSpc>
                        <a:defRPr/>
                      </a:pPr>
                      <a:r>
                        <a:rPr lang="en-US" sz="1999">
                          <a:solidFill>
                            <a:srgbClr val="000000"/>
                          </a:solidFill>
                          <a:latin typeface="Montserrat"/>
                          <a:ea typeface="Montserrat"/>
                          <a:cs typeface="Montserrat"/>
                          <a:sym typeface="Montserrat"/>
                        </a:rPr>
                        <a:t>nb_hyperlinks</a:t>
                      </a:r>
                      <a:endParaRPr lang="en-US" sz="1100"/>
                    </a:p>
                    <a:p>
                      <a:pPr algn="ctr">
                        <a:lnSpc>
                          <a:spcPts val="2799"/>
                        </a:lnSpc>
                      </a:pPr>
                      <a:r>
                        <a:rPr lang="en-US" sz="1999">
                          <a:solidFill>
                            <a:srgbClr val="000000"/>
                          </a:solidFill>
                          <a:latin typeface="Montserrat"/>
                          <a:ea typeface="Montserrat"/>
                          <a:cs typeface="Montserrat"/>
                          <a:sym typeface="Montserrat"/>
                        </a:rPr>
                        <a:t>0.7248</a:t>
                      </a:r>
                    </a:p>
                    <a:p>
                      <a:pPr algn="ctr">
                        <a:lnSpc>
                          <a:spcPts val="2799"/>
                        </a:lnSpc>
                      </a:pPr>
                    </a:p>
                  </a:txBody>
                  <a:tcPr marL="0" marR="0" marT="0" marB="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2799"/>
                        </a:lnSpc>
                        <a:defRPr/>
                      </a:pPr>
                      <a:r>
                        <a:rPr lang="en-US" sz="1999">
                          <a:solidFill>
                            <a:srgbClr val="000000"/>
                          </a:solidFill>
                          <a:latin typeface="Montserrat"/>
                          <a:ea typeface="Montserrat"/>
                          <a:cs typeface="Montserrat"/>
                          <a:sym typeface="Montserrat"/>
                        </a:rPr>
                        <a:t>nb_www</a:t>
                      </a:r>
                      <a:endParaRPr lang="en-US" sz="1100"/>
                    </a:p>
                    <a:p>
                      <a:pPr algn="ctr">
                        <a:lnSpc>
                          <a:spcPts val="2799"/>
                        </a:lnSpc>
                      </a:pPr>
                      <a:r>
                        <a:rPr lang="en-US" sz="1999">
                          <a:solidFill>
                            <a:srgbClr val="000000"/>
                          </a:solidFill>
                          <a:latin typeface="Montserrat"/>
                          <a:ea typeface="Montserrat"/>
                          <a:cs typeface="Montserrat"/>
                          <a:sym typeface="Montserrat"/>
                        </a:rPr>
                        <a:t>0.0443</a:t>
                      </a:r>
                    </a:p>
                    <a:p>
                      <a:pPr algn="ctr">
                        <a:lnSpc>
                          <a:spcPts val="2799"/>
                        </a:lnSpc>
                      </a:pPr>
                    </a:p>
                  </a:txBody>
                  <a:tcPr marL="0" marR="0" marT="0" marB="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r>
              <a:tr h="1122387">
                <a:tc>
                  <a:txBody>
                    <a:bodyPr anchor="t" rtlCol="false"/>
                    <a:lstStyle/>
                    <a:p>
                      <a:pPr algn="ctr">
                        <a:lnSpc>
                          <a:spcPts val="2799"/>
                        </a:lnSpc>
                        <a:defRPr/>
                      </a:pPr>
                      <a:r>
                        <a:rPr lang="en-US" sz="1999" b="true">
                          <a:solidFill>
                            <a:srgbClr val="000000"/>
                          </a:solidFill>
                          <a:latin typeface="Montserrat Bold"/>
                          <a:ea typeface="Montserrat Bold"/>
                          <a:cs typeface="Montserrat Bold"/>
                          <a:sym typeface="Montserrat Bold"/>
                        </a:rPr>
                        <a:t>4</a:t>
                      </a:r>
                      <a:endParaRPr lang="en-US" sz="1100"/>
                    </a:p>
                  </a:txBody>
                  <a:tcPr marL="0" marR="0" marT="0" marB="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c>
                  <a:txBody>
                    <a:bodyPr anchor="t" rtlCol="false"/>
                    <a:lstStyle/>
                    <a:p>
                      <a:pPr algn="ctr">
                        <a:lnSpc>
                          <a:spcPts val="2799"/>
                        </a:lnSpc>
                        <a:defRPr/>
                      </a:pPr>
                      <a:r>
                        <a:rPr lang="en-US" sz="1999">
                          <a:solidFill>
                            <a:srgbClr val="000000"/>
                          </a:solidFill>
                          <a:latin typeface="Montserrat"/>
                          <a:ea typeface="Montserrat"/>
                          <a:cs typeface="Montserrat"/>
                          <a:sym typeface="Montserrat"/>
                        </a:rPr>
                        <a:t>nb_www</a:t>
                      </a:r>
                      <a:endParaRPr lang="en-US" sz="1100"/>
                    </a:p>
                    <a:p>
                      <a:pPr algn="ctr">
                        <a:lnSpc>
                          <a:spcPts val="2799"/>
                        </a:lnSpc>
                      </a:pPr>
                      <a:r>
                        <a:rPr lang="en-US" sz="1999">
                          <a:solidFill>
                            <a:srgbClr val="000000"/>
                          </a:solidFill>
                          <a:latin typeface="Montserrat"/>
                          <a:ea typeface="Montserrat"/>
                          <a:cs typeface="Montserrat"/>
                          <a:sym typeface="Montserrat"/>
                        </a:rPr>
                        <a:t>0.0358</a:t>
                      </a:r>
                    </a:p>
                    <a:p>
                      <a:pPr algn="ctr">
                        <a:lnSpc>
                          <a:spcPts val="2799"/>
                        </a:lnSpc>
                      </a:pPr>
                    </a:p>
                  </a:txBody>
                  <a:tcPr marL="0" marR="0" marT="0" marB="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2799"/>
                        </a:lnSpc>
                        <a:defRPr/>
                      </a:pPr>
                      <a:r>
                        <a:rPr lang="en-US" sz="1999">
                          <a:solidFill>
                            <a:srgbClr val="000000"/>
                          </a:solidFill>
                          <a:latin typeface="Montserrat"/>
                          <a:ea typeface="Montserrat"/>
                          <a:cs typeface="Montserrat"/>
                          <a:sym typeface="Montserrat"/>
                        </a:rPr>
                        <a:t>phish_hints</a:t>
                      </a:r>
                      <a:endParaRPr lang="en-US" sz="1100"/>
                    </a:p>
                    <a:p>
                      <a:pPr algn="ctr">
                        <a:lnSpc>
                          <a:spcPts val="2799"/>
                        </a:lnSpc>
                      </a:pPr>
                      <a:r>
                        <a:rPr lang="en-US" sz="1999">
                          <a:solidFill>
                            <a:srgbClr val="000000"/>
                          </a:solidFill>
                          <a:latin typeface="Montserrat"/>
                          <a:ea typeface="Montserrat"/>
                          <a:cs typeface="Montserrat"/>
                          <a:sym typeface="Montserrat"/>
                        </a:rPr>
                        <a:t>0.5188</a:t>
                      </a:r>
                    </a:p>
                    <a:p>
                      <a:pPr algn="ctr">
                        <a:lnSpc>
                          <a:spcPts val="2799"/>
                        </a:lnSpc>
                      </a:pPr>
                    </a:p>
                  </a:txBody>
                  <a:tcPr marL="0" marR="0" marT="0" marB="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2799"/>
                        </a:lnSpc>
                        <a:defRPr/>
                      </a:pPr>
                      <a:r>
                        <a:rPr lang="en-US" sz="1999">
                          <a:solidFill>
                            <a:srgbClr val="000000"/>
                          </a:solidFill>
                          <a:latin typeface="Montserrat"/>
                          <a:ea typeface="Montserrat"/>
                          <a:cs typeface="Montserrat"/>
                          <a:sym typeface="Montserrat"/>
                        </a:rPr>
                        <a:t>web_traffic</a:t>
                      </a:r>
                      <a:endParaRPr lang="en-US" sz="1100"/>
                    </a:p>
                    <a:p>
                      <a:pPr algn="ctr">
                        <a:lnSpc>
                          <a:spcPts val="2799"/>
                        </a:lnSpc>
                      </a:pPr>
                      <a:r>
                        <a:rPr lang="en-US" sz="1999">
                          <a:solidFill>
                            <a:srgbClr val="000000"/>
                          </a:solidFill>
                          <a:latin typeface="Montserrat"/>
                          <a:ea typeface="Montserrat"/>
                          <a:cs typeface="Montserrat"/>
                          <a:sym typeface="Montserrat"/>
                        </a:rPr>
                        <a:t>0.0299</a:t>
                      </a:r>
                    </a:p>
                    <a:p>
                      <a:pPr algn="ctr">
                        <a:lnSpc>
                          <a:spcPts val="2799"/>
                        </a:lnSpc>
                      </a:pPr>
                    </a:p>
                  </a:txBody>
                  <a:tcPr marL="0" marR="0" marT="0" marB="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9259" t="0" r="-9259" b="0"/>
            </a:stretch>
          </a:blipFill>
        </p:spPr>
      </p:sp>
      <p:sp>
        <p:nvSpPr>
          <p:cNvPr name="TextBox 3" id="3"/>
          <p:cNvSpPr txBox="true"/>
          <p:nvPr/>
        </p:nvSpPr>
        <p:spPr>
          <a:xfrm rot="0">
            <a:off x="1482461" y="1098092"/>
            <a:ext cx="15323078" cy="854075"/>
          </a:xfrm>
          <a:prstGeom prst="rect">
            <a:avLst/>
          </a:prstGeom>
        </p:spPr>
        <p:txBody>
          <a:bodyPr anchor="t" rtlCol="false" tIns="0" lIns="0" bIns="0" rIns="0">
            <a:spAutoFit/>
          </a:bodyPr>
          <a:lstStyle/>
          <a:p>
            <a:pPr algn="ctr">
              <a:lnSpc>
                <a:spcPts val="7000"/>
              </a:lnSpc>
            </a:pPr>
            <a:r>
              <a:rPr lang="en-US" sz="5000" b="true">
                <a:solidFill>
                  <a:srgbClr val="002254"/>
                </a:solidFill>
                <a:latin typeface="Montserrat Ultra-Bold"/>
                <a:ea typeface="Montserrat Ultra-Bold"/>
                <a:cs typeface="Montserrat Ultra-Bold"/>
                <a:sym typeface="Montserrat Ultra-Bold"/>
              </a:rPr>
              <a:t>Hasil SHAP dalam Eksperimen</a:t>
            </a:r>
          </a:p>
        </p:txBody>
      </p:sp>
      <p:sp>
        <p:nvSpPr>
          <p:cNvPr name="Freeform 4" id="4"/>
          <p:cNvSpPr/>
          <p:nvPr/>
        </p:nvSpPr>
        <p:spPr>
          <a:xfrm flipH="false" flipV="false" rot="0">
            <a:off x="692764" y="400218"/>
            <a:ext cx="963762" cy="963762"/>
          </a:xfrm>
          <a:custGeom>
            <a:avLst/>
            <a:gdLst/>
            <a:ahLst/>
            <a:cxnLst/>
            <a:rect r="r" b="b" t="t" l="l"/>
            <a:pathLst>
              <a:path h="963762" w="963762">
                <a:moveTo>
                  <a:pt x="0" y="0"/>
                </a:moveTo>
                <a:lnTo>
                  <a:pt x="963761" y="0"/>
                </a:lnTo>
                <a:lnTo>
                  <a:pt x="963761" y="963762"/>
                </a:lnTo>
                <a:lnTo>
                  <a:pt x="0" y="963762"/>
                </a:lnTo>
                <a:lnTo>
                  <a:pt x="0" y="0"/>
                </a:lnTo>
                <a:close/>
              </a:path>
            </a:pathLst>
          </a:custGeom>
          <a:blipFill>
            <a:blip r:embed="rId3"/>
            <a:stretch>
              <a:fillRect l="0" t="0" r="0" b="0"/>
            </a:stretch>
          </a:blipFill>
        </p:spPr>
      </p:sp>
      <p:sp>
        <p:nvSpPr>
          <p:cNvPr name="TextBox 5" id="5"/>
          <p:cNvSpPr txBox="true"/>
          <p:nvPr/>
        </p:nvSpPr>
        <p:spPr>
          <a:xfrm rot="0">
            <a:off x="1864064" y="681990"/>
            <a:ext cx="3686274" cy="346710"/>
          </a:xfrm>
          <a:prstGeom prst="rect">
            <a:avLst/>
          </a:prstGeom>
        </p:spPr>
        <p:txBody>
          <a:bodyPr anchor="t" rtlCol="false" tIns="0" lIns="0" bIns="0" rIns="0">
            <a:spAutoFit/>
          </a:bodyPr>
          <a:lstStyle/>
          <a:p>
            <a:pPr algn="ctr">
              <a:lnSpc>
                <a:spcPts val="2400"/>
              </a:lnSpc>
              <a:spcBef>
                <a:spcPct val="0"/>
              </a:spcBef>
            </a:pPr>
            <a:r>
              <a:rPr lang="en-US" b="true" sz="2400">
                <a:solidFill>
                  <a:srgbClr val="0B3454"/>
                </a:solidFill>
                <a:latin typeface="Poppins Semi-Bold"/>
                <a:ea typeface="Poppins Semi-Bold"/>
                <a:cs typeface="Poppins Semi-Bold"/>
                <a:sym typeface="Poppins Semi-Bold"/>
              </a:rPr>
              <a:t>INSTITUT TEKNOLOGI DEL</a:t>
            </a:r>
          </a:p>
        </p:txBody>
      </p:sp>
      <p:graphicFrame>
        <p:nvGraphicFramePr>
          <p:cNvPr name="Table 6" id="6"/>
          <p:cNvGraphicFramePr>
            <a:graphicFrameLocks noGrp="true"/>
          </p:cNvGraphicFramePr>
          <p:nvPr/>
        </p:nvGraphicFramePr>
        <p:xfrm>
          <a:off x="9719033" y="3426065"/>
          <a:ext cx="8136284" cy="5657850"/>
        </p:xfrm>
        <a:graphic>
          <a:graphicData uri="http://schemas.openxmlformats.org/drawingml/2006/table">
            <a:tbl>
              <a:tblPr/>
              <a:tblGrid>
                <a:gridCol w="1295160"/>
                <a:gridCol w="1982314"/>
                <a:gridCol w="2497275"/>
                <a:gridCol w="2361535"/>
              </a:tblGrid>
              <a:tr h="942975">
                <a:tc>
                  <a:txBody>
                    <a:bodyPr anchor="t" rtlCol="false"/>
                    <a:lstStyle/>
                    <a:p>
                      <a:pPr algn="ctr">
                        <a:lnSpc>
                          <a:spcPts val="1820"/>
                        </a:lnSpc>
                        <a:defRPr/>
                      </a:pPr>
                      <a:r>
                        <a:rPr lang="en-US" sz="1300" b="true">
                          <a:solidFill>
                            <a:srgbClr val="000000"/>
                          </a:solidFill>
                          <a:latin typeface="Montserrat Bold"/>
                          <a:ea typeface="Montserrat Bold"/>
                          <a:cs typeface="Montserrat Bold"/>
                          <a:sym typeface="Montserrat Bold"/>
                        </a:rPr>
                        <a:t>Rank</a:t>
                      </a:r>
                      <a:endParaRPr lang="en-US" sz="1100"/>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99ACFF"/>
                    </a:solidFill>
                  </a:tcPr>
                </a:tc>
                <a:tc>
                  <a:txBody>
                    <a:bodyPr anchor="t" rtlCol="false"/>
                    <a:lstStyle/>
                    <a:p>
                      <a:pPr algn="ctr">
                        <a:lnSpc>
                          <a:spcPts val="1820"/>
                        </a:lnSpc>
                        <a:defRPr/>
                      </a:pPr>
                      <a:r>
                        <a:rPr lang="en-US" sz="1300" b="true">
                          <a:solidFill>
                            <a:srgbClr val="000000"/>
                          </a:solidFill>
                          <a:latin typeface="Montserrat Bold"/>
                          <a:ea typeface="Montserrat Bold"/>
                          <a:cs typeface="Montserrat Bold"/>
                          <a:sym typeface="Montserrat Bold"/>
                        </a:rPr>
                        <a:t>Random Forest</a:t>
                      </a:r>
                      <a:endParaRPr lang="en-US" sz="1100"/>
                    </a:p>
                    <a:p>
                      <a:pPr algn="ctr">
                        <a:lnSpc>
                          <a:spcPts val="1820"/>
                        </a:lnSpc>
                      </a:pPr>
                      <a:r>
                        <a:rPr lang="en-US" sz="1300" b="true">
                          <a:solidFill>
                            <a:srgbClr val="000000"/>
                          </a:solidFill>
                          <a:latin typeface="Montserrat Bold"/>
                          <a:ea typeface="Montserrat Bold"/>
                          <a:cs typeface="Montserrat Bold"/>
                          <a:sym typeface="Montserrat Bold"/>
                        </a:rPr>
                        <a:t>0.7405</a:t>
                      </a:r>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99ACFF"/>
                    </a:solidFill>
                  </a:tcPr>
                </a:tc>
                <a:tc>
                  <a:txBody>
                    <a:bodyPr anchor="t" rtlCol="false"/>
                    <a:lstStyle/>
                    <a:p>
                      <a:pPr algn="ctr">
                        <a:lnSpc>
                          <a:spcPts val="1820"/>
                        </a:lnSpc>
                        <a:defRPr/>
                      </a:pPr>
                      <a:r>
                        <a:rPr lang="en-US" sz="1300" b="true">
                          <a:solidFill>
                            <a:srgbClr val="000000"/>
                          </a:solidFill>
                          <a:latin typeface="Montserrat Bold"/>
                          <a:ea typeface="Montserrat Bold"/>
                          <a:cs typeface="Montserrat Bold"/>
                          <a:sym typeface="Montserrat Bold"/>
                        </a:rPr>
                        <a:t>XGBoost</a:t>
                      </a:r>
                      <a:endParaRPr lang="en-US" sz="1100"/>
                    </a:p>
                    <a:p>
                      <a:pPr algn="ctr">
                        <a:lnSpc>
                          <a:spcPts val="1820"/>
                        </a:lnSpc>
                      </a:pPr>
                      <a:r>
                        <a:rPr lang="en-US" sz="1300" b="true">
                          <a:solidFill>
                            <a:srgbClr val="000000"/>
                          </a:solidFill>
                          <a:latin typeface="Montserrat Bold"/>
                          <a:ea typeface="Montserrat Bold"/>
                          <a:cs typeface="Montserrat Bold"/>
                          <a:sym typeface="Montserrat Bold"/>
                        </a:rPr>
                        <a:t>0.8191</a:t>
                      </a:r>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99ACFF"/>
                    </a:solidFill>
                  </a:tcPr>
                </a:tc>
                <a:tc>
                  <a:txBody>
                    <a:bodyPr anchor="t" rtlCol="false"/>
                    <a:lstStyle/>
                    <a:p>
                      <a:pPr algn="ctr">
                        <a:lnSpc>
                          <a:spcPts val="1820"/>
                        </a:lnSpc>
                        <a:defRPr/>
                      </a:pPr>
                      <a:r>
                        <a:rPr lang="en-US" sz="1300" b="true">
                          <a:solidFill>
                            <a:srgbClr val="000000"/>
                          </a:solidFill>
                          <a:latin typeface="Montserrat Bold"/>
                          <a:ea typeface="Montserrat Bold"/>
                          <a:cs typeface="Montserrat Bold"/>
                          <a:sym typeface="Montserrat Bold"/>
                        </a:rPr>
                        <a:t>Stacking</a:t>
                      </a:r>
                      <a:endParaRPr lang="en-US" sz="1100"/>
                    </a:p>
                    <a:p>
                      <a:pPr algn="ctr">
                        <a:lnSpc>
                          <a:spcPts val="1820"/>
                        </a:lnSpc>
                      </a:pPr>
                      <a:r>
                        <a:rPr lang="en-US" sz="1300" b="true">
                          <a:solidFill>
                            <a:srgbClr val="000000"/>
                          </a:solidFill>
                          <a:latin typeface="Montserrat Bold"/>
                          <a:ea typeface="Montserrat Bold"/>
                          <a:cs typeface="Montserrat Bold"/>
                          <a:sym typeface="Montserrat Bold"/>
                        </a:rPr>
                        <a:t>1.8775</a:t>
                      </a:r>
                    </a:p>
                    <a:p>
                      <a:pPr algn="ctr">
                        <a:lnSpc>
                          <a:spcPts val="1820"/>
                        </a:lnSpc>
                      </a:pPr>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99ACFF"/>
                    </a:solidFill>
                  </a:tcPr>
                </a:tc>
              </a:tr>
              <a:tr h="707231">
                <a:tc>
                  <a:txBody>
                    <a:bodyPr anchor="t" rtlCol="false"/>
                    <a:lstStyle/>
                    <a:p>
                      <a:pPr algn="ctr">
                        <a:lnSpc>
                          <a:spcPts val="1820"/>
                        </a:lnSpc>
                        <a:defRPr/>
                      </a:pPr>
                      <a:r>
                        <a:rPr lang="en-US" sz="1300" b="true">
                          <a:solidFill>
                            <a:srgbClr val="000000"/>
                          </a:solidFill>
                          <a:latin typeface="Montserrat Bold"/>
                          <a:ea typeface="Montserrat Bold"/>
                          <a:cs typeface="Montserrat Bold"/>
                          <a:sym typeface="Montserrat Bold"/>
                        </a:rPr>
                        <a:t>1</a:t>
                      </a:r>
                      <a:endParaRPr lang="en-US" sz="1100"/>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c>
                  <a:txBody>
                    <a:bodyPr anchor="t" rtlCol="false"/>
                    <a:lstStyle/>
                    <a:p>
                      <a:pPr algn="ctr">
                        <a:lnSpc>
                          <a:spcPts val="1820"/>
                        </a:lnSpc>
                        <a:defRPr/>
                      </a:pPr>
                      <a:r>
                        <a:rPr lang="en-US" sz="1300">
                          <a:solidFill>
                            <a:srgbClr val="000000"/>
                          </a:solidFill>
                          <a:latin typeface="Montserrat"/>
                          <a:ea typeface="Montserrat"/>
                          <a:cs typeface="Montserrat"/>
                          <a:sym typeface="Montserrat"/>
                        </a:rPr>
                        <a:t>nb_www</a:t>
                      </a:r>
                      <a:endParaRPr lang="en-US" sz="1100"/>
                    </a:p>
                    <a:p>
                      <a:pPr algn="ctr">
                        <a:lnSpc>
                          <a:spcPts val="1820"/>
                        </a:lnSpc>
                      </a:pPr>
                      <a:r>
                        <a:rPr lang="en-US" sz="1300">
                          <a:solidFill>
                            <a:srgbClr val="000000"/>
                          </a:solidFill>
                          <a:latin typeface="Montserrat"/>
                          <a:ea typeface="Montserrat"/>
                          <a:cs typeface="Montserrat"/>
                          <a:sym typeface="Montserrat"/>
                        </a:rPr>
                        <a:t>+0.0974</a:t>
                      </a:r>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1820"/>
                        </a:lnSpc>
                        <a:defRPr/>
                      </a:pPr>
                      <a:r>
                        <a:rPr lang="en-US" sz="1300">
                          <a:solidFill>
                            <a:srgbClr val="000000"/>
                          </a:solidFill>
                          <a:latin typeface="Montserrat"/>
                          <a:ea typeface="Montserrat"/>
                          <a:cs typeface="Montserrat"/>
                          <a:sym typeface="Montserrat"/>
                        </a:rPr>
                        <a:t>nb_and</a:t>
                      </a:r>
                      <a:endParaRPr lang="en-US" sz="1100"/>
                    </a:p>
                    <a:p>
                      <a:pPr algn="ctr">
                        <a:lnSpc>
                          <a:spcPts val="1820"/>
                        </a:lnSpc>
                      </a:pPr>
                      <a:r>
                        <a:rPr lang="en-US" sz="1300">
                          <a:solidFill>
                            <a:srgbClr val="000000"/>
                          </a:solidFill>
                          <a:latin typeface="Montserrat"/>
                          <a:ea typeface="Montserrat"/>
                          <a:cs typeface="Montserrat"/>
                          <a:sym typeface="Montserrat"/>
                        </a:rPr>
                        <a:t>-0.6216</a:t>
                      </a:r>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1820"/>
                        </a:lnSpc>
                        <a:defRPr/>
                      </a:pPr>
                      <a:r>
                        <a:rPr lang="en-US" sz="1300">
                          <a:solidFill>
                            <a:srgbClr val="000000"/>
                          </a:solidFill>
                          <a:latin typeface="Montserrat"/>
                          <a:ea typeface="Montserrat"/>
                          <a:cs typeface="Montserrat"/>
                          <a:sym typeface="Montserrat"/>
                        </a:rPr>
                        <a:t>nb_and</a:t>
                      </a:r>
                      <a:endParaRPr lang="en-US" sz="1100"/>
                    </a:p>
                    <a:p>
                      <a:pPr algn="ctr">
                        <a:lnSpc>
                          <a:spcPts val="1820"/>
                        </a:lnSpc>
                      </a:pPr>
                      <a:r>
                        <a:rPr lang="en-US" sz="1300">
                          <a:solidFill>
                            <a:srgbClr val="000000"/>
                          </a:solidFill>
                          <a:latin typeface="Montserrat"/>
                          <a:ea typeface="Montserrat"/>
                          <a:cs typeface="Montserrat"/>
                          <a:sym typeface="Montserrat"/>
                        </a:rPr>
                        <a:t>-</a:t>
                      </a:r>
                      <a:r>
                        <a:rPr lang="en-US" sz="1300">
                          <a:solidFill>
                            <a:srgbClr val="000000"/>
                          </a:solidFill>
                          <a:latin typeface="Montserrat"/>
                          <a:ea typeface="Montserrat"/>
                          <a:cs typeface="Montserrat"/>
                          <a:sym typeface="Montserrat"/>
                        </a:rPr>
                        <a:t>0</a:t>
                      </a:r>
                      <a:r>
                        <a:rPr lang="en-US" sz="1300">
                          <a:solidFill>
                            <a:srgbClr val="000000"/>
                          </a:solidFill>
                          <a:latin typeface="Montserrat"/>
                          <a:ea typeface="Montserrat"/>
                          <a:cs typeface="Montserrat"/>
                          <a:sym typeface="Montserrat"/>
                        </a:rPr>
                        <a:t>.6216</a:t>
                      </a:r>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r>
              <a:tr h="707231">
                <a:tc>
                  <a:txBody>
                    <a:bodyPr anchor="t" rtlCol="false"/>
                    <a:lstStyle/>
                    <a:p>
                      <a:pPr algn="ctr">
                        <a:lnSpc>
                          <a:spcPts val="1820"/>
                        </a:lnSpc>
                        <a:defRPr/>
                      </a:pPr>
                      <a:r>
                        <a:rPr lang="en-US" sz="1300" b="true">
                          <a:solidFill>
                            <a:srgbClr val="000000"/>
                          </a:solidFill>
                          <a:latin typeface="Montserrat Bold"/>
                          <a:ea typeface="Montserrat Bold"/>
                          <a:cs typeface="Montserrat Bold"/>
                          <a:sym typeface="Montserrat Bold"/>
                        </a:rPr>
                        <a:t>0</a:t>
                      </a:r>
                      <a:endParaRPr lang="en-US" sz="1100"/>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c>
                  <a:txBody>
                    <a:bodyPr anchor="t" rtlCol="false"/>
                    <a:lstStyle/>
                    <a:p>
                      <a:pPr algn="ctr">
                        <a:lnSpc>
                          <a:spcPts val="1820"/>
                        </a:lnSpc>
                        <a:defRPr/>
                      </a:pPr>
                      <a:r>
                        <a:rPr lang="en-US" sz="1300">
                          <a:solidFill>
                            <a:srgbClr val="000000"/>
                          </a:solidFill>
                          <a:latin typeface="Montserrat"/>
                          <a:ea typeface="Montserrat"/>
                          <a:cs typeface="Montserrat"/>
                          <a:sym typeface="Montserrat"/>
                        </a:rPr>
                        <a:t>ratio_digits_url</a:t>
                      </a:r>
                      <a:endParaRPr lang="en-US" sz="1100"/>
                    </a:p>
                    <a:p>
                      <a:pPr algn="ctr">
                        <a:lnSpc>
                          <a:spcPts val="1820"/>
                        </a:lnSpc>
                      </a:pPr>
                      <a:r>
                        <a:rPr lang="en-US" sz="1300">
                          <a:solidFill>
                            <a:srgbClr val="000000"/>
                          </a:solidFill>
                          <a:latin typeface="Montserrat"/>
                          <a:ea typeface="Montserrat"/>
                          <a:cs typeface="Montserrat"/>
                          <a:sym typeface="Montserrat"/>
                        </a:rPr>
                        <a:t>+0.2324</a:t>
                      </a:r>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1820"/>
                        </a:lnSpc>
                        <a:defRPr/>
                      </a:pPr>
                      <a:r>
                        <a:rPr lang="en-US" sz="1300">
                          <a:solidFill>
                            <a:srgbClr val="000000"/>
                          </a:solidFill>
                          <a:latin typeface="Montserrat"/>
                          <a:ea typeface="Montserrat"/>
                          <a:cs typeface="Montserrat"/>
                          <a:sym typeface="Montserrat"/>
                        </a:rPr>
                        <a:t>ratio_digits_url</a:t>
                      </a:r>
                      <a:endParaRPr lang="en-US" sz="1100"/>
                    </a:p>
                    <a:p>
                      <a:pPr algn="ctr">
                        <a:lnSpc>
                          <a:spcPts val="1820"/>
                        </a:lnSpc>
                      </a:pPr>
                      <a:r>
                        <a:rPr lang="en-US" sz="1300">
                          <a:solidFill>
                            <a:srgbClr val="000000"/>
                          </a:solidFill>
                          <a:latin typeface="Montserrat"/>
                          <a:ea typeface="Montserrat"/>
                          <a:cs typeface="Montserrat"/>
                          <a:sym typeface="Montserrat"/>
                        </a:rPr>
                        <a:t>+1.7030</a:t>
                      </a:r>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1820"/>
                        </a:lnSpc>
                        <a:defRPr/>
                      </a:pPr>
                      <a:r>
                        <a:rPr lang="en-US" sz="1300">
                          <a:solidFill>
                            <a:srgbClr val="000000"/>
                          </a:solidFill>
                          <a:latin typeface="Montserrat"/>
                          <a:ea typeface="Montserrat"/>
                          <a:cs typeface="Montserrat"/>
                          <a:sym typeface="Montserrat"/>
                        </a:rPr>
                        <a:t>ratio_digits_url</a:t>
                      </a:r>
                      <a:endParaRPr lang="en-US" sz="1100"/>
                    </a:p>
                    <a:p>
                      <a:pPr algn="ctr">
                        <a:lnSpc>
                          <a:spcPts val="1820"/>
                        </a:lnSpc>
                      </a:pPr>
                      <a:r>
                        <a:rPr lang="en-US" sz="1300">
                          <a:solidFill>
                            <a:srgbClr val="000000"/>
                          </a:solidFill>
                          <a:latin typeface="Montserrat"/>
                          <a:ea typeface="Montserrat"/>
                          <a:cs typeface="Montserrat"/>
                          <a:sym typeface="Montserrat"/>
                        </a:rPr>
                        <a:t>+1.7030</a:t>
                      </a:r>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r>
              <a:tr h="707231">
                <a:tc>
                  <a:txBody>
                    <a:bodyPr anchor="t" rtlCol="false"/>
                    <a:lstStyle/>
                    <a:p>
                      <a:pPr algn="ctr">
                        <a:lnSpc>
                          <a:spcPts val="1820"/>
                        </a:lnSpc>
                        <a:defRPr/>
                      </a:pPr>
                      <a:r>
                        <a:rPr lang="en-US" sz="1300" b="true">
                          <a:solidFill>
                            <a:srgbClr val="000000"/>
                          </a:solidFill>
                          <a:latin typeface="Montserrat Bold"/>
                          <a:ea typeface="Montserrat Bold"/>
                          <a:cs typeface="Montserrat Bold"/>
                          <a:sym typeface="Montserrat Bold"/>
                        </a:rPr>
                        <a:t>2</a:t>
                      </a:r>
                      <a:endParaRPr lang="en-US" sz="1100"/>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c>
                  <a:txBody>
                    <a:bodyPr anchor="t" rtlCol="false"/>
                    <a:lstStyle/>
                    <a:p>
                      <a:pPr algn="ctr">
                        <a:lnSpc>
                          <a:spcPts val="1820"/>
                        </a:lnSpc>
                        <a:defRPr/>
                      </a:pPr>
                      <a:r>
                        <a:rPr lang="en-US" sz="1300">
                          <a:solidFill>
                            <a:srgbClr val="000000"/>
                          </a:solidFill>
                          <a:latin typeface="Montserrat"/>
                          <a:ea typeface="Montserrat"/>
                          <a:cs typeface="Montserrat"/>
                          <a:sym typeface="Montserrat"/>
                        </a:rPr>
                        <a:t>length_url</a:t>
                      </a:r>
                      <a:endParaRPr lang="en-US" sz="1100"/>
                    </a:p>
                    <a:p>
                      <a:pPr algn="ctr">
                        <a:lnSpc>
                          <a:spcPts val="1820"/>
                        </a:lnSpc>
                      </a:pPr>
                      <a:r>
                        <a:rPr lang="en-US" sz="1300">
                          <a:solidFill>
                            <a:srgbClr val="000000"/>
                          </a:solidFill>
                          <a:latin typeface="Montserrat"/>
                          <a:ea typeface="Montserrat"/>
                          <a:cs typeface="Montserrat"/>
                          <a:sym typeface="Montserrat"/>
                        </a:rPr>
                        <a:t>-0.0784</a:t>
                      </a:r>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1820"/>
                        </a:lnSpc>
                        <a:defRPr/>
                      </a:pPr>
                      <a:r>
                        <a:rPr lang="en-US" sz="1300">
                          <a:solidFill>
                            <a:srgbClr val="000000"/>
                          </a:solidFill>
                          <a:latin typeface="Montserrat"/>
                          <a:ea typeface="Montserrat"/>
                          <a:cs typeface="Montserrat"/>
                          <a:sym typeface="Montserrat"/>
                        </a:rPr>
                        <a:t>nb_www</a:t>
                      </a:r>
                      <a:endParaRPr lang="en-US" sz="1100"/>
                    </a:p>
                    <a:p>
                      <a:pPr algn="ctr">
                        <a:lnSpc>
                          <a:spcPts val="1820"/>
                        </a:lnSpc>
                      </a:pPr>
                      <a:r>
                        <a:rPr lang="en-US" sz="1300">
                          <a:solidFill>
                            <a:srgbClr val="000000"/>
                          </a:solidFill>
                          <a:latin typeface="Montserrat"/>
                          <a:ea typeface="Montserrat"/>
                          <a:cs typeface="Montserrat"/>
                          <a:sym typeface="Montserrat"/>
                        </a:rPr>
                        <a:t>+</a:t>
                      </a:r>
                      <a:r>
                        <a:rPr lang="en-US" sz="1300">
                          <a:solidFill>
                            <a:srgbClr val="000000"/>
                          </a:solidFill>
                          <a:latin typeface="Montserrat"/>
                          <a:ea typeface="Montserrat"/>
                          <a:cs typeface="Montserrat"/>
                          <a:sym typeface="Montserrat"/>
                        </a:rPr>
                        <a:t>0.5340</a:t>
                      </a:r>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1820"/>
                        </a:lnSpc>
                        <a:defRPr/>
                      </a:pPr>
                      <a:r>
                        <a:rPr lang="en-US" sz="1300">
                          <a:solidFill>
                            <a:srgbClr val="000000"/>
                          </a:solidFill>
                          <a:latin typeface="Montserrat"/>
                          <a:ea typeface="Montserrat"/>
                          <a:cs typeface="Montserrat"/>
                          <a:sym typeface="Montserrat"/>
                        </a:rPr>
                        <a:t>nb_www</a:t>
                      </a:r>
                      <a:endParaRPr lang="en-US" sz="1100"/>
                    </a:p>
                    <a:p>
                      <a:pPr algn="ctr">
                        <a:lnSpc>
                          <a:spcPts val="1820"/>
                        </a:lnSpc>
                      </a:pPr>
                      <a:r>
                        <a:rPr lang="en-US" sz="1300">
                          <a:solidFill>
                            <a:srgbClr val="000000"/>
                          </a:solidFill>
                          <a:latin typeface="Montserrat"/>
                          <a:ea typeface="Montserrat"/>
                          <a:cs typeface="Montserrat"/>
                          <a:sym typeface="Montserrat"/>
                        </a:rPr>
                        <a:t>+</a:t>
                      </a:r>
                      <a:r>
                        <a:rPr lang="en-US" sz="1300">
                          <a:solidFill>
                            <a:srgbClr val="000000"/>
                          </a:solidFill>
                          <a:latin typeface="Montserrat"/>
                          <a:ea typeface="Montserrat"/>
                          <a:cs typeface="Montserrat"/>
                          <a:sym typeface="Montserrat"/>
                        </a:rPr>
                        <a:t>0.5340</a:t>
                      </a:r>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r>
              <a:tr h="942975">
                <a:tc>
                  <a:txBody>
                    <a:bodyPr anchor="t" rtlCol="false"/>
                    <a:lstStyle/>
                    <a:p>
                      <a:pPr algn="ctr">
                        <a:lnSpc>
                          <a:spcPts val="1820"/>
                        </a:lnSpc>
                        <a:defRPr/>
                      </a:pPr>
                      <a:r>
                        <a:rPr lang="en-US" sz="1300" b="true">
                          <a:solidFill>
                            <a:srgbClr val="000000"/>
                          </a:solidFill>
                          <a:latin typeface="Montserrat Bold"/>
                          <a:ea typeface="Montserrat Bold"/>
                          <a:cs typeface="Montserrat Bold"/>
                          <a:sym typeface="Montserrat Bold"/>
                        </a:rPr>
                        <a:t>3</a:t>
                      </a:r>
                      <a:endParaRPr lang="en-US" sz="1100"/>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c>
                  <a:txBody>
                    <a:bodyPr anchor="t" rtlCol="false"/>
                    <a:lstStyle/>
                    <a:p>
                      <a:pPr algn="ctr">
                        <a:lnSpc>
                          <a:spcPts val="1820"/>
                        </a:lnSpc>
                        <a:defRPr/>
                      </a:pPr>
                      <a:r>
                        <a:rPr lang="en-US" sz="1300">
                          <a:solidFill>
                            <a:srgbClr val="000000"/>
                          </a:solidFill>
                          <a:latin typeface="Montserrat"/>
                          <a:ea typeface="Montserrat"/>
                          <a:cs typeface="Montserrat"/>
                          <a:sym typeface="Montserrat"/>
                        </a:rPr>
                        <a:t>nb_eq</a:t>
                      </a:r>
                      <a:endParaRPr lang="en-US" sz="1100"/>
                    </a:p>
                    <a:p>
                      <a:pPr algn="ctr">
                        <a:lnSpc>
                          <a:spcPts val="1820"/>
                        </a:lnSpc>
                      </a:pPr>
                      <a:r>
                        <a:rPr lang="en-US" sz="1300">
                          <a:solidFill>
                            <a:srgbClr val="000000"/>
                          </a:solidFill>
                          <a:latin typeface="Montserrat"/>
                          <a:ea typeface="Montserrat"/>
                          <a:cs typeface="Montserrat"/>
                          <a:sym typeface="Montserrat"/>
                        </a:rPr>
                        <a:t>-0.0258</a:t>
                      </a:r>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1820"/>
                        </a:lnSpc>
                        <a:defRPr/>
                      </a:pPr>
                      <a:r>
                        <a:rPr lang="en-US" sz="1300">
                          <a:solidFill>
                            <a:srgbClr val="000000"/>
                          </a:solidFill>
                          <a:latin typeface="Montserrat"/>
                          <a:ea typeface="Montserrat"/>
                          <a:cs typeface="Montserrat"/>
                          <a:sym typeface="Montserrat"/>
                        </a:rPr>
                        <a:t>nb_eq</a:t>
                      </a:r>
                      <a:endParaRPr lang="en-US" sz="1100"/>
                    </a:p>
                    <a:p>
                      <a:pPr algn="ctr">
                        <a:lnSpc>
                          <a:spcPts val="1820"/>
                        </a:lnSpc>
                      </a:pPr>
                      <a:r>
                        <a:rPr lang="en-US" sz="1300">
                          <a:solidFill>
                            <a:srgbClr val="000000"/>
                          </a:solidFill>
                          <a:latin typeface="Montserrat"/>
                          <a:ea typeface="Montserrat"/>
                          <a:cs typeface="Montserrat"/>
                          <a:sym typeface="Montserrat"/>
                        </a:rPr>
                        <a:t>-</a:t>
                      </a:r>
                      <a:r>
                        <a:rPr lang="en-US" sz="1300">
                          <a:solidFill>
                            <a:srgbClr val="000000"/>
                          </a:solidFill>
                          <a:latin typeface="Montserrat"/>
                          <a:ea typeface="Montserrat"/>
                          <a:cs typeface="Montserrat"/>
                          <a:sym typeface="Montserrat"/>
                        </a:rPr>
                        <a:t>0.4515</a:t>
                      </a:r>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1820"/>
                        </a:lnSpc>
                        <a:defRPr/>
                      </a:pPr>
                      <a:r>
                        <a:rPr lang="en-US" sz="1300">
                          <a:solidFill>
                            <a:srgbClr val="000000"/>
                          </a:solidFill>
                          <a:latin typeface="Montserrat"/>
                          <a:ea typeface="Montserrat"/>
                          <a:cs typeface="Montserrat"/>
                          <a:sym typeface="Montserrat"/>
                        </a:rPr>
                        <a:t>nb_eq</a:t>
                      </a:r>
                      <a:endParaRPr lang="en-US" sz="1100"/>
                    </a:p>
                    <a:p>
                      <a:pPr algn="ctr">
                        <a:lnSpc>
                          <a:spcPts val="1820"/>
                        </a:lnSpc>
                      </a:pPr>
                      <a:r>
                        <a:rPr lang="en-US" sz="1300">
                          <a:solidFill>
                            <a:srgbClr val="000000"/>
                          </a:solidFill>
                          <a:latin typeface="Montserrat"/>
                          <a:ea typeface="Montserrat"/>
                          <a:cs typeface="Montserrat"/>
                          <a:sym typeface="Montserrat"/>
                        </a:rPr>
                        <a:t>-</a:t>
                      </a:r>
                      <a:r>
                        <a:rPr lang="en-US" sz="1300">
                          <a:solidFill>
                            <a:srgbClr val="000000"/>
                          </a:solidFill>
                          <a:latin typeface="Montserrat"/>
                          <a:ea typeface="Montserrat"/>
                          <a:cs typeface="Montserrat"/>
                          <a:sym typeface="Montserrat"/>
                        </a:rPr>
                        <a:t>0.4515</a:t>
                      </a:r>
                    </a:p>
                    <a:p>
                      <a:pPr algn="ctr">
                        <a:lnSpc>
                          <a:spcPts val="1820"/>
                        </a:lnSpc>
                      </a:pPr>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r>
              <a:tr h="942975">
                <a:tc>
                  <a:txBody>
                    <a:bodyPr anchor="t" rtlCol="false"/>
                    <a:lstStyle/>
                    <a:p>
                      <a:pPr algn="ctr">
                        <a:lnSpc>
                          <a:spcPts val="1820"/>
                        </a:lnSpc>
                        <a:defRPr/>
                      </a:pPr>
                      <a:r>
                        <a:rPr lang="en-US" sz="1300" b="true">
                          <a:solidFill>
                            <a:srgbClr val="000000"/>
                          </a:solidFill>
                          <a:latin typeface="Montserrat Bold"/>
                          <a:ea typeface="Montserrat Bold"/>
                          <a:cs typeface="Montserrat Bold"/>
                          <a:sym typeface="Montserrat Bold"/>
                        </a:rPr>
                        <a:t>4</a:t>
                      </a:r>
                      <a:endParaRPr lang="en-US" sz="1100"/>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c>
                  <a:txBody>
                    <a:bodyPr anchor="t" rtlCol="false"/>
                    <a:lstStyle/>
                    <a:p>
                      <a:pPr algn="ctr">
                        <a:lnSpc>
                          <a:spcPts val="1820"/>
                        </a:lnSpc>
                        <a:defRPr/>
                      </a:pPr>
                      <a:r>
                        <a:rPr lang="en-US" sz="1300">
                          <a:solidFill>
                            <a:srgbClr val="000000"/>
                          </a:solidFill>
                          <a:latin typeface="Montserrat"/>
                          <a:ea typeface="Montserrat"/>
                          <a:cs typeface="Montserrat"/>
                          <a:sym typeface="Montserrat"/>
                        </a:rPr>
                        <a:t>nb_www</a:t>
                      </a:r>
                      <a:endParaRPr lang="en-US" sz="1100"/>
                    </a:p>
                    <a:p>
                      <a:pPr algn="ctr">
                        <a:lnSpc>
                          <a:spcPts val="1820"/>
                        </a:lnSpc>
                      </a:pPr>
                      <a:r>
                        <a:rPr lang="en-US" sz="1300">
                          <a:solidFill>
                            <a:srgbClr val="000000"/>
                          </a:solidFill>
                          <a:latin typeface="Montserrat"/>
                          <a:ea typeface="Montserrat"/>
                          <a:cs typeface="Montserrat"/>
                          <a:sym typeface="Montserrat"/>
                        </a:rPr>
                        <a:t>0.0358</a:t>
                      </a:r>
                    </a:p>
                    <a:p>
                      <a:pPr algn="ctr">
                        <a:lnSpc>
                          <a:spcPts val="1820"/>
                        </a:lnSpc>
                      </a:pPr>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1820"/>
                        </a:lnSpc>
                        <a:defRPr/>
                      </a:pPr>
                      <a:r>
                        <a:rPr lang="en-US" sz="1300">
                          <a:solidFill>
                            <a:srgbClr val="000000"/>
                          </a:solidFill>
                          <a:latin typeface="Montserrat"/>
                          <a:ea typeface="Montserrat"/>
                          <a:cs typeface="Montserrat"/>
                          <a:sym typeface="Montserrat"/>
                        </a:rPr>
                        <a:t>length_url</a:t>
                      </a:r>
                      <a:endParaRPr lang="en-US" sz="1100"/>
                    </a:p>
                    <a:p>
                      <a:pPr algn="ctr">
                        <a:lnSpc>
                          <a:spcPts val="1820"/>
                        </a:lnSpc>
                      </a:pPr>
                      <a:r>
                        <a:rPr lang="en-US" sz="1300">
                          <a:solidFill>
                            <a:srgbClr val="000000"/>
                          </a:solidFill>
                          <a:latin typeface="Montserrat"/>
                          <a:ea typeface="Montserrat"/>
                          <a:cs typeface="Montserrat"/>
                          <a:sym typeface="Montserrat"/>
                        </a:rPr>
                        <a:t>-0.4400</a:t>
                      </a:r>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1820"/>
                        </a:lnSpc>
                        <a:defRPr/>
                      </a:pPr>
                      <a:r>
                        <a:rPr lang="en-US" sz="1300">
                          <a:solidFill>
                            <a:srgbClr val="000000"/>
                          </a:solidFill>
                          <a:latin typeface="Montserrat"/>
                          <a:ea typeface="Montserrat"/>
                          <a:cs typeface="Montserrat"/>
                          <a:sym typeface="Montserrat"/>
                        </a:rPr>
                        <a:t>length_url</a:t>
                      </a:r>
                      <a:endParaRPr lang="en-US" sz="1100"/>
                    </a:p>
                    <a:p>
                      <a:pPr algn="ctr">
                        <a:lnSpc>
                          <a:spcPts val="1820"/>
                        </a:lnSpc>
                      </a:pPr>
                      <a:r>
                        <a:rPr lang="en-US" sz="1300">
                          <a:solidFill>
                            <a:srgbClr val="000000"/>
                          </a:solidFill>
                          <a:latin typeface="Montserrat"/>
                          <a:ea typeface="Montserrat"/>
                          <a:cs typeface="Montserrat"/>
                          <a:sym typeface="Montserrat"/>
                        </a:rPr>
                        <a:t>-0.4400</a:t>
                      </a:r>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r>
              <a:tr h="707231">
                <a:tc gridSpan="4">
                  <a:txBody>
                    <a:bodyPr anchor="t" rtlCol="false"/>
                    <a:lstStyle/>
                    <a:p>
                      <a:pPr algn="ctr">
                        <a:lnSpc>
                          <a:spcPts val="1820"/>
                        </a:lnSpc>
                        <a:defRPr/>
                      </a:pPr>
                      <a:r>
                        <a:rPr lang="en-US" sz="1300" b="true">
                          <a:solidFill>
                            <a:srgbClr val="000000"/>
                          </a:solidFill>
                          <a:latin typeface="Montserrat Bold"/>
                          <a:ea typeface="Montserrat Bold"/>
                          <a:cs typeface="Montserrat Bold"/>
                          <a:sym typeface="Montserrat Bold"/>
                        </a:rPr>
                        <a:t>This phishing URL was immediately classified as Hard Risk by the rule-based filtering layer because it detected the critical rule suspicious_tld (.club) with a score of 0.95 (&gt;0.60).</a:t>
                      </a:r>
                      <a:endParaRPr lang="en-US" sz="1100"/>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c hMerge="true">
                  <a:txBody>
                    <a:bodyPr anchor="t" rtlCol="false"/>
                    <a:lstStyle/>
                    <a:p>
                      <a:pPr algn="ctr">
                        <a:lnSpc>
                          <a:spcPts val="1820"/>
                        </a:lnSpc>
                        <a:defRPr/>
                      </a:pPr>
                      <a:r>
                        <a:rPr lang="en-US" sz="1300" b="true">
                          <a:solidFill>
                            <a:srgbClr val="000000"/>
                          </a:solidFill>
                          <a:latin typeface="Montserrat Bold"/>
                          <a:ea typeface="Montserrat Bold"/>
                          <a:cs typeface="Montserrat Bold"/>
                          <a:sym typeface="Montserrat Bold"/>
                        </a:rPr>
                        <a:t>This phishing URL was immediately classified as Hard Risk by the rule-based filtering layer because it detected the critical rule suspicious_tld (.club) with a score of 0.95 (&gt;0.60).</a:t>
                      </a:r>
                      <a:endParaRPr lang="en-US" sz="1100"/>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c hMerge="true">
                  <a:txBody>
                    <a:bodyPr anchor="t" rtlCol="false"/>
                    <a:lstStyle/>
                    <a:p>
                      <a:pPr algn="ctr">
                        <a:lnSpc>
                          <a:spcPts val="1820"/>
                        </a:lnSpc>
                        <a:defRPr/>
                      </a:pPr>
                      <a:r>
                        <a:rPr lang="en-US" sz="1300" b="true">
                          <a:solidFill>
                            <a:srgbClr val="000000"/>
                          </a:solidFill>
                          <a:latin typeface="Montserrat Bold"/>
                          <a:ea typeface="Montserrat Bold"/>
                          <a:cs typeface="Montserrat Bold"/>
                          <a:sym typeface="Montserrat Bold"/>
                        </a:rPr>
                        <a:t>This phishing URL was immediately classified as Hard Risk by the rule-based filtering layer because it detected the critical rule suspicious_tld (.club) with a score of 0.95 (&gt;0.60).</a:t>
                      </a:r>
                      <a:endParaRPr lang="en-US" sz="1100"/>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c hMerge="true">
                  <a:txBody>
                    <a:bodyPr anchor="t" rtlCol="false"/>
                    <a:lstStyle/>
                    <a:p>
                      <a:pPr algn="ctr">
                        <a:lnSpc>
                          <a:spcPts val="1820"/>
                        </a:lnSpc>
                        <a:defRPr/>
                      </a:pPr>
                      <a:r>
                        <a:rPr lang="en-US" sz="1300" b="true">
                          <a:solidFill>
                            <a:srgbClr val="000000"/>
                          </a:solidFill>
                          <a:latin typeface="Montserrat Bold"/>
                          <a:ea typeface="Montserrat Bold"/>
                          <a:cs typeface="Montserrat Bold"/>
                          <a:sym typeface="Montserrat Bold"/>
                        </a:rPr>
                        <a:t>This phishing URL was immediately classified as Hard Risk by the rule-based filtering layer because it detected the critical rule suspicious_tld (.club) with a score of 0.95 (&gt;0.60).</a:t>
                      </a:r>
                      <a:endParaRPr lang="en-US" sz="1100"/>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r>
            </a:tbl>
          </a:graphicData>
        </a:graphic>
      </p:graphicFrame>
      <p:graphicFrame>
        <p:nvGraphicFramePr>
          <p:cNvPr name="Table 7" id="7"/>
          <p:cNvGraphicFramePr>
            <a:graphicFrameLocks noGrp="true"/>
          </p:cNvGraphicFramePr>
          <p:nvPr/>
        </p:nvGraphicFramePr>
        <p:xfrm>
          <a:off x="692764" y="3344459"/>
          <a:ext cx="8451236" cy="5629275"/>
        </p:xfrm>
        <a:graphic>
          <a:graphicData uri="http://schemas.openxmlformats.org/drawingml/2006/table">
            <a:tbl>
              <a:tblPr/>
              <a:tblGrid>
                <a:gridCol w="1025915"/>
                <a:gridCol w="1851182"/>
                <a:gridCol w="1832928"/>
                <a:gridCol w="1870606"/>
                <a:gridCol w="1870606"/>
              </a:tblGrid>
              <a:tr h="703659">
                <a:tc>
                  <a:txBody>
                    <a:bodyPr anchor="t" rtlCol="false"/>
                    <a:lstStyle/>
                    <a:p>
                      <a:pPr algn="ctr">
                        <a:lnSpc>
                          <a:spcPts val="1820"/>
                        </a:lnSpc>
                        <a:defRPr/>
                      </a:pPr>
                      <a:r>
                        <a:rPr lang="en-US" sz="1300" b="true">
                          <a:solidFill>
                            <a:srgbClr val="000000"/>
                          </a:solidFill>
                          <a:latin typeface="Montserrat Bold"/>
                          <a:ea typeface="Montserrat Bold"/>
                          <a:cs typeface="Montserrat Bold"/>
                          <a:sym typeface="Montserrat Bold"/>
                        </a:rPr>
                        <a:t>Rank</a:t>
                      </a:r>
                      <a:endParaRPr lang="en-US" sz="1100"/>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99ACFF"/>
                    </a:solidFill>
                  </a:tcPr>
                </a:tc>
                <a:tc>
                  <a:txBody>
                    <a:bodyPr anchor="t" rtlCol="false"/>
                    <a:lstStyle/>
                    <a:p>
                      <a:pPr algn="ctr">
                        <a:lnSpc>
                          <a:spcPts val="1820"/>
                        </a:lnSpc>
                        <a:defRPr/>
                      </a:pPr>
                      <a:r>
                        <a:rPr lang="en-US" sz="1300" b="true">
                          <a:solidFill>
                            <a:srgbClr val="000000"/>
                          </a:solidFill>
                          <a:latin typeface="Montserrat Bold"/>
                          <a:ea typeface="Montserrat Bold"/>
                          <a:cs typeface="Montserrat Bold"/>
                          <a:sym typeface="Montserrat Bold"/>
                        </a:rPr>
                        <a:t>Random Forest</a:t>
                      </a:r>
                      <a:endParaRPr lang="en-US" sz="1100"/>
                    </a:p>
                    <a:p>
                      <a:pPr algn="ctr">
                        <a:lnSpc>
                          <a:spcPts val="1820"/>
                        </a:lnSpc>
                      </a:pPr>
                      <a:r>
                        <a:rPr lang="en-US" sz="1300" b="true">
                          <a:solidFill>
                            <a:srgbClr val="000000"/>
                          </a:solidFill>
                          <a:latin typeface="Montserrat Bold"/>
                          <a:ea typeface="Montserrat Bold"/>
                          <a:cs typeface="Montserrat Bold"/>
                          <a:sym typeface="Montserrat Bold"/>
                        </a:rPr>
                        <a:t>0.3597</a:t>
                      </a:r>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99ACFF"/>
                    </a:solidFill>
                  </a:tcPr>
                </a:tc>
                <a:tc>
                  <a:txBody>
                    <a:bodyPr anchor="t" rtlCol="false"/>
                    <a:lstStyle/>
                    <a:p>
                      <a:pPr algn="ctr">
                        <a:lnSpc>
                          <a:spcPts val="1820"/>
                        </a:lnSpc>
                        <a:defRPr/>
                      </a:pPr>
                      <a:r>
                        <a:rPr lang="en-US" sz="1300" b="true">
                          <a:solidFill>
                            <a:srgbClr val="000000"/>
                          </a:solidFill>
                          <a:latin typeface="Montserrat Bold"/>
                          <a:ea typeface="Montserrat Bold"/>
                          <a:cs typeface="Montserrat Bold"/>
                          <a:sym typeface="Montserrat Bold"/>
                        </a:rPr>
                        <a:t>XGBoost</a:t>
                      </a:r>
                      <a:endParaRPr lang="en-US" sz="1100"/>
                    </a:p>
                    <a:p>
                      <a:pPr algn="ctr">
                        <a:lnSpc>
                          <a:spcPts val="1820"/>
                        </a:lnSpc>
                      </a:pPr>
                      <a:r>
                        <a:rPr lang="en-US" sz="1300" b="true">
                          <a:solidFill>
                            <a:srgbClr val="000000"/>
                          </a:solidFill>
                          <a:latin typeface="Montserrat Bold"/>
                          <a:ea typeface="Montserrat Bold"/>
                          <a:cs typeface="Montserrat Bold"/>
                          <a:sym typeface="Montserrat Bold"/>
                        </a:rPr>
                        <a:t>0.0264</a:t>
                      </a:r>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99ACFF"/>
                    </a:solidFill>
                  </a:tcPr>
                </a:tc>
                <a:tc>
                  <a:txBody>
                    <a:bodyPr anchor="t" rtlCol="false"/>
                    <a:lstStyle/>
                    <a:p>
                      <a:pPr algn="ctr">
                        <a:lnSpc>
                          <a:spcPts val="1820"/>
                        </a:lnSpc>
                        <a:defRPr/>
                      </a:pPr>
                      <a:r>
                        <a:rPr lang="en-US" sz="1300" b="true">
                          <a:solidFill>
                            <a:srgbClr val="000000"/>
                          </a:solidFill>
                          <a:latin typeface="Montserrat Bold"/>
                          <a:ea typeface="Montserrat Bold"/>
                          <a:cs typeface="Montserrat Bold"/>
                          <a:sym typeface="Montserrat Bold"/>
                        </a:rPr>
                        <a:t>Stacking</a:t>
                      </a:r>
                      <a:endParaRPr lang="en-US" sz="1100"/>
                    </a:p>
                    <a:p>
                      <a:pPr algn="ctr">
                        <a:lnSpc>
                          <a:spcPts val="1820"/>
                        </a:lnSpc>
                      </a:pPr>
                      <a:r>
                        <a:rPr lang="en-US" sz="1300" b="true">
                          <a:solidFill>
                            <a:srgbClr val="000000"/>
                          </a:solidFill>
                          <a:latin typeface="Montserrat Bold"/>
                          <a:ea typeface="Montserrat Bold"/>
                          <a:cs typeface="Montserrat Bold"/>
                          <a:sym typeface="Montserrat Bold"/>
                        </a:rPr>
                        <a:t>0.072</a:t>
                      </a:r>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99ACFF"/>
                    </a:solidFill>
                  </a:tcPr>
                </a:tc>
                <a:tc>
                  <a:txBody>
                    <a:bodyPr anchor="t" rtlCol="false"/>
                    <a:lstStyle/>
                    <a:p>
                      <a:pPr algn="ctr">
                        <a:lnSpc>
                          <a:spcPts val="1820"/>
                        </a:lnSpc>
                        <a:defRPr/>
                      </a:pPr>
                      <a:r>
                        <a:rPr lang="en-US" sz="1300" b="true">
                          <a:solidFill>
                            <a:srgbClr val="000000"/>
                          </a:solidFill>
                          <a:latin typeface="Montserrat Bold"/>
                          <a:ea typeface="Montserrat Bold"/>
                          <a:cs typeface="Montserrat Bold"/>
                          <a:sym typeface="Montserrat Bold"/>
                        </a:rPr>
                        <a:t>Hybrid</a:t>
                      </a:r>
                      <a:endParaRPr lang="en-US" sz="1100"/>
                    </a:p>
                    <a:p>
                      <a:pPr algn="ctr">
                        <a:lnSpc>
                          <a:spcPts val="1820"/>
                        </a:lnSpc>
                      </a:pPr>
                      <a:r>
                        <a:rPr lang="en-US" sz="1300" b="true">
                          <a:solidFill>
                            <a:srgbClr val="000000"/>
                          </a:solidFill>
                          <a:latin typeface="Montserrat Bold"/>
                          <a:ea typeface="Montserrat Bold"/>
                          <a:cs typeface="Montserrat Bold"/>
                          <a:sym typeface="Montserrat Bold"/>
                        </a:rPr>
                        <a:t>0.072</a:t>
                      </a:r>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99ACFF"/>
                    </a:solidFill>
                  </a:tcPr>
                </a:tc>
              </a:tr>
              <a:tr h="938212">
                <a:tc>
                  <a:txBody>
                    <a:bodyPr anchor="t" rtlCol="false"/>
                    <a:lstStyle/>
                    <a:p>
                      <a:pPr algn="ctr">
                        <a:lnSpc>
                          <a:spcPts val="1820"/>
                        </a:lnSpc>
                        <a:defRPr/>
                      </a:pPr>
                      <a:r>
                        <a:rPr lang="en-US" sz="1300" b="true">
                          <a:solidFill>
                            <a:srgbClr val="000000"/>
                          </a:solidFill>
                          <a:latin typeface="Montserrat Bold"/>
                          <a:ea typeface="Montserrat Bold"/>
                          <a:cs typeface="Montserrat Bold"/>
                          <a:sym typeface="Montserrat Bold"/>
                        </a:rPr>
                        <a:t>0</a:t>
                      </a:r>
                      <a:endParaRPr lang="en-US" sz="1100"/>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c>
                  <a:txBody>
                    <a:bodyPr anchor="t" rtlCol="false"/>
                    <a:lstStyle/>
                    <a:p>
                      <a:pPr algn="ctr">
                        <a:lnSpc>
                          <a:spcPts val="1820"/>
                        </a:lnSpc>
                        <a:defRPr/>
                      </a:pPr>
                      <a:r>
                        <a:rPr lang="en-US" sz="1300">
                          <a:solidFill>
                            <a:srgbClr val="000000"/>
                          </a:solidFill>
                          <a:latin typeface="Montserrat"/>
                          <a:ea typeface="Montserrat"/>
                          <a:cs typeface="Montserrat"/>
                          <a:sym typeface="Montserrat"/>
                        </a:rPr>
                        <a:t>google_index</a:t>
                      </a:r>
                      <a:endParaRPr lang="en-US" sz="1100"/>
                    </a:p>
                    <a:p>
                      <a:pPr algn="ctr">
                        <a:lnSpc>
                          <a:spcPts val="1820"/>
                        </a:lnSpc>
                      </a:pPr>
                      <a:r>
                        <a:rPr lang="en-US" sz="1300">
                          <a:solidFill>
                            <a:srgbClr val="000000"/>
                          </a:solidFill>
                          <a:latin typeface="Montserrat"/>
                          <a:ea typeface="Montserrat"/>
                          <a:cs typeface="Montserrat"/>
                          <a:sym typeface="Montserrat"/>
                        </a:rPr>
                        <a:t>+0.1450</a:t>
                      </a:r>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1820"/>
                        </a:lnSpc>
                        <a:defRPr/>
                      </a:pPr>
                      <a:r>
                        <a:rPr lang="en-US" sz="1300">
                          <a:solidFill>
                            <a:srgbClr val="000000"/>
                          </a:solidFill>
                          <a:latin typeface="Montserrat"/>
                          <a:ea typeface="Montserrat"/>
                          <a:cs typeface="Montserrat"/>
                          <a:sym typeface="Montserrat"/>
                        </a:rPr>
                        <a:t>nb_hyperlinks</a:t>
                      </a:r>
                      <a:endParaRPr lang="en-US" sz="1100"/>
                    </a:p>
                    <a:p>
                      <a:pPr algn="ctr">
                        <a:lnSpc>
                          <a:spcPts val="1820"/>
                        </a:lnSpc>
                      </a:pPr>
                      <a:r>
                        <a:rPr lang="en-US" sz="1300">
                          <a:solidFill>
                            <a:srgbClr val="000000"/>
                          </a:solidFill>
                          <a:latin typeface="Montserrat"/>
                          <a:ea typeface="Montserrat"/>
                          <a:cs typeface="Montserrat"/>
                          <a:sym typeface="Montserrat"/>
                        </a:rPr>
                        <a:t>-</a:t>
                      </a:r>
                      <a:r>
                        <a:rPr lang="en-US" sz="1300">
                          <a:solidFill>
                            <a:srgbClr val="000000"/>
                          </a:solidFill>
                          <a:latin typeface="Montserrat"/>
                          <a:ea typeface="Montserrat"/>
                          <a:cs typeface="Montserrat"/>
                          <a:sym typeface="Montserrat"/>
                        </a:rPr>
                        <a:t>1.4353</a:t>
                      </a:r>
                    </a:p>
                    <a:p>
                      <a:pPr algn="ctr">
                        <a:lnSpc>
                          <a:spcPts val="1820"/>
                        </a:lnSpc>
                      </a:pPr>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1820"/>
                        </a:lnSpc>
                        <a:defRPr/>
                      </a:pPr>
                      <a:r>
                        <a:rPr lang="en-US" sz="1300">
                          <a:solidFill>
                            <a:srgbClr val="000000"/>
                          </a:solidFill>
                          <a:latin typeface="Montserrat"/>
                          <a:ea typeface="Montserrat"/>
                          <a:cs typeface="Montserrat"/>
                          <a:sym typeface="Montserrat"/>
                        </a:rPr>
                        <a:t>google_index</a:t>
                      </a:r>
                      <a:endParaRPr lang="en-US" sz="1100"/>
                    </a:p>
                    <a:p>
                      <a:pPr algn="ctr">
                        <a:lnSpc>
                          <a:spcPts val="1820"/>
                        </a:lnSpc>
                      </a:pPr>
                      <a:r>
                        <a:rPr lang="en-US" sz="1300">
                          <a:solidFill>
                            <a:srgbClr val="000000"/>
                          </a:solidFill>
                          <a:latin typeface="Montserrat"/>
                          <a:ea typeface="Montserrat"/>
                          <a:cs typeface="Montserrat"/>
                          <a:sym typeface="Montserrat"/>
                        </a:rPr>
                        <a:t>+</a:t>
                      </a:r>
                      <a:r>
                        <a:rPr lang="en-US" sz="1300">
                          <a:solidFill>
                            <a:srgbClr val="000000"/>
                          </a:solidFill>
                          <a:latin typeface="Montserrat"/>
                          <a:ea typeface="Montserrat"/>
                          <a:cs typeface="Montserrat"/>
                          <a:sym typeface="Montserrat"/>
                        </a:rPr>
                        <a:t>0</a:t>
                      </a:r>
                      <a:r>
                        <a:rPr lang="en-US" sz="1300">
                          <a:solidFill>
                            <a:srgbClr val="000000"/>
                          </a:solidFill>
                          <a:latin typeface="Montserrat"/>
                          <a:ea typeface="Montserrat"/>
                          <a:cs typeface="Montserrat"/>
                          <a:sym typeface="Montserrat"/>
                        </a:rPr>
                        <a:t>.1450</a:t>
                      </a:r>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1820"/>
                        </a:lnSpc>
                        <a:defRPr/>
                      </a:pPr>
                      <a:r>
                        <a:rPr lang="en-US" sz="1300">
                          <a:solidFill>
                            <a:srgbClr val="000000"/>
                          </a:solidFill>
                          <a:latin typeface="Montserrat"/>
                          <a:ea typeface="Montserrat"/>
                          <a:cs typeface="Montserrat"/>
                          <a:sym typeface="Montserrat"/>
                        </a:rPr>
                        <a:t>google_index+0.1450</a:t>
                      </a:r>
                      <a:endParaRPr lang="en-US" sz="1100"/>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r>
              <a:tr h="938212">
                <a:tc>
                  <a:txBody>
                    <a:bodyPr anchor="t" rtlCol="false"/>
                    <a:lstStyle/>
                    <a:p>
                      <a:pPr algn="ctr">
                        <a:lnSpc>
                          <a:spcPts val="1820"/>
                        </a:lnSpc>
                        <a:defRPr/>
                      </a:pPr>
                      <a:r>
                        <a:rPr lang="en-US" sz="1300" b="true">
                          <a:solidFill>
                            <a:srgbClr val="000000"/>
                          </a:solidFill>
                          <a:latin typeface="Montserrat Bold"/>
                          <a:ea typeface="Montserrat Bold"/>
                          <a:cs typeface="Montserrat Bold"/>
                          <a:sym typeface="Montserrat Bold"/>
                        </a:rPr>
                        <a:t>1</a:t>
                      </a:r>
                      <a:endParaRPr lang="en-US" sz="1100"/>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c>
                  <a:txBody>
                    <a:bodyPr anchor="t" rtlCol="false"/>
                    <a:lstStyle/>
                    <a:p>
                      <a:pPr algn="ctr">
                        <a:lnSpc>
                          <a:spcPts val="1820"/>
                        </a:lnSpc>
                        <a:defRPr/>
                      </a:pPr>
                      <a:r>
                        <a:rPr lang="en-US" sz="1300">
                          <a:solidFill>
                            <a:srgbClr val="000000"/>
                          </a:solidFill>
                          <a:latin typeface="Montserrat"/>
                          <a:ea typeface="Montserrat"/>
                          <a:cs typeface="Montserrat"/>
                          <a:sym typeface="Montserrat"/>
                        </a:rPr>
                        <a:t>page_rank</a:t>
                      </a:r>
                      <a:endParaRPr lang="en-US" sz="1100"/>
                    </a:p>
                    <a:p>
                      <a:pPr algn="ctr">
                        <a:lnSpc>
                          <a:spcPts val="1820"/>
                        </a:lnSpc>
                      </a:pPr>
                      <a:r>
                        <a:rPr lang="en-US" sz="1300">
                          <a:solidFill>
                            <a:srgbClr val="000000"/>
                          </a:solidFill>
                          <a:latin typeface="Montserrat"/>
                          <a:ea typeface="Montserrat"/>
                          <a:cs typeface="Montserrat"/>
                          <a:sym typeface="Montserrat"/>
                        </a:rPr>
                        <a:t>-0.0773</a:t>
                      </a:r>
                    </a:p>
                    <a:p>
                      <a:pPr algn="ctr">
                        <a:lnSpc>
                          <a:spcPts val="1820"/>
                        </a:lnSpc>
                      </a:pPr>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1820"/>
                        </a:lnSpc>
                        <a:defRPr/>
                      </a:pPr>
                      <a:r>
                        <a:rPr lang="en-US" sz="1300">
                          <a:solidFill>
                            <a:srgbClr val="000000"/>
                          </a:solidFill>
                          <a:latin typeface="Montserrat"/>
                          <a:ea typeface="Montserrat"/>
                          <a:cs typeface="Montserrat"/>
                          <a:sym typeface="Montserrat"/>
                        </a:rPr>
                        <a:t>google_index</a:t>
                      </a:r>
                      <a:endParaRPr lang="en-US" sz="1100"/>
                    </a:p>
                    <a:p>
                      <a:pPr algn="ctr">
                        <a:lnSpc>
                          <a:spcPts val="1820"/>
                        </a:lnSpc>
                      </a:pPr>
                      <a:r>
                        <a:rPr lang="en-US" sz="1300">
                          <a:solidFill>
                            <a:srgbClr val="000000"/>
                          </a:solidFill>
                          <a:latin typeface="Montserrat"/>
                          <a:ea typeface="Montserrat"/>
                          <a:cs typeface="Montserrat"/>
                          <a:sym typeface="Montserrat"/>
                        </a:rPr>
                        <a:t>+1.4181</a:t>
                      </a:r>
                    </a:p>
                    <a:p>
                      <a:pPr algn="ctr">
                        <a:lnSpc>
                          <a:spcPts val="1820"/>
                        </a:lnSpc>
                      </a:pPr>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1820"/>
                        </a:lnSpc>
                        <a:defRPr/>
                      </a:pPr>
                      <a:r>
                        <a:rPr lang="en-US" sz="1300">
                          <a:solidFill>
                            <a:srgbClr val="000000"/>
                          </a:solidFill>
                          <a:latin typeface="Montserrat"/>
                          <a:ea typeface="Montserrat"/>
                          <a:cs typeface="Montserrat"/>
                          <a:sym typeface="Montserrat"/>
                        </a:rPr>
                        <a:t>page_rank</a:t>
                      </a:r>
                      <a:endParaRPr lang="en-US" sz="1100"/>
                    </a:p>
                    <a:p>
                      <a:pPr algn="ctr">
                        <a:lnSpc>
                          <a:spcPts val="1820"/>
                        </a:lnSpc>
                      </a:pPr>
                      <a:r>
                        <a:rPr lang="en-US" sz="1300">
                          <a:solidFill>
                            <a:srgbClr val="000000"/>
                          </a:solidFill>
                          <a:latin typeface="Montserrat"/>
                          <a:ea typeface="Montserrat"/>
                          <a:cs typeface="Montserrat"/>
                          <a:sym typeface="Montserrat"/>
                        </a:rPr>
                        <a:t>-</a:t>
                      </a:r>
                      <a:r>
                        <a:rPr lang="en-US" sz="1300">
                          <a:solidFill>
                            <a:srgbClr val="000000"/>
                          </a:solidFill>
                          <a:latin typeface="Montserrat"/>
                          <a:ea typeface="Montserrat"/>
                          <a:cs typeface="Montserrat"/>
                          <a:sym typeface="Montserrat"/>
                        </a:rPr>
                        <a:t>0</a:t>
                      </a:r>
                      <a:r>
                        <a:rPr lang="en-US" sz="1300">
                          <a:solidFill>
                            <a:srgbClr val="000000"/>
                          </a:solidFill>
                          <a:latin typeface="Montserrat"/>
                          <a:ea typeface="Montserrat"/>
                          <a:cs typeface="Montserrat"/>
                          <a:sym typeface="Montserrat"/>
                        </a:rPr>
                        <a:t>.0773</a:t>
                      </a:r>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1820"/>
                        </a:lnSpc>
                        <a:defRPr/>
                      </a:pPr>
                      <a:r>
                        <a:rPr lang="en-US" sz="1300">
                          <a:solidFill>
                            <a:srgbClr val="000000"/>
                          </a:solidFill>
                          <a:latin typeface="Montserrat"/>
                          <a:ea typeface="Montserrat"/>
                          <a:cs typeface="Montserrat"/>
                          <a:sym typeface="Montserrat"/>
                        </a:rPr>
                        <a:t>page_rank-0.0773</a:t>
                      </a:r>
                      <a:endParaRPr lang="en-US" sz="1100"/>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r>
              <a:tr h="938212">
                <a:tc>
                  <a:txBody>
                    <a:bodyPr anchor="t" rtlCol="false"/>
                    <a:lstStyle/>
                    <a:p>
                      <a:pPr algn="ctr">
                        <a:lnSpc>
                          <a:spcPts val="1820"/>
                        </a:lnSpc>
                        <a:defRPr/>
                      </a:pPr>
                      <a:r>
                        <a:rPr lang="en-US" sz="1300" b="true">
                          <a:solidFill>
                            <a:srgbClr val="000000"/>
                          </a:solidFill>
                          <a:latin typeface="Montserrat Bold"/>
                          <a:ea typeface="Montserrat Bold"/>
                          <a:cs typeface="Montserrat Bold"/>
                          <a:sym typeface="Montserrat Bold"/>
                        </a:rPr>
                        <a:t>2</a:t>
                      </a:r>
                      <a:endParaRPr lang="en-US" sz="1100"/>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c>
                  <a:txBody>
                    <a:bodyPr anchor="t" rtlCol="false"/>
                    <a:lstStyle/>
                    <a:p>
                      <a:pPr algn="ctr">
                        <a:lnSpc>
                          <a:spcPts val="1820"/>
                        </a:lnSpc>
                        <a:defRPr/>
                      </a:pPr>
                      <a:r>
                        <a:rPr lang="en-US" sz="1300">
                          <a:solidFill>
                            <a:srgbClr val="000000"/>
                          </a:solidFill>
                          <a:latin typeface="Montserrat"/>
                          <a:ea typeface="Montserrat"/>
                          <a:cs typeface="Montserrat"/>
                          <a:sym typeface="Montserrat"/>
                        </a:rPr>
                        <a:t>nb_hyperlinks</a:t>
                      </a:r>
                      <a:endParaRPr lang="en-US" sz="1100"/>
                    </a:p>
                    <a:p>
                      <a:pPr algn="ctr">
                        <a:lnSpc>
                          <a:spcPts val="1820"/>
                        </a:lnSpc>
                      </a:pPr>
                      <a:r>
                        <a:rPr lang="en-US" sz="1300">
                          <a:solidFill>
                            <a:srgbClr val="000000"/>
                          </a:solidFill>
                          <a:latin typeface="Montserrat"/>
                          <a:ea typeface="Montserrat"/>
                          <a:cs typeface="Montserrat"/>
                          <a:sym typeface="Montserrat"/>
                        </a:rPr>
                        <a:t>-0.0766</a:t>
                      </a:r>
                    </a:p>
                    <a:p>
                      <a:pPr algn="ctr">
                        <a:lnSpc>
                          <a:spcPts val="1820"/>
                        </a:lnSpc>
                      </a:pPr>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1820"/>
                        </a:lnSpc>
                        <a:defRPr/>
                      </a:pPr>
                      <a:r>
                        <a:rPr lang="en-US" sz="1300">
                          <a:solidFill>
                            <a:srgbClr val="000000"/>
                          </a:solidFill>
                          <a:latin typeface="Montserrat"/>
                          <a:ea typeface="Montserrat"/>
                          <a:cs typeface="Montserrat"/>
                          <a:sym typeface="Montserrat"/>
                        </a:rPr>
                        <a:t>nb_www</a:t>
                      </a:r>
                      <a:endParaRPr lang="en-US" sz="1100"/>
                    </a:p>
                    <a:p>
                      <a:pPr algn="ctr">
                        <a:lnSpc>
                          <a:spcPts val="1820"/>
                        </a:lnSpc>
                      </a:pPr>
                      <a:r>
                        <a:rPr lang="en-US" sz="1300">
                          <a:solidFill>
                            <a:srgbClr val="000000"/>
                          </a:solidFill>
                          <a:latin typeface="Montserrat"/>
                          <a:ea typeface="Montserrat"/>
                          <a:cs typeface="Montserrat"/>
                          <a:sym typeface="Montserrat"/>
                        </a:rPr>
                        <a:t>-1.4036</a:t>
                      </a:r>
                    </a:p>
                    <a:p>
                      <a:pPr algn="ctr">
                        <a:lnSpc>
                          <a:spcPts val="1820"/>
                        </a:lnSpc>
                      </a:pPr>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1820"/>
                        </a:lnSpc>
                        <a:defRPr/>
                      </a:pPr>
                      <a:r>
                        <a:rPr lang="en-US" sz="1300">
                          <a:solidFill>
                            <a:srgbClr val="000000"/>
                          </a:solidFill>
                          <a:latin typeface="Montserrat"/>
                          <a:ea typeface="Montserrat"/>
                          <a:cs typeface="Montserrat"/>
                          <a:sym typeface="Montserrat"/>
                        </a:rPr>
                        <a:t>nb_hyperlinks</a:t>
                      </a:r>
                      <a:endParaRPr lang="en-US" sz="1100"/>
                    </a:p>
                    <a:p>
                      <a:pPr algn="ctr">
                        <a:lnSpc>
                          <a:spcPts val="1820"/>
                        </a:lnSpc>
                      </a:pPr>
                      <a:r>
                        <a:rPr lang="en-US" sz="1300">
                          <a:solidFill>
                            <a:srgbClr val="000000"/>
                          </a:solidFill>
                          <a:latin typeface="Montserrat"/>
                          <a:ea typeface="Montserrat"/>
                          <a:cs typeface="Montserrat"/>
                          <a:sym typeface="Montserrat"/>
                        </a:rPr>
                        <a:t>-</a:t>
                      </a:r>
                      <a:r>
                        <a:rPr lang="en-US" sz="1300">
                          <a:solidFill>
                            <a:srgbClr val="000000"/>
                          </a:solidFill>
                          <a:latin typeface="Montserrat"/>
                          <a:ea typeface="Montserrat"/>
                          <a:cs typeface="Montserrat"/>
                          <a:sym typeface="Montserrat"/>
                        </a:rPr>
                        <a:t>0.0766</a:t>
                      </a:r>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1820"/>
                        </a:lnSpc>
                        <a:defRPr/>
                      </a:pPr>
                      <a:r>
                        <a:rPr lang="en-US" sz="1300">
                          <a:solidFill>
                            <a:srgbClr val="000000"/>
                          </a:solidFill>
                          <a:latin typeface="Montserrat"/>
                          <a:ea typeface="Montserrat"/>
                          <a:cs typeface="Montserrat"/>
                          <a:sym typeface="Montserrat"/>
                        </a:rPr>
                        <a:t>nb_hyperlinks-0.0766</a:t>
                      </a:r>
                      <a:endParaRPr lang="en-US" sz="1100"/>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r>
              <a:tr h="938212">
                <a:tc>
                  <a:txBody>
                    <a:bodyPr anchor="t" rtlCol="false"/>
                    <a:lstStyle/>
                    <a:p>
                      <a:pPr algn="ctr">
                        <a:lnSpc>
                          <a:spcPts val="1820"/>
                        </a:lnSpc>
                        <a:defRPr/>
                      </a:pPr>
                      <a:r>
                        <a:rPr lang="en-US" sz="1300" b="true">
                          <a:solidFill>
                            <a:srgbClr val="000000"/>
                          </a:solidFill>
                          <a:latin typeface="Montserrat Bold"/>
                          <a:ea typeface="Montserrat Bold"/>
                          <a:cs typeface="Montserrat Bold"/>
                          <a:sym typeface="Montserrat Bold"/>
                        </a:rPr>
                        <a:t>3</a:t>
                      </a:r>
                      <a:endParaRPr lang="en-US" sz="1100"/>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c>
                  <a:txBody>
                    <a:bodyPr anchor="t" rtlCol="false"/>
                    <a:lstStyle/>
                    <a:p>
                      <a:pPr algn="ctr">
                        <a:lnSpc>
                          <a:spcPts val="1820"/>
                        </a:lnSpc>
                        <a:defRPr/>
                      </a:pPr>
                      <a:r>
                        <a:rPr lang="en-US" sz="1300">
                          <a:solidFill>
                            <a:srgbClr val="000000"/>
                          </a:solidFill>
                          <a:latin typeface="Montserrat"/>
                          <a:ea typeface="Montserrat"/>
                          <a:cs typeface="Montserrat"/>
                          <a:sym typeface="Montserrat"/>
                        </a:rPr>
                        <a:t>web_traffic</a:t>
                      </a:r>
                      <a:endParaRPr lang="en-US" sz="1100"/>
                    </a:p>
                    <a:p>
                      <a:pPr algn="ctr">
                        <a:lnSpc>
                          <a:spcPts val="1820"/>
                        </a:lnSpc>
                      </a:pPr>
                      <a:r>
                        <a:rPr lang="en-US" sz="1300">
                          <a:solidFill>
                            <a:srgbClr val="000000"/>
                          </a:solidFill>
                          <a:latin typeface="Montserrat"/>
                          <a:ea typeface="Montserrat"/>
                          <a:cs typeface="Montserrat"/>
                          <a:sym typeface="Montserrat"/>
                        </a:rPr>
                        <a:t>+0.0640</a:t>
                      </a:r>
                    </a:p>
                    <a:p>
                      <a:pPr algn="ctr">
                        <a:lnSpc>
                          <a:spcPts val="1820"/>
                        </a:lnSpc>
                      </a:pPr>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1820"/>
                        </a:lnSpc>
                        <a:defRPr/>
                      </a:pPr>
                      <a:r>
                        <a:rPr lang="en-US" sz="1300">
                          <a:solidFill>
                            <a:srgbClr val="000000"/>
                          </a:solidFill>
                          <a:latin typeface="Montserrat"/>
                          <a:ea typeface="Montserrat"/>
                          <a:cs typeface="Montserrat"/>
                          <a:sym typeface="Montserrat"/>
                        </a:rPr>
                        <a:t>page_rank</a:t>
                      </a:r>
                      <a:endParaRPr lang="en-US" sz="1100"/>
                    </a:p>
                    <a:p>
                      <a:pPr algn="ctr">
                        <a:lnSpc>
                          <a:spcPts val="1820"/>
                        </a:lnSpc>
                      </a:pPr>
                      <a:r>
                        <a:rPr lang="en-US" sz="1300">
                          <a:solidFill>
                            <a:srgbClr val="000000"/>
                          </a:solidFill>
                          <a:latin typeface="Montserrat"/>
                          <a:ea typeface="Montserrat"/>
                          <a:cs typeface="Montserrat"/>
                          <a:sym typeface="Montserrat"/>
                        </a:rPr>
                        <a:t>-1.2708</a:t>
                      </a:r>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1820"/>
                        </a:lnSpc>
                        <a:defRPr/>
                      </a:pPr>
                      <a:r>
                        <a:rPr lang="en-US" sz="1300">
                          <a:solidFill>
                            <a:srgbClr val="000000"/>
                          </a:solidFill>
                          <a:latin typeface="Montserrat"/>
                          <a:ea typeface="Montserrat"/>
                          <a:cs typeface="Montserrat"/>
                          <a:sym typeface="Montserrat"/>
                        </a:rPr>
                        <a:t>web_traffic</a:t>
                      </a:r>
                      <a:endParaRPr lang="en-US" sz="1100"/>
                    </a:p>
                    <a:p>
                      <a:pPr algn="ctr">
                        <a:lnSpc>
                          <a:spcPts val="1820"/>
                        </a:lnSpc>
                      </a:pPr>
                      <a:r>
                        <a:rPr lang="en-US" sz="1300">
                          <a:solidFill>
                            <a:srgbClr val="000000"/>
                          </a:solidFill>
                          <a:latin typeface="Montserrat"/>
                          <a:ea typeface="Montserrat"/>
                          <a:cs typeface="Montserrat"/>
                          <a:sym typeface="Montserrat"/>
                        </a:rPr>
                        <a:t>+</a:t>
                      </a:r>
                      <a:r>
                        <a:rPr lang="en-US" sz="1300">
                          <a:solidFill>
                            <a:srgbClr val="000000"/>
                          </a:solidFill>
                          <a:latin typeface="Montserrat"/>
                          <a:ea typeface="Montserrat"/>
                          <a:cs typeface="Montserrat"/>
                          <a:sym typeface="Montserrat"/>
                        </a:rPr>
                        <a:t>0.0640</a:t>
                      </a:r>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1820"/>
                        </a:lnSpc>
                        <a:defRPr/>
                      </a:pPr>
                      <a:r>
                        <a:rPr lang="en-US" sz="1300">
                          <a:solidFill>
                            <a:srgbClr val="000000"/>
                          </a:solidFill>
                          <a:latin typeface="Montserrat"/>
                          <a:ea typeface="Montserrat"/>
                          <a:cs typeface="Montserrat"/>
                          <a:sym typeface="Montserrat"/>
                        </a:rPr>
                        <a:t>web_traffic+0.0640</a:t>
                      </a:r>
                      <a:endParaRPr lang="en-US" sz="1100"/>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r>
              <a:tr h="1172766">
                <a:tc>
                  <a:txBody>
                    <a:bodyPr anchor="t" rtlCol="false"/>
                    <a:lstStyle/>
                    <a:p>
                      <a:pPr algn="ctr">
                        <a:lnSpc>
                          <a:spcPts val="1820"/>
                        </a:lnSpc>
                        <a:defRPr/>
                      </a:pPr>
                      <a:r>
                        <a:rPr lang="en-US" sz="1300" b="true">
                          <a:solidFill>
                            <a:srgbClr val="000000"/>
                          </a:solidFill>
                          <a:latin typeface="Montserrat Bold"/>
                          <a:ea typeface="Montserrat Bold"/>
                          <a:cs typeface="Montserrat Bold"/>
                          <a:sym typeface="Montserrat Bold"/>
                        </a:rPr>
                        <a:t>4</a:t>
                      </a:r>
                      <a:endParaRPr lang="en-US" sz="1100"/>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c>
                  <a:txBody>
                    <a:bodyPr anchor="t" rtlCol="false"/>
                    <a:lstStyle/>
                    <a:p>
                      <a:pPr algn="ctr">
                        <a:lnSpc>
                          <a:spcPts val="1820"/>
                        </a:lnSpc>
                        <a:defRPr/>
                      </a:pPr>
                      <a:r>
                        <a:rPr lang="en-US" sz="1300">
                          <a:solidFill>
                            <a:srgbClr val="000000"/>
                          </a:solidFill>
                          <a:latin typeface="Montserrat"/>
                          <a:ea typeface="Montserrat"/>
                          <a:cs typeface="Montserrat"/>
                          <a:sym typeface="Montserrat"/>
                        </a:rPr>
                        <a:t>nb_www</a:t>
                      </a:r>
                      <a:endParaRPr lang="en-US" sz="1100"/>
                    </a:p>
                    <a:p>
                      <a:pPr algn="ctr">
                        <a:lnSpc>
                          <a:spcPts val="1820"/>
                        </a:lnSpc>
                      </a:pPr>
                      <a:r>
                        <a:rPr lang="en-US" sz="1300">
                          <a:solidFill>
                            <a:srgbClr val="000000"/>
                          </a:solidFill>
                          <a:latin typeface="Montserrat"/>
                          <a:ea typeface="Montserrat"/>
                          <a:cs typeface="Montserrat"/>
                          <a:sym typeface="Montserrat"/>
                        </a:rPr>
                        <a:t>-</a:t>
                      </a:r>
                      <a:r>
                        <a:rPr lang="en-US" sz="1300">
                          <a:solidFill>
                            <a:srgbClr val="000000"/>
                          </a:solidFill>
                          <a:latin typeface="Montserrat"/>
                          <a:ea typeface="Montserrat"/>
                          <a:cs typeface="Montserrat"/>
                          <a:sym typeface="Montserrat"/>
                        </a:rPr>
                        <a:t>0.0588</a:t>
                      </a:r>
                    </a:p>
                    <a:p>
                      <a:pPr algn="ctr">
                        <a:lnSpc>
                          <a:spcPts val="1820"/>
                        </a:lnSpc>
                      </a:pPr>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1820"/>
                        </a:lnSpc>
                        <a:defRPr/>
                      </a:pPr>
                      <a:r>
                        <a:rPr lang="en-US" sz="1300">
                          <a:solidFill>
                            <a:srgbClr val="000000"/>
                          </a:solidFill>
                          <a:latin typeface="Montserrat"/>
                          <a:ea typeface="Montserrat"/>
                          <a:cs typeface="Montserrat"/>
                          <a:sym typeface="Montserrat"/>
                        </a:rPr>
                        <a:t>shortest_word_path</a:t>
                      </a:r>
                      <a:endParaRPr lang="en-US" sz="1100"/>
                    </a:p>
                    <a:p>
                      <a:pPr algn="ctr">
                        <a:lnSpc>
                          <a:spcPts val="1820"/>
                        </a:lnSpc>
                      </a:pPr>
                      <a:r>
                        <a:rPr lang="en-US" sz="1300">
                          <a:solidFill>
                            <a:srgbClr val="000000"/>
                          </a:solidFill>
                          <a:latin typeface="Montserrat"/>
                          <a:ea typeface="Montserrat"/>
                          <a:cs typeface="Montserrat"/>
                          <a:sym typeface="Montserrat"/>
                        </a:rPr>
                        <a:t>-0.4203</a:t>
                      </a:r>
                    </a:p>
                    <a:p>
                      <a:pPr algn="ctr">
                        <a:lnSpc>
                          <a:spcPts val="1820"/>
                        </a:lnSpc>
                      </a:pPr>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1820"/>
                        </a:lnSpc>
                        <a:defRPr/>
                      </a:pPr>
                      <a:r>
                        <a:rPr lang="en-US" sz="1300">
                          <a:solidFill>
                            <a:srgbClr val="000000"/>
                          </a:solidFill>
                          <a:latin typeface="Montserrat"/>
                          <a:ea typeface="Montserrat"/>
                          <a:cs typeface="Montserrat"/>
                          <a:sym typeface="Montserrat"/>
                        </a:rPr>
                        <a:t>nb_www</a:t>
                      </a:r>
                      <a:endParaRPr lang="en-US" sz="1100"/>
                    </a:p>
                    <a:p>
                      <a:pPr algn="ctr">
                        <a:lnSpc>
                          <a:spcPts val="1820"/>
                        </a:lnSpc>
                      </a:pPr>
                      <a:r>
                        <a:rPr lang="en-US" sz="1300">
                          <a:solidFill>
                            <a:srgbClr val="000000"/>
                          </a:solidFill>
                          <a:latin typeface="Montserrat"/>
                          <a:ea typeface="Montserrat"/>
                          <a:cs typeface="Montserrat"/>
                          <a:sym typeface="Montserrat"/>
                        </a:rPr>
                        <a:t>-0.0588</a:t>
                      </a:r>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1820"/>
                        </a:lnSpc>
                        <a:defRPr/>
                      </a:pPr>
                      <a:r>
                        <a:rPr lang="en-US" sz="1300">
                          <a:solidFill>
                            <a:srgbClr val="000000"/>
                          </a:solidFill>
                          <a:latin typeface="Montserrat"/>
                          <a:ea typeface="Montserrat"/>
                          <a:cs typeface="Montserrat"/>
                          <a:sym typeface="Montserrat"/>
                        </a:rPr>
                        <a:t>nb_www-0.0588</a:t>
                      </a:r>
                      <a:endParaRPr lang="en-US" sz="1100"/>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r>
            </a:tbl>
          </a:graphicData>
        </a:graphic>
      </p:graphicFrame>
      <p:sp>
        <p:nvSpPr>
          <p:cNvPr name="TextBox 8" id="8"/>
          <p:cNvSpPr txBox="true"/>
          <p:nvPr/>
        </p:nvSpPr>
        <p:spPr>
          <a:xfrm rot="0">
            <a:off x="692764" y="2566693"/>
            <a:ext cx="6554389" cy="372745"/>
          </a:xfrm>
          <a:prstGeom prst="rect">
            <a:avLst/>
          </a:prstGeom>
        </p:spPr>
        <p:txBody>
          <a:bodyPr anchor="t" rtlCol="false" tIns="0" lIns="0" bIns="0" rIns="0">
            <a:spAutoFit/>
          </a:bodyPr>
          <a:lstStyle/>
          <a:p>
            <a:pPr algn="just">
              <a:lnSpc>
                <a:spcPts val="3079"/>
              </a:lnSpc>
              <a:spcBef>
                <a:spcPct val="0"/>
              </a:spcBef>
            </a:pPr>
            <a:r>
              <a:rPr lang="en-US" sz="2199">
                <a:solidFill>
                  <a:srgbClr val="000000"/>
                </a:solidFill>
                <a:latin typeface="Montserrat"/>
                <a:ea typeface="Montserrat"/>
                <a:cs typeface="Montserrat"/>
                <a:sym typeface="Montserrat"/>
              </a:rPr>
              <a:t>URL Benign : </a:t>
            </a:r>
            <a:r>
              <a:rPr lang="en-US" sz="2199" i="true">
                <a:solidFill>
                  <a:srgbClr val="000000"/>
                </a:solidFill>
                <a:latin typeface="Montserrat Italics"/>
                <a:ea typeface="Montserrat Italics"/>
                <a:cs typeface="Montserrat Italics"/>
                <a:sym typeface="Montserrat Italics"/>
              </a:rPr>
              <a:t>https://www.ietf.org/</a:t>
            </a:r>
          </a:p>
        </p:txBody>
      </p:sp>
      <p:sp>
        <p:nvSpPr>
          <p:cNvPr name="TextBox 9" id="9"/>
          <p:cNvSpPr txBox="true"/>
          <p:nvPr/>
        </p:nvSpPr>
        <p:spPr>
          <a:xfrm rot="0">
            <a:off x="9719033" y="2282708"/>
            <a:ext cx="8267256" cy="683586"/>
          </a:xfrm>
          <a:prstGeom prst="rect">
            <a:avLst/>
          </a:prstGeom>
        </p:spPr>
        <p:txBody>
          <a:bodyPr anchor="t" rtlCol="false" tIns="0" lIns="0" bIns="0" rIns="0">
            <a:spAutoFit/>
          </a:bodyPr>
          <a:lstStyle/>
          <a:p>
            <a:pPr algn="just">
              <a:lnSpc>
                <a:spcPts val="2747"/>
              </a:lnSpc>
              <a:spcBef>
                <a:spcPct val="0"/>
              </a:spcBef>
            </a:pPr>
            <a:r>
              <a:rPr lang="en-US" sz="1962">
                <a:solidFill>
                  <a:srgbClr val="000000"/>
                </a:solidFill>
                <a:latin typeface="Montserrat"/>
                <a:ea typeface="Montserrat"/>
                <a:cs typeface="Montserrat"/>
                <a:sym typeface="Montserrat"/>
              </a:rPr>
              <a:t>URLPhishing: </a:t>
            </a:r>
            <a:r>
              <a:rPr lang="en-US" sz="1962" i="true">
                <a:solidFill>
                  <a:srgbClr val="000000"/>
                </a:solidFill>
                <a:latin typeface="Montserrat Italics"/>
                <a:ea typeface="Montserrat Italics"/>
                <a:cs typeface="Montserrat Italics"/>
                <a:sym typeface="Montserrat Italics"/>
              </a:rPr>
              <a:t>http://nmhokdypni.sum4iit.club/vnafvra97w/q=3717065149&amp;id=100</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9259" t="0" r="-9259" b="0"/>
            </a:stretch>
          </a:blipFill>
        </p:spPr>
      </p:sp>
      <p:grpSp>
        <p:nvGrpSpPr>
          <p:cNvPr name="Group 3" id="3"/>
          <p:cNvGrpSpPr/>
          <p:nvPr/>
        </p:nvGrpSpPr>
        <p:grpSpPr>
          <a:xfrm rot="0">
            <a:off x="-329739" y="-237765"/>
            <a:ext cx="2060453" cy="11245354"/>
            <a:chOff x="0" y="0"/>
            <a:chExt cx="542671" cy="2961739"/>
          </a:xfrm>
        </p:grpSpPr>
        <p:sp>
          <p:nvSpPr>
            <p:cNvPr name="Freeform 4" id="4"/>
            <p:cNvSpPr/>
            <p:nvPr/>
          </p:nvSpPr>
          <p:spPr>
            <a:xfrm flipH="false" flipV="false" rot="0">
              <a:off x="0" y="0"/>
              <a:ext cx="542671" cy="2961739"/>
            </a:xfrm>
            <a:custGeom>
              <a:avLst/>
              <a:gdLst/>
              <a:ahLst/>
              <a:cxnLst/>
              <a:rect r="r" b="b" t="t" l="l"/>
              <a:pathLst>
                <a:path h="2961739" w="542671">
                  <a:moveTo>
                    <a:pt x="0" y="0"/>
                  </a:moveTo>
                  <a:lnTo>
                    <a:pt x="542671" y="0"/>
                  </a:lnTo>
                  <a:lnTo>
                    <a:pt x="542671" y="2961739"/>
                  </a:lnTo>
                  <a:lnTo>
                    <a:pt x="0" y="2961739"/>
                  </a:lnTo>
                  <a:close/>
                </a:path>
              </a:pathLst>
            </a:custGeom>
            <a:solidFill>
              <a:srgbClr val="002254"/>
            </a:solidFill>
          </p:spPr>
        </p:sp>
        <p:sp>
          <p:nvSpPr>
            <p:cNvPr name="TextBox 5" id="5"/>
            <p:cNvSpPr txBox="true"/>
            <p:nvPr/>
          </p:nvSpPr>
          <p:spPr>
            <a:xfrm>
              <a:off x="0" y="-38100"/>
              <a:ext cx="542671" cy="2999839"/>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5927912" y="6148578"/>
            <a:ext cx="2060453" cy="11245354"/>
            <a:chOff x="0" y="0"/>
            <a:chExt cx="542671" cy="2961739"/>
          </a:xfrm>
        </p:grpSpPr>
        <p:sp>
          <p:nvSpPr>
            <p:cNvPr name="Freeform 7" id="7"/>
            <p:cNvSpPr/>
            <p:nvPr/>
          </p:nvSpPr>
          <p:spPr>
            <a:xfrm flipH="false" flipV="false" rot="0">
              <a:off x="0" y="0"/>
              <a:ext cx="542671" cy="2961739"/>
            </a:xfrm>
            <a:custGeom>
              <a:avLst/>
              <a:gdLst/>
              <a:ahLst/>
              <a:cxnLst/>
              <a:rect r="r" b="b" t="t" l="l"/>
              <a:pathLst>
                <a:path h="2961739" w="542671">
                  <a:moveTo>
                    <a:pt x="0" y="0"/>
                  </a:moveTo>
                  <a:lnTo>
                    <a:pt x="542671" y="0"/>
                  </a:lnTo>
                  <a:lnTo>
                    <a:pt x="542671" y="2961739"/>
                  </a:lnTo>
                  <a:lnTo>
                    <a:pt x="0" y="2961739"/>
                  </a:lnTo>
                  <a:close/>
                </a:path>
              </a:pathLst>
            </a:custGeom>
            <a:solidFill>
              <a:srgbClr val="002254"/>
            </a:solidFill>
          </p:spPr>
        </p:sp>
        <p:sp>
          <p:nvSpPr>
            <p:cNvPr name="TextBox 8" id="8"/>
            <p:cNvSpPr txBox="true"/>
            <p:nvPr/>
          </p:nvSpPr>
          <p:spPr>
            <a:xfrm>
              <a:off x="0" y="-38100"/>
              <a:ext cx="542671" cy="2999839"/>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692764" y="400218"/>
            <a:ext cx="963762" cy="963762"/>
          </a:xfrm>
          <a:custGeom>
            <a:avLst/>
            <a:gdLst/>
            <a:ahLst/>
            <a:cxnLst/>
            <a:rect r="r" b="b" t="t" l="l"/>
            <a:pathLst>
              <a:path h="963762" w="963762">
                <a:moveTo>
                  <a:pt x="0" y="0"/>
                </a:moveTo>
                <a:lnTo>
                  <a:pt x="963761" y="0"/>
                </a:lnTo>
                <a:lnTo>
                  <a:pt x="963761" y="963762"/>
                </a:lnTo>
                <a:lnTo>
                  <a:pt x="0" y="963762"/>
                </a:lnTo>
                <a:lnTo>
                  <a:pt x="0" y="0"/>
                </a:lnTo>
                <a:close/>
              </a:path>
            </a:pathLst>
          </a:custGeom>
          <a:blipFill>
            <a:blip r:embed="rId3"/>
            <a:stretch>
              <a:fillRect l="0" t="0" r="0" b="0"/>
            </a:stretch>
          </a:blipFill>
        </p:spPr>
      </p:sp>
      <p:sp>
        <p:nvSpPr>
          <p:cNvPr name="Freeform 10" id="10"/>
          <p:cNvSpPr/>
          <p:nvPr/>
        </p:nvSpPr>
        <p:spPr>
          <a:xfrm flipH="false" flipV="false" rot="0">
            <a:off x="3048983" y="2319814"/>
            <a:ext cx="12395773" cy="6730735"/>
          </a:xfrm>
          <a:custGeom>
            <a:avLst/>
            <a:gdLst/>
            <a:ahLst/>
            <a:cxnLst/>
            <a:rect r="r" b="b" t="t" l="l"/>
            <a:pathLst>
              <a:path h="6730735" w="12395773">
                <a:moveTo>
                  <a:pt x="0" y="0"/>
                </a:moveTo>
                <a:lnTo>
                  <a:pt x="12395773" y="0"/>
                </a:lnTo>
                <a:lnTo>
                  <a:pt x="12395773" y="6730735"/>
                </a:lnTo>
                <a:lnTo>
                  <a:pt x="0" y="6730735"/>
                </a:lnTo>
                <a:lnTo>
                  <a:pt x="0" y="0"/>
                </a:lnTo>
                <a:close/>
              </a:path>
            </a:pathLst>
          </a:custGeom>
          <a:blipFill>
            <a:blip r:embed="rId4"/>
            <a:stretch>
              <a:fillRect l="-890" t="0" r="-1450" b="-1071"/>
            </a:stretch>
          </a:blipFill>
        </p:spPr>
      </p:sp>
      <p:sp>
        <p:nvSpPr>
          <p:cNvPr name="TextBox 11" id="11"/>
          <p:cNvSpPr txBox="true"/>
          <p:nvPr/>
        </p:nvSpPr>
        <p:spPr>
          <a:xfrm rot="0">
            <a:off x="1864064" y="681990"/>
            <a:ext cx="3686274" cy="346710"/>
          </a:xfrm>
          <a:prstGeom prst="rect">
            <a:avLst/>
          </a:prstGeom>
        </p:spPr>
        <p:txBody>
          <a:bodyPr anchor="t" rtlCol="false" tIns="0" lIns="0" bIns="0" rIns="0">
            <a:spAutoFit/>
          </a:bodyPr>
          <a:lstStyle/>
          <a:p>
            <a:pPr algn="ctr">
              <a:lnSpc>
                <a:spcPts val="2400"/>
              </a:lnSpc>
              <a:spcBef>
                <a:spcPct val="0"/>
              </a:spcBef>
            </a:pPr>
            <a:r>
              <a:rPr lang="en-US" b="true" sz="2400">
                <a:solidFill>
                  <a:srgbClr val="0B3454"/>
                </a:solidFill>
                <a:latin typeface="Poppins Semi-Bold"/>
                <a:ea typeface="Poppins Semi-Bold"/>
                <a:cs typeface="Poppins Semi-Bold"/>
                <a:sym typeface="Poppins Semi-Bold"/>
              </a:rPr>
              <a:t>INSTITUT TEKNOLOGI DEL</a:t>
            </a:r>
          </a:p>
        </p:txBody>
      </p:sp>
      <p:sp>
        <p:nvSpPr>
          <p:cNvPr name="TextBox 12" id="12"/>
          <p:cNvSpPr txBox="true"/>
          <p:nvPr/>
        </p:nvSpPr>
        <p:spPr>
          <a:xfrm rot="0">
            <a:off x="3048983" y="1100614"/>
            <a:ext cx="10874008" cy="1028700"/>
          </a:xfrm>
          <a:prstGeom prst="rect">
            <a:avLst/>
          </a:prstGeom>
        </p:spPr>
        <p:txBody>
          <a:bodyPr anchor="t" rtlCol="false" tIns="0" lIns="0" bIns="0" rIns="0">
            <a:spAutoFit/>
          </a:bodyPr>
          <a:lstStyle/>
          <a:p>
            <a:pPr algn="l">
              <a:lnSpc>
                <a:spcPts val="8400"/>
              </a:lnSpc>
            </a:pPr>
            <a:r>
              <a:rPr lang="en-US" sz="6000" b="true">
                <a:solidFill>
                  <a:srgbClr val="002254"/>
                </a:solidFill>
                <a:latin typeface="Montserrat Ultra-Bold"/>
                <a:ea typeface="Montserrat Ultra-Bold"/>
                <a:cs typeface="Montserrat Ultra-Bold"/>
                <a:sym typeface="Montserrat Ultra-Bold"/>
              </a:rPr>
              <a:t>Large Language Model</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9259" t="0" r="-9259" b="0"/>
            </a:stretch>
          </a:blipFill>
        </p:spPr>
      </p:sp>
      <p:sp>
        <p:nvSpPr>
          <p:cNvPr name="TextBox 3" id="3"/>
          <p:cNvSpPr txBox="true"/>
          <p:nvPr/>
        </p:nvSpPr>
        <p:spPr>
          <a:xfrm rot="0">
            <a:off x="1482461" y="1098092"/>
            <a:ext cx="15323078" cy="1739801"/>
          </a:xfrm>
          <a:prstGeom prst="rect">
            <a:avLst/>
          </a:prstGeom>
        </p:spPr>
        <p:txBody>
          <a:bodyPr anchor="t" rtlCol="false" tIns="0" lIns="0" bIns="0" rIns="0">
            <a:spAutoFit/>
          </a:bodyPr>
          <a:lstStyle/>
          <a:p>
            <a:pPr algn="ctr">
              <a:lnSpc>
                <a:spcPts val="7000"/>
              </a:lnSpc>
            </a:pPr>
            <a:r>
              <a:rPr lang="en-US" sz="5000" b="true">
                <a:solidFill>
                  <a:srgbClr val="002254"/>
                </a:solidFill>
                <a:latin typeface="Montserrat Ultra-Bold"/>
                <a:ea typeface="Montserrat Ultra-Bold"/>
                <a:cs typeface="Montserrat Ultra-Bold"/>
                <a:sym typeface="Montserrat Ultra-Bold"/>
              </a:rPr>
              <a:t>Confusion Matrix Evaluation and Single Model Evaluation Metrics</a:t>
            </a:r>
          </a:p>
        </p:txBody>
      </p:sp>
      <p:sp>
        <p:nvSpPr>
          <p:cNvPr name="Freeform 4" id="4"/>
          <p:cNvSpPr/>
          <p:nvPr/>
        </p:nvSpPr>
        <p:spPr>
          <a:xfrm flipH="false" flipV="false" rot="0">
            <a:off x="692764" y="400218"/>
            <a:ext cx="963762" cy="963762"/>
          </a:xfrm>
          <a:custGeom>
            <a:avLst/>
            <a:gdLst/>
            <a:ahLst/>
            <a:cxnLst/>
            <a:rect r="r" b="b" t="t" l="l"/>
            <a:pathLst>
              <a:path h="963762" w="963762">
                <a:moveTo>
                  <a:pt x="0" y="0"/>
                </a:moveTo>
                <a:lnTo>
                  <a:pt x="963761" y="0"/>
                </a:lnTo>
                <a:lnTo>
                  <a:pt x="963761" y="963762"/>
                </a:lnTo>
                <a:lnTo>
                  <a:pt x="0" y="963762"/>
                </a:lnTo>
                <a:lnTo>
                  <a:pt x="0" y="0"/>
                </a:lnTo>
                <a:close/>
              </a:path>
            </a:pathLst>
          </a:custGeom>
          <a:blipFill>
            <a:blip r:embed="rId3"/>
            <a:stretch>
              <a:fillRect l="0" t="0" r="0" b="0"/>
            </a:stretch>
          </a:blipFill>
        </p:spPr>
      </p:sp>
      <p:sp>
        <p:nvSpPr>
          <p:cNvPr name="TextBox 5" id="5"/>
          <p:cNvSpPr txBox="true"/>
          <p:nvPr/>
        </p:nvSpPr>
        <p:spPr>
          <a:xfrm rot="0">
            <a:off x="1864064" y="681990"/>
            <a:ext cx="3686274" cy="346710"/>
          </a:xfrm>
          <a:prstGeom prst="rect">
            <a:avLst/>
          </a:prstGeom>
        </p:spPr>
        <p:txBody>
          <a:bodyPr anchor="t" rtlCol="false" tIns="0" lIns="0" bIns="0" rIns="0">
            <a:spAutoFit/>
          </a:bodyPr>
          <a:lstStyle/>
          <a:p>
            <a:pPr algn="ctr">
              <a:lnSpc>
                <a:spcPts val="2400"/>
              </a:lnSpc>
              <a:spcBef>
                <a:spcPct val="0"/>
              </a:spcBef>
            </a:pPr>
            <a:r>
              <a:rPr lang="en-US" b="true" sz="2400">
                <a:solidFill>
                  <a:srgbClr val="0B3454"/>
                </a:solidFill>
                <a:latin typeface="Poppins Semi-Bold"/>
                <a:ea typeface="Poppins Semi-Bold"/>
                <a:cs typeface="Poppins Semi-Bold"/>
                <a:sym typeface="Poppins Semi-Bold"/>
              </a:rPr>
              <a:t>INSTITUT TEKNOLOGI DEL</a:t>
            </a:r>
          </a:p>
        </p:txBody>
      </p:sp>
      <p:graphicFrame>
        <p:nvGraphicFramePr>
          <p:cNvPr name="Table 6" id="6"/>
          <p:cNvGraphicFramePr>
            <a:graphicFrameLocks noGrp="true"/>
          </p:cNvGraphicFramePr>
          <p:nvPr/>
        </p:nvGraphicFramePr>
        <p:xfrm>
          <a:off x="1028700" y="3140387"/>
          <a:ext cx="8558417" cy="4679745"/>
        </p:xfrm>
        <a:graphic>
          <a:graphicData uri="http://schemas.openxmlformats.org/drawingml/2006/table">
            <a:tbl>
              <a:tblPr/>
              <a:tblGrid>
                <a:gridCol w="1979552"/>
                <a:gridCol w="2544539"/>
                <a:gridCol w="2128645"/>
                <a:gridCol w="1905682"/>
              </a:tblGrid>
              <a:tr h="794761">
                <a:tc>
                  <a:txBody>
                    <a:bodyPr anchor="t" rtlCol="false"/>
                    <a:lstStyle/>
                    <a:p>
                      <a:pPr algn="ctr">
                        <a:lnSpc>
                          <a:spcPts val="2520"/>
                        </a:lnSpc>
                        <a:defRPr/>
                      </a:pPr>
                      <a:r>
                        <a:rPr lang="en-US" sz="1800" b="true">
                          <a:solidFill>
                            <a:srgbClr val="000000"/>
                          </a:solidFill>
                          <a:latin typeface="Montserrat Bold"/>
                          <a:ea typeface="Montserrat Bold"/>
                          <a:cs typeface="Montserrat Bold"/>
                          <a:sym typeface="Montserrat Bold"/>
                        </a:rPr>
                        <a:t>Parameter</a:t>
                      </a:r>
                      <a:endParaRPr lang="en-US" sz="1100"/>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99ACFF"/>
                    </a:solidFill>
                  </a:tcPr>
                </a:tc>
                <a:tc>
                  <a:txBody>
                    <a:bodyPr anchor="t" rtlCol="false"/>
                    <a:lstStyle/>
                    <a:p>
                      <a:pPr algn="ctr">
                        <a:lnSpc>
                          <a:spcPts val="2520"/>
                        </a:lnSpc>
                        <a:defRPr/>
                      </a:pPr>
                      <a:r>
                        <a:rPr lang="en-US" sz="1800" b="true">
                          <a:solidFill>
                            <a:srgbClr val="000000"/>
                          </a:solidFill>
                          <a:latin typeface="Montserrat Bold"/>
                          <a:ea typeface="Montserrat Bold"/>
                          <a:cs typeface="Montserrat Bold"/>
                          <a:sym typeface="Montserrat Bold"/>
                        </a:rPr>
                        <a:t>Keterangan</a:t>
                      </a:r>
                      <a:endParaRPr lang="en-US" sz="1100"/>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99ACFF"/>
                    </a:solidFill>
                  </a:tcPr>
                </a:tc>
                <a:tc>
                  <a:txBody>
                    <a:bodyPr anchor="t" rtlCol="false"/>
                    <a:lstStyle/>
                    <a:p>
                      <a:pPr algn="ctr">
                        <a:lnSpc>
                          <a:spcPts val="2520"/>
                        </a:lnSpc>
                        <a:defRPr/>
                      </a:pPr>
                      <a:r>
                        <a:rPr lang="en-US" sz="1800" b="true">
                          <a:solidFill>
                            <a:srgbClr val="000000"/>
                          </a:solidFill>
                          <a:latin typeface="Montserrat Bold"/>
                          <a:ea typeface="Montserrat Bold"/>
                          <a:cs typeface="Montserrat Bold"/>
                          <a:sym typeface="Montserrat Bold"/>
                        </a:rPr>
                        <a:t>Random Forest</a:t>
                      </a:r>
                      <a:endParaRPr lang="en-US" sz="1100"/>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99ACFF"/>
                    </a:solidFill>
                  </a:tcPr>
                </a:tc>
                <a:tc>
                  <a:txBody>
                    <a:bodyPr anchor="t" rtlCol="false"/>
                    <a:lstStyle/>
                    <a:p>
                      <a:pPr algn="ctr">
                        <a:lnSpc>
                          <a:spcPts val="2520"/>
                        </a:lnSpc>
                        <a:defRPr/>
                      </a:pPr>
                      <a:r>
                        <a:rPr lang="en-US" sz="1800" b="true">
                          <a:solidFill>
                            <a:srgbClr val="000000"/>
                          </a:solidFill>
                          <a:latin typeface="Montserrat Bold"/>
                          <a:ea typeface="Montserrat Bold"/>
                          <a:cs typeface="Montserrat Bold"/>
                          <a:sym typeface="Montserrat Bold"/>
                        </a:rPr>
                        <a:t>XGBoost</a:t>
                      </a:r>
                      <a:endParaRPr lang="en-US" sz="1100"/>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99ACFF"/>
                    </a:solidFill>
                  </a:tcPr>
                </a:tc>
              </a:tr>
              <a:tr h="971246">
                <a:tc>
                  <a:txBody>
                    <a:bodyPr anchor="t" rtlCol="false"/>
                    <a:lstStyle/>
                    <a:p>
                      <a:pPr algn="ctr">
                        <a:lnSpc>
                          <a:spcPts val="2520"/>
                        </a:lnSpc>
                        <a:defRPr/>
                      </a:pPr>
                      <a:r>
                        <a:rPr lang="en-US" sz="1800" b="true">
                          <a:solidFill>
                            <a:srgbClr val="000000"/>
                          </a:solidFill>
                          <a:latin typeface="Montserrat Bold"/>
                          <a:ea typeface="Montserrat Bold"/>
                          <a:cs typeface="Montserrat Bold"/>
                          <a:sym typeface="Montserrat Bold"/>
                        </a:rPr>
                        <a:t>True Positive (TP)</a:t>
                      </a:r>
                      <a:endParaRPr lang="en-US" sz="1100"/>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c>
                  <a:txBody>
                    <a:bodyPr anchor="t" rtlCol="false"/>
                    <a:lstStyle/>
                    <a:p>
                      <a:pPr algn="just">
                        <a:lnSpc>
                          <a:spcPts val="2520"/>
                        </a:lnSpc>
                        <a:defRPr/>
                      </a:pPr>
                      <a:r>
                        <a:rPr lang="en-US" sz="1800">
                          <a:solidFill>
                            <a:srgbClr val="000000"/>
                          </a:solidFill>
                          <a:latin typeface="Montserrat"/>
                          <a:ea typeface="Montserrat"/>
                          <a:cs typeface="Montserrat"/>
                          <a:sym typeface="Montserrat"/>
                        </a:rPr>
                        <a:t>Phishing diprediksi Phishing</a:t>
                      </a:r>
                      <a:endParaRPr lang="en-US" sz="1100"/>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1800">
                          <a:solidFill>
                            <a:srgbClr val="000000"/>
                          </a:solidFill>
                          <a:latin typeface="Montserrat"/>
                          <a:ea typeface="Montserrat"/>
                          <a:cs typeface="Montserrat"/>
                          <a:sym typeface="Montserrat"/>
                        </a:rPr>
                        <a:t>1.111</a:t>
                      </a:r>
                      <a:endParaRPr lang="en-US" sz="1100"/>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1800">
                          <a:solidFill>
                            <a:srgbClr val="000000"/>
                          </a:solidFill>
                          <a:latin typeface="Montserrat"/>
                          <a:ea typeface="Montserrat"/>
                          <a:cs typeface="Montserrat"/>
                          <a:sym typeface="Montserrat"/>
                        </a:rPr>
                        <a:t>1.114</a:t>
                      </a:r>
                      <a:endParaRPr lang="en-US" sz="1100"/>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r>
              <a:tr h="971246">
                <a:tc>
                  <a:txBody>
                    <a:bodyPr anchor="t" rtlCol="false"/>
                    <a:lstStyle/>
                    <a:p>
                      <a:pPr algn="ctr">
                        <a:lnSpc>
                          <a:spcPts val="2520"/>
                        </a:lnSpc>
                        <a:defRPr/>
                      </a:pPr>
                      <a:r>
                        <a:rPr lang="en-US" sz="1800" b="true">
                          <a:solidFill>
                            <a:srgbClr val="000000"/>
                          </a:solidFill>
                          <a:latin typeface="Montserrat Bold"/>
                          <a:ea typeface="Montserrat Bold"/>
                          <a:cs typeface="Montserrat Bold"/>
                          <a:sym typeface="Montserrat Bold"/>
                        </a:rPr>
                        <a:t>True Negative (TN)</a:t>
                      </a:r>
                      <a:endParaRPr lang="en-US" sz="1100"/>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c>
                  <a:txBody>
                    <a:bodyPr anchor="t" rtlCol="false"/>
                    <a:lstStyle/>
                    <a:p>
                      <a:pPr algn="l">
                        <a:lnSpc>
                          <a:spcPts val="2520"/>
                        </a:lnSpc>
                        <a:defRPr/>
                      </a:pPr>
                      <a:r>
                        <a:rPr lang="en-US" sz="1800">
                          <a:solidFill>
                            <a:srgbClr val="000000"/>
                          </a:solidFill>
                          <a:latin typeface="Montserrat"/>
                          <a:ea typeface="Montserrat"/>
                          <a:cs typeface="Montserrat"/>
                          <a:sym typeface="Montserrat"/>
                        </a:rPr>
                        <a:t>Benign diprediksi Benign</a:t>
                      </a:r>
                      <a:endParaRPr lang="en-US" sz="1100"/>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1800">
                          <a:solidFill>
                            <a:srgbClr val="000000"/>
                          </a:solidFill>
                          <a:latin typeface="Montserrat"/>
                          <a:ea typeface="Montserrat"/>
                          <a:cs typeface="Montserrat"/>
                          <a:sym typeface="Montserrat"/>
                        </a:rPr>
                        <a:t>1.111</a:t>
                      </a:r>
                      <a:endParaRPr lang="en-US" sz="1100"/>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1800">
                          <a:solidFill>
                            <a:srgbClr val="000000"/>
                          </a:solidFill>
                          <a:latin typeface="Montserrat"/>
                          <a:ea typeface="Montserrat"/>
                          <a:cs typeface="Montserrat"/>
                          <a:sym typeface="Montserrat"/>
                        </a:rPr>
                        <a:t>1.115</a:t>
                      </a:r>
                      <a:endParaRPr lang="en-US" sz="1100"/>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r>
              <a:tr h="971246">
                <a:tc>
                  <a:txBody>
                    <a:bodyPr anchor="t" rtlCol="false"/>
                    <a:lstStyle/>
                    <a:p>
                      <a:pPr algn="ctr">
                        <a:lnSpc>
                          <a:spcPts val="2520"/>
                        </a:lnSpc>
                        <a:defRPr/>
                      </a:pPr>
                      <a:r>
                        <a:rPr lang="en-US" sz="1800" b="true">
                          <a:solidFill>
                            <a:srgbClr val="000000"/>
                          </a:solidFill>
                          <a:latin typeface="Montserrat Bold"/>
                          <a:ea typeface="Montserrat Bold"/>
                          <a:cs typeface="Montserrat Bold"/>
                          <a:sym typeface="Montserrat Bold"/>
                        </a:rPr>
                        <a:t>False Positive (FP)</a:t>
                      </a:r>
                      <a:endParaRPr lang="en-US" sz="1100"/>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c>
                  <a:txBody>
                    <a:bodyPr anchor="t" rtlCol="false"/>
                    <a:lstStyle/>
                    <a:p>
                      <a:pPr algn="l">
                        <a:lnSpc>
                          <a:spcPts val="2520"/>
                        </a:lnSpc>
                        <a:defRPr/>
                      </a:pPr>
                      <a:r>
                        <a:rPr lang="en-US" sz="1800">
                          <a:solidFill>
                            <a:srgbClr val="000000"/>
                          </a:solidFill>
                          <a:latin typeface="Montserrat"/>
                          <a:ea typeface="Montserrat"/>
                          <a:cs typeface="Montserrat"/>
                          <a:sym typeface="Montserrat"/>
                        </a:rPr>
                        <a:t>Benign diprediksi Phishing</a:t>
                      </a:r>
                      <a:endParaRPr lang="en-US" sz="1100"/>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1800">
                          <a:solidFill>
                            <a:srgbClr val="000000"/>
                          </a:solidFill>
                          <a:latin typeface="Montserrat"/>
                          <a:ea typeface="Montserrat"/>
                          <a:cs typeface="Montserrat"/>
                          <a:sym typeface="Montserrat"/>
                        </a:rPr>
                        <a:t>32</a:t>
                      </a:r>
                      <a:endParaRPr lang="en-US" sz="1100"/>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1800">
                          <a:solidFill>
                            <a:srgbClr val="000000"/>
                          </a:solidFill>
                          <a:latin typeface="Montserrat"/>
                          <a:ea typeface="Montserrat"/>
                          <a:cs typeface="Montserrat"/>
                          <a:sym typeface="Montserrat"/>
                        </a:rPr>
                        <a:t>28</a:t>
                      </a:r>
                      <a:endParaRPr lang="en-US" sz="1100"/>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r>
              <a:tr h="971246">
                <a:tc>
                  <a:txBody>
                    <a:bodyPr anchor="t" rtlCol="false"/>
                    <a:lstStyle/>
                    <a:p>
                      <a:pPr algn="ctr">
                        <a:lnSpc>
                          <a:spcPts val="2520"/>
                        </a:lnSpc>
                        <a:defRPr/>
                      </a:pPr>
                      <a:r>
                        <a:rPr lang="en-US" sz="1800" b="true">
                          <a:solidFill>
                            <a:srgbClr val="000000"/>
                          </a:solidFill>
                          <a:latin typeface="Montserrat Bold"/>
                          <a:ea typeface="Montserrat Bold"/>
                          <a:cs typeface="Montserrat Bold"/>
                          <a:sym typeface="Montserrat Bold"/>
                        </a:rPr>
                        <a:t>False Negative (FN)</a:t>
                      </a:r>
                      <a:endParaRPr lang="en-US" sz="1100"/>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c>
                  <a:txBody>
                    <a:bodyPr anchor="t" rtlCol="false"/>
                    <a:lstStyle/>
                    <a:p>
                      <a:pPr algn="l">
                        <a:lnSpc>
                          <a:spcPts val="2520"/>
                        </a:lnSpc>
                        <a:defRPr/>
                      </a:pPr>
                      <a:r>
                        <a:rPr lang="en-US" sz="1800">
                          <a:solidFill>
                            <a:srgbClr val="000000"/>
                          </a:solidFill>
                          <a:latin typeface="Montserrat"/>
                          <a:ea typeface="Montserrat"/>
                          <a:cs typeface="Montserrat"/>
                          <a:sym typeface="Montserrat"/>
                        </a:rPr>
                        <a:t>Phishing diprediksi Benign</a:t>
                      </a:r>
                      <a:endParaRPr lang="en-US" sz="1100"/>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1800">
                          <a:solidFill>
                            <a:srgbClr val="000000"/>
                          </a:solidFill>
                          <a:latin typeface="Montserrat"/>
                          <a:ea typeface="Montserrat"/>
                          <a:cs typeface="Montserrat"/>
                          <a:sym typeface="Montserrat"/>
                        </a:rPr>
                        <a:t>32</a:t>
                      </a:r>
                      <a:endParaRPr lang="en-US" sz="1100"/>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1800">
                          <a:solidFill>
                            <a:srgbClr val="000000"/>
                          </a:solidFill>
                          <a:latin typeface="Montserrat"/>
                          <a:ea typeface="Montserrat"/>
                          <a:cs typeface="Montserrat"/>
                          <a:sym typeface="Montserrat"/>
                        </a:rPr>
                        <a:t>29</a:t>
                      </a:r>
                      <a:endParaRPr lang="en-US" sz="1100"/>
                    </a:p>
                  </a:txBody>
                  <a:tcPr marL="95250" marR="95250" marT="95250" marB="9525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r>
            </a:tbl>
          </a:graphicData>
        </a:graphic>
      </p:graphicFrame>
      <p:graphicFrame>
        <p:nvGraphicFramePr>
          <p:cNvPr name="Table 7" id="7"/>
          <p:cNvGraphicFramePr>
            <a:graphicFrameLocks noGrp="true"/>
          </p:cNvGraphicFramePr>
          <p:nvPr/>
        </p:nvGraphicFramePr>
        <p:xfrm>
          <a:off x="9944100" y="3213097"/>
          <a:ext cx="7315200" cy="4626939"/>
        </p:xfrm>
        <a:graphic>
          <a:graphicData uri="http://schemas.openxmlformats.org/drawingml/2006/table">
            <a:tbl>
              <a:tblPr/>
              <a:tblGrid>
                <a:gridCol w="2438400"/>
                <a:gridCol w="2438400"/>
                <a:gridCol w="2438400"/>
              </a:tblGrid>
              <a:tr h="771157">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Metrik Evaluasi</a:t>
                      </a:r>
                      <a:endParaRPr lang="en-US" sz="1100"/>
                    </a:p>
                  </a:txBody>
                  <a:tcPr marL="95250" marR="95250" marT="95250" marB="95250" anchor="ctr">
                    <a:lnL cmpd="sng" algn="ctr" cap="flat" w="0">
                      <a:solidFill>
                        <a:srgbClr val="BB99FF"/>
                      </a:solidFill>
                      <a:prstDash val="solid"/>
                      <a:round/>
                      <a:headEnd type="none" w="med" len="med"/>
                      <a:tailEnd type="none" w="med" len="med"/>
                    </a:lnL>
                    <a:lnR cmpd="sng" algn="ctr" cap="flat" w="0">
                      <a:solidFill>
                        <a:srgbClr val="BB99FF"/>
                      </a:solidFill>
                      <a:prstDash val="solid"/>
                      <a:round/>
                      <a:headEnd type="none" w="med" len="med"/>
                      <a:tailEnd type="none" w="med" len="med"/>
                    </a:lnR>
                    <a:lnT cmpd="sng" algn="ctr" cap="flat" w="0">
                      <a:solidFill>
                        <a:srgbClr val="BB99FF"/>
                      </a:solidFill>
                      <a:prstDash val="solid"/>
                      <a:round/>
                      <a:headEnd type="none" w="med" len="med"/>
                      <a:tailEnd type="none" w="med" len="med"/>
                    </a:lnT>
                    <a:lnB cmpd="sng" algn="ctr" cap="flat" w="0">
                      <a:solidFill>
                        <a:srgbClr val="BB99FF"/>
                      </a:solidFill>
                      <a:prstDash val="solid"/>
                      <a:round/>
                      <a:headEnd type="none" w="med" len="med"/>
                      <a:tailEnd type="none" w="med" len="med"/>
                    </a:lnB>
                    <a:solidFill>
                      <a:srgbClr val="BB99FF"/>
                    </a:solidFill>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Random Forest</a:t>
                      </a:r>
                      <a:endParaRPr lang="en-US" sz="1100"/>
                    </a:p>
                  </a:txBody>
                  <a:tcPr marL="95250" marR="95250" marT="95250" marB="95250" anchor="ctr">
                    <a:lnL cmpd="sng" algn="ctr" cap="flat" w="0">
                      <a:solidFill>
                        <a:srgbClr val="BB99FF"/>
                      </a:solidFill>
                      <a:prstDash val="solid"/>
                      <a:round/>
                      <a:headEnd type="none" w="med" len="med"/>
                      <a:tailEnd type="none" w="med" len="med"/>
                    </a:lnL>
                    <a:lnR cmpd="sng" algn="ctr" cap="flat" w="0">
                      <a:solidFill>
                        <a:srgbClr val="BB99FF"/>
                      </a:solidFill>
                      <a:prstDash val="solid"/>
                      <a:round/>
                      <a:headEnd type="none" w="med" len="med"/>
                      <a:tailEnd type="none" w="med" len="med"/>
                    </a:lnR>
                    <a:lnT cmpd="sng" algn="ctr" cap="flat" w="0">
                      <a:solidFill>
                        <a:srgbClr val="BB99FF"/>
                      </a:solidFill>
                      <a:prstDash val="solid"/>
                      <a:round/>
                      <a:headEnd type="none" w="med" len="med"/>
                      <a:tailEnd type="none" w="med" len="med"/>
                    </a:lnT>
                    <a:lnB cmpd="sng" algn="ctr" cap="flat" w="0">
                      <a:solidFill>
                        <a:srgbClr val="BB99FF"/>
                      </a:solidFill>
                      <a:prstDash val="solid"/>
                      <a:round/>
                      <a:headEnd type="none" w="med" len="med"/>
                      <a:tailEnd type="none" w="med" len="med"/>
                    </a:lnB>
                    <a:solidFill>
                      <a:srgbClr val="BB99FF"/>
                    </a:solidFill>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XGBoost</a:t>
                      </a:r>
                      <a:endParaRPr lang="en-US" sz="1100"/>
                    </a:p>
                  </a:txBody>
                  <a:tcPr marL="95250" marR="95250" marT="95250" marB="95250" anchor="ctr">
                    <a:lnL cmpd="sng" algn="ctr" cap="flat" w="0">
                      <a:solidFill>
                        <a:srgbClr val="BB99FF"/>
                      </a:solidFill>
                      <a:prstDash val="solid"/>
                      <a:round/>
                      <a:headEnd type="none" w="med" len="med"/>
                      <a:tailEnd type="none" w="med" len="med"/>
                    </a:lnL>
                    <a:lnR cmpd="sng" algn="ctr" cap="flat" w="0">
                      <a:solidFill>
                        <a:srgbClr val="BB99FF"/>
                      </a:solidFill>
                      <a:prstDash val="solid"/>
                      <a:round/>
                      <a:headEnd type="none" w="med" len="med"/>
                      <a:tailEnd type="none" w="med" len="med"/>
                    </a:lnR>
                    <a:lnT cmpd="sng" algn="ctr" cap="flat" w="0">
                      <a:solidFill>
                        <a:srgbClr val="BB99FF"/>
                      </a:solidFill>
                      <a:prstDash val="solid"/>
                      <a:round/>
                      <a:headEnd type="none" w="med" len="med"/>
                      <a:tailEnd type="none" w="med" len="med"/>
                    </a:lnT>
                    <a:lnB cmpd="sng" algn="ctr" cap="flat" w="0">
                      <a:solidFill>
                        <a:srgbClr val="BB99FF"/>
                      </a:solidFill>
                      <a:prstDash val="solid"/>
                      <a:round/>
                      <a:headEnd type="none" w="med" len="med"/>
                      <a:tailEnd type="none" w="med" len="med"/>
                    </a:lnB>
                    <a:solidFill>
                      <a:srgbClr val="BB99FF"/>
                    </a:solidFill>
                  </a:tcPr>
                </a:tc>
              </a:tr>
              <a:tr h="771157">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Accuracy</a:t>
                      </a:r>
                      <a:endParaRPr lang="en-US" sz="1100"/>
                    </a:p>
                  </a:txBody>
                  <a:tcPr marL="95250" marR="95250" marT="95250" marB="95250" anchor="ctr">
                    <a:lnL cmpd="sng" algn="ctr" cap="flat" w="0">
                      <a:solidFill>
                        <a:srgbClr val="BB99FF"/>
                      </a:solidFill>
                      <a:prstDash val="solid"/>
                      <a:round/>
                      <a:headEnd type="none" w="med" len="med"/>
                      <a:tailEnd type="none" w="med" len="med"/>
                    </a:lnL>
                    <a:lnR cmpd="sng" algn="ctr" cap="flat" w="0">
                      <a:solidFill>
                        <a:srgbClr val="BB99FF"/>
                      </a:solidFill>
                      <a:prstDash val="solid"/>
                      <a:round/>
                      <a:headEnd type="none" w="med" len="med"/>
                      <a:tailEnd type="none" w="med" len="med"/>
                    </a:lnR>
                    <a:lnT cmpd="sng" algn="ctr" cap="flat" w="0">
                      <a:solidFill>
                        <a:srgbClr val="BB99FF"/>
                      </a:solidFill>
                      <a:prstDash val="solid"/>
                      <a:round/>
                      <a:headEnd type="none" w="med" len="med"/>
                      <a:tailEnd type="none" w="med" len="med"/>
                    </a:lnT>
                    <a:lnB cmpd="sng" algn="ctr" cap="flat" w="0">
                      <a:solidFill>
                        <a:srgbClr val="BB99FF"/>
                      </a:solidFill>
                      <a:prstDash val="solid"/>
                      <a:round/>
                      <a:headEnd type="none" w="med" len="med"/>
                      <a:tailEnd type="none" w="med" len="med"/>
                    </a:lnB>
                    <a:solidFill>
                      <a:srgbClr val="DECDFF"/>
                    </a:solidFill>
                  </a:tcPr>
                </a:tc>
                <a:tc>
                  <a:txBody>
                    <a:bodyPr anchor="t" rtlCol="false"/>
                    <a:lstStyle/>
                    <a:p>
                      <a:pPr algn="ctr">
                        <a:lnSpc>
                          <a:spcPts val="2800"/>
                        </a:lnSpc>
                        <a:defRPr/>
                      </a:pPr>
                      <a:r>
                        <a:rPr lang="en-US" sz="2000">
                          <a:solidFill>
                            <a:srgbClr val="000000"/>
                          </a:solidFill>
                          <a:latin typeface="Montserrat"/>
                          <a:ea typeface="Montserrat"/>
                          <a:cs typeface="Montserrat"/>
                          <a:sym typeface="Montserrat"/>
                        </a:rPr>
                        <a:t>97.2%</a:t>
                      </a:r>
                      <a:endParaRPr lang="en-US" sz="1100"/>
                    </a:p>
                  </a:txBody>
                  <a:tcPr marL="95250" marR="95250" marT="95250" marB="95250" anchor="ctr">
                    <a:lnL cmpd="sng" algn="ctr" cap="flat" w="0">
                      <a:solidFill>
                        <a:srgbClr val="BB99FF"/>
                      </a:solidFill>
                      <a:prstDash val="solid"/>
                      <a:round/>
                      <a:headEnd type="none" w="med" len="med"/>
                      <a:tailEnd type="none" w="med" len="med"/>
                    </a:lnL>
                    <a:lnR cmpd="sng" algn="ctr" cap="flat" w="0">
                      <a:solidFill>
                        <a:srgbClr val="BB99FF"/>
                      </a:solidFill>
                      <a:prstDash val="solid"/>
                      <a:round/>
                      <a:headEnd type="none" w="med" len="med"/>
                      <a:tailEnd type="none" w="med" len="med"/>
                    </a:lnR>
                    <a:lnT cmpd="sng" algn="ctr" cap="flat" w="0">
                      <a:solidFill>
                        <a:srgbClr val="BB99FF"/>
                      </a:solidFill>
                      <a:prstDash val="solid"/>
                      <a:round/>
                      <a:headEnd type="none" w="med" len="med"/>
                      <a:tailEnd type="none" w="med" len="med"/>
                    </a:lnT>
                    <a:lnB cmpd="sng" algn="ctr" cap="flat" w="0">
                      <a:solidFill>
                        <a:srgbClr val="BB99F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Montserrat"/>
                          <a:ea typeface="Montserrat"/>
                          <a:cs typeface="Montserrat"/>
                          <a:sym typeface="Montserrat"/>
                        </a:rPr>
                        <a:t>97.5%</a:t>
                      </a:r>
                      <a:endParaRPr lang="en-US" sz="1100"/>
                    </a:p>
                  </a:txBody>
                  <a:tcPr marL="95250" marR="95250" marT="95250" marB="95250" anchor="ctr">
                    <a:lnL cmpd="sng" algn="ctr" cap="flat" w="0">
                      <a:solidFill>
                        <a:srgbClr val="BB99FF"/>
                      </a:solidFill>
                      <a:prstDash val="solid"/>
                      <a:round/>
                      <a:headEnd type="none" w="med" len="med"/>
                      <a:tailEnd type="none" w="med" len="med"/>
                    </a:lnL>
                    <a:lnR cmpd="sng" algn="ctr" cap="flat" w="0">
                      <a:solidFill>
                        <a:srgbClr val="BB99FF"/>
                      </a:solidFill>
                      <a:prstDash val="solid"/>
                      <a:round/>
                      <a:headEnd type="none" w="med" len="med"/>
                      <a:tailEnd type="none" w="med" len="med"/>
                    </a:lnR>
                    <a:lnT cmpd="sng" algn="ctr" cap="flat" w="0">
                      <a:solidFill>
                        <a:srgbClr val="BB99FF"/>
                      </a:solidFill>
                      <a:prstDash val="solid"/>
                      <a:round/>
                      <a:headEnd type="none" w="med" len="med"/>
                      <a:tailEnd type="none" w="med" len="med"/>
                    </a:lnT>
                    <a:lnB cmpd="sng" algn="ctr" cap="flat" w="0">
                      <a:solidFill>
                        <a:srgbClr val="BB99FF"/>
                      </a:solidFill>
                      <a:prstDash val="solid"/>
                      <a:round/>
                      <a:headEnd type="none" w="med" len="med"/>
                      <a:tailEnd type="none" w="med" len="med"/>
                    </a:lnB>
                    <a:solidFill>
                      <a:srgbClr val="FFFFFF"/>
                    </a:solidFill>
                  </a:tcPr>
                </a:tc>
              </a:tr>
              <a:tr h="771157">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Precision</a:t>
                      </a:r>
                      <a:endParaRPr lang="en-US" sz="1100"/>
                    </a:p>
                  </a:txBody>
                  <a:tcPr marL="95250" marR="95250" marT="95250" marB="95250" anchor="ctr">
                    <a:lnL cmpd="sng" algn="ctr" cap="flat" w="0">
                      <a:solidFill>
                        <a:srgbClr val="BB99FF"/>
                      </a:solidFill>
                      <a:prstDash val="solid"/>
                      <a:round/>
                      <a:headEnd type="none" w="med" len="med"/>
                      <a:tailEnd type="none" w="med" len="med"/>
                    </a:lnL>
                    <a:lnR cmpd="sng" algn="ctr" cap="flat" w="0">
                      <a:solidFill>
                        <a:srgbClr val="BB99FF"/>
                      </a:solidFill>
                      <a:prstDash val="solid"/>
                      <a:round/>
                      <a:headEnd type="none" w="med" len="med"/>
                      <a:tailEnd type="none" w="med" len="med"/>
                    </a:lnR>
                    <a:lnT cmpd="sng" algn="ctr" cap="flat" w="0">
                      <a:solidFill>
                        <a:srgbClr val="BB99FF"/>
                      </a:solidFill>
                      <a:prstDash val="solid"/>
                      <a:round/>
                      <a:headEnd type="none" w="med" len="med"/>
                      <a:tailEnd type="none" w="med" len="med"/>
                    </a:lnT>
                    <a:lnB cmpd="sng" algn="ctr" cap="flat" w="0">
                      <a:solidFill>
                        <a:srgbClr val="BB99FF"/>
                      </a:solidFill>
                      <a:prstDash val="solid"/>
                      <a:round/>
                      <a:headEnd type="none" w="med" len="med"/>
                      <a:tailEnd type="none" w="med" len="med"/>
                    </a:lnB>
                    <a:solidFill>
                      <a:srgbClr val="DECDFF"/>
                    </a:solidFill>
                  </a:tcPr>
                </a:tc>
                <a:tc>
                  <a:txBody>
                    <a:bodyPr anchor="t" rtlCol="false"/>
                    <a:lstStyle/>
                    <a:p>
                      <a:pPr algn="ctr">
                        <a:lnSpc>
                          <a:spcPts val="2800"/>
                        </a:lnSpc>
                        <a:defRPr/>
                      </a:pPr>
                      <a:r>
                        <a:rPr lang="en-US" sz="2000">
                          <a:solidFill>
                            <a:srgbClr val="000000"/>
                          </a:solidFill>
                          <a:latin typeface="Montserrat"/>
                          <a:ea typeface="Montserrat"/>
                          <a:cs typeface="Montserrat"/>
                          <a:sym typeface="Montserrat"/>
                        </a:rPr>
                        <a:t>97.2%</a:t>
                      </a:r>
                      <a:endParaRPr lang="en-US" sz="1100"/>
                    </a:p>
                  </a:txBody>
                  <a:tcPr marL="95250" marR="95250" marT="95250" marB="95250" anchor="ctr">
                    <a:lnL cmpd="sng" algn="ctr" cap="flat" w="0">
                      <a:solidFill>
                        <a:srgbClr val="BB99FF"/>
                      </a:solidFill>
                      <a:prstDash val="solid"/>
                      <a:round/>
                      <a:headEnd type="none" w="med" len="med"/>
                      <a:tailEnd type="none" w="med" len="med"/>
                    </a:lnL>
                    <a:lnR cmpd="sng" algn="ctr" cap="flat" w="0">
                      <a:solidFill>
                        <a:srgbClr val="BB99FF"/>
                      </a:solidFill>
                      <a:prstDash val="solid"/>
                      <a:round/>
                      <a:headEnd type="none" w="med" len="med"/>
                      <a:tailEnd type="none" w="med" len="med"/>
                    </a:lnR>
                    <a:lnT cmpd="sng" algn="ctr" cap="flat" w="0">
                      <a:solidFill>
                        <a:srgbClr val="BB99FF"/>
                      </a:solidFill>
                      <a:prstDash val="solid"/>
                      <a:round/>
                      <a:headEnd type="none" w="med" len="med"/>
                      <a:tailEnd type="none" w="med" len="med"/>
                    </a:lnT>
                    <a:lnB cmpd="sng" algn="ctr" cap="flat" w="0">
                      <a:solidFill>
                        <a:srgbClr val="BB99F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Montserrat"/>
                          <a:ea typeface="Montserrat"/>
                          <a:cs typeface="Montserrat"/>
                          <a:sym typeface="Montserrat"/>
                        </a:rPr>
                        <a:t>97.5%</a:t>
                      </a:r>
                      <a:endParaRPr lang="en-US" sz="1100"/>
                    </a:p>
                  </a:txBody>
                  <a:tcPr marL="95250" marR="95250" marT="95250" marB="95250" anchor="ctr">
                    <a:lnL cmpd="sng" algn="ctr" cap="flat" w="0">
                      <a:solidFill>
                        <a:srgbClr val="BB99FF"/>
                      </a:solidFill>
                      <a:prstDash val="solid"/>
                      <a:round/>
                      <a:headEnd type="none" w="med" len="med"/>
                      <a:tailEnd type="none" w="med" len="med"/>
                    </a:lnL>
                    <a:lnR cmpd="sng" algn="ctr" cap="flat" w="0">
                      <a:solidFill>
                        <a:srgbClr val="BB99FF"/>
                      </a:solidFill>
                      <a:prstDash val="solid"/>
                      <a:round/>
                      <a:headEnd type="none" w="med" len="med"/>
                      <a:tailEnd type="none" w="med" len="med"/>
                    </a:lnR>
                    <a:lnT cmpd="sng" algn="ctr" cap="flat" w="0">
                      <a:solidFill>
                        <a:srgbClr val="BB99FF"/>
                      </a:solidFill>
                      <a:prstDash val="solid"/>
                      <a:round/>
                      <a:headEnd type="none" w="med" len="med"/>
                      <a:tailEnd type="none" w="med" len="med"/>
                    </a:lnT>
                    <a:lnB cmpd="sng" algn="ctr" cap="flat" w="0">
                      <a:solidFill>
                        <a:srgbClr val="BB99FF"/>
                      </a:solidFill>
                      <a:prstDash val="solid"/>
                      <a:round/>
                      <a:headEnd type="none" w="med" len="med"/>
                      <a:tailEnd type="none" w="med" len="med"/>
                    </a:lnB>
                    <a:solidFill>
                      <a:srgbClr val="FFFFFF"/>
                    </a:solidFill>
                  </a:tcPr>
                </a:tc>
              </a:tr>
              <a:tr h="771157">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Recall</a:t>
                      </a:r>
                      <a:endParaRPr lang="en-US" sz="1100"/>
                    </a:p>
                  </a:txBody>
                  <a:tcPr marL="95250" marR="95250" marT="95250" marB="95250" anchor="ctr">
                    <a:lnL cmpd="sng" algn="ctr" cap="flat" w="0">
                      <a:solidFill>
                        <a:srgbClr val="BB99FF"/>
                      </a:solidFill>
                      <a:prstDash val="solid"/>
                      <a:round/>
                      <a:headEnd type="none" w="med" len="med"/>
                      <a:tailEnd type="none" w="med" len="med"/>
                    </a:lnL>
                    <a:lnR cmpd="sng" algn="ctr" cap="flat" w="0">
                      <a:solidFill>
                        <a:srgbClr val="BB99FF"/>
                      </a:solidFill>
                      <a:prstDash val="solid"/>
                      <a:round/>
                      <a:headEnd type="none" w="med" len="med"/>
                      <a:tailEnd type="none" w="med" len="med"/>
                    </a:lnR>
                    <a:lnT cmpd="sng" algn="ctr" cap="flat" w="0">
                      <a:solidFill>
                        <a:srgbClr val="BB99FF"/>
                      </a:solidFill>
                      <a:prstDash val="solid"/>
                      <a:round/>
                      <a:headEnd type="none" w="med" len="med"/>
                      <a:tailEnd type="none" w="med" len="med"/>
                    </a:lnT>
                    <a:lnB cmpd="sng" algn="ctr" cap="flat" w="0">
                      <a:solidFill>
                        <a:srgbClr val="BB99FF"/>
                      </a:solidFill>
                      <a:prstDash val="solid"/>
                      <a:round/>
                      <a:headEnd type="none" w="med" len="med"/>
                      <a:tailEnd type="none" w="med" len="med"/>
                    </a:lnB>
                    <a:solidFill>
                      <a:srgbClr val="DECDFF"/>
                    </a:solidFill>
                  </a:tcPr>
                </a:tc>
                <a:tc>
                  <a:txBody>
                    <a:bodyPr anchor="t" rtlCol="false"/>
                    <a:lstStyle/>
                    <a:p>
                      <a:pPr algn="ctr">
                        <a:lnSpc>
                          <a:spcPts val="2800"/>
                        </a:lnSpc>
                        <a:defRPr/>
                      </a:pPr>
                      <a:r>
                        <a:rPr lang="en-US" sz="2000">
                          <a:solidFill>
                            <a:srgbClr val="000000"/>
                          </a:solidFill>
                          <a:latin typeface="Montserrat"/>
                          <a:ea typeface="Montserrat"/>
                          <a:cs typeface="Montserrat"/>
                          <a:sym typeface="Montserrat"/>
                        </a:rPr>
                        <a:t>97.2%</a:t>
                      </a:r>
                      <a:endParaRPr lang="en-US" sz="1100"/>
                    </a:p>
                  </a:txBody>
                  <a:tcPr marL="95250" marR="95250" marT="95250" marB="95250" anchor="ctr">
                    <a:lnL cmpd="sng" algn="ctr" cap="flat" w="0">
                      <a:solidFill>
                        <a:srgbClr val="BB99FF"/>
                      </a:solidFill>
                      <a:prstDash val="solid"/>
                      <a:round/>
                      <a:headEnd type="none" w="med" len="med"/>
                      <a:tailEnd type="none" w="med" len="med"/>
                    </a:lnL>
                    <a:lnR cmpd="sng" algn="ctr" cap="flat" w="0">
                      <a:solidFill>
                        <a:srgbClr val="BB99FF"/>
                      </a:solidFill>
                      <a:prstDash val="solid"/>
                      <a:round/>
                      <a:headEnd type="none" w="med" len="med"/>
                      <a:tailEnd type="none" w="med" len="med"/>
                    </a:lnR>
                    <a:lnT cmpd="sng" algn="ctr" cap="flat" w="0">
                      <a:solidFill>
                        <a:srgbClr val="BB99FF"/>
                      </a:solidFill>
                      <a:prstDash val="solid"/>
                      <a:round/>
                      <a:headEnd type="none" w="med" len="med"/>
                      <a:tailEnd type="none" w="med" len="med"/>
                    </a:lnT>
                    <a:lnB cmpd="sng" algn="ctr" cap="flat" w="0">
                      <a:solidFill>
                        <a:srgbClr val="BB99F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Montserrat"/>
                          <a:ea typeface="Montserrat"/>
                          <a:cs typeface="Montserrat"/>
                          <a:sym typeface="Montserrat"/>
                        </a:rPr>
                        <a:t>97.4%</a:t>
                      </a:r>
                      <a:endParaRPr lang="en-US" sz="1100"/>
                    </a:p>
                  </a:txBody>
                  <a:tcPr marL="95250" marR="95250" marT="95250" marB="95250" anchor="ctr">
                    <a:lnL cmpd="sng" algn="ctr" cap="flat" w="0">
                      <a:solidFill>
                        <a:srgbClr val="BB99FF"/>
                      </a:solidFill>
                      <a:prstDash val="solid"/>
                      <a:round/>
                      <a:headEnd type="none" w="med" len="med"/>
                      <a:tailEnd type="none" w="med" len="med"/>
                    </a:lnL>
                    <a:lnR cmpd="sng" algn="ctr" cap="flat" w="0">
                      <a:solidFill>
                        <a:srgbClr val="BB99FF"/>
                      </a:solidFill>
                      <a:prstDash val="solid"/>
                      <a:round/>
                      <a:headEnd type="none" w="med" len="med"/>
                      <a:tailEnd type="none" w="med" len="med"/>
                    </a:lnR>
                    <a:lnT cmpd="sng" algn="ctr" cap="flat" w="0">
                      <a:solidFill>
                        <a:srgbClr val="BB99FF"/>
                      </a:solidFill>
                      <a:prstDash val="solid"/>
                      <a:round/>
                      <a:headEnd type="none" w="med" len="med"/>
                      <a:tailEnd type="none" w="med" len="med"/>
                    </a:lnT>
                    <a:lnB cmpd="sng" algn="ctr" cap="flat" w="0">
                      <a:solidFill>
                        <a:srgbClr val="BB99FF"/>
                      </a:solidFill>
                      <a:prstDash val="solid"/>
                      <a:round/>
                      <a:headEnd type="none" w="med" len="med"/>
                      <a:tailEnd type="none" w="med" len="med"/>
                    </a:lnB>
                    <a:solidFill>
                      <a:srgbClr val="FFFFFF"/>
                    </a:solidFill>
                  </a:tcPr>
                </a:tc>
              </a:tr>
              <a:tr h="771157">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F1-Score</a:t>
                      </a:r>
                      <a:endParaRPr lang="en-US" sz="1100"/>
                    </a:p>
                  </a:txBody>
                  <a:tcPr marL="95250" marR="95250" marT="95250" marB="95250" anchor="ctr">
                    <a:lnL cmpd="sng" algn="ctr" cap="flat" w="0">
                      <a:solidFill>
                        <a:srgbClr val="BB99FF"/>
                      </a:solidFill>
                      <a:prstDash val="solid"/>
                      <a:round/>
                      <a:headEnd type="none" w="med" len="med"/>
                      <a:tailEnd type="none" w="med" len="med"/>
                    </a:lnL>
                    <a:lnR cmpd="sng" algn="ctr" cap="flat" w="0">
                      <a:solidFill>
                        <a:srgbClr val="BB99FF"/>
                      </a:solidFill>
                      <a:prstDash val="solid"/>
                      <a:round/>
                      <a:headEnd type="none" w="med" len="med"/>
                      <a:tailEnd type="none" w="med" len="med"/>
                    </a:lnR>
                    <a:lnT cmpd="sng" algn="ctr" cap="flat" w="0">
                      <a:solidFill>
                        <a:srgbClr val="BB99FF"/>
                      </a:solidFill>
                      <a:prstDash val="solid"/>
                      <a:round/>
                      <a:headEnd type="none" w="med" len="med"/>
                      <a:tailEnd type="none" w="med" len="med"/>
                    </a:lnT>
                    <a:lnB cmpd="sng" algn="ctr" cap="flat" w="0">
                      <a:solidFill>
                        <a:srgbClr val="BB99FF"/>
                      </a:solidFill>
                      <a:prstDash val="solid"/>
                      <a:round/>
                      <a:headEnd type="none" w="med" len="med"/>
                      <a:tailEnd type="none" w="med" len="med"/>
                    </a:lnB>
                    <a:solidFill>
                      <a:srgbClr val="DECDFF"/>
                    </a:solidFill>
                  </a:tcPr>
                </a:tc>
                <a:tc>
                  <a:txBody>
                    <a:bodyPr anchor="t" rtlCol="false"/>
                    <a:lstStyle/>
                    <a:p>
                      <a:pPr algn="ctr">
                        <a:lnSpc>
                          <a:spcPts val="2800"/>
                        </a:lnSpc>
                        <a:defRPr/>
                      </a:pPr>
                      <a:r>
                        <a:rPr lang="en-US" sz="2000">
                          <a:solidFill>
                            <a:srgbClr val="000000"/>
                          </a:solidFill>
                          <a:latin typeface="Montserrat"/>
                          <a:ea typeface="Montserrat"/>
                          <a:cs typeface="Montserrat"/>
                          <a:sym typeface="Montserrat"/>
                        </a:rPr>
                        <a:t>97.2%</a:t>
                      </a:r>
                      <a:endParaRPr lang="en-US" sz="1100"/>
                    </a:p>
                  </a:txBody>
                  <a:tcPr marL="95250" marR="95250" marT="95250" marB="95250" anchor="ctr">
                    <a:lnL cmpd="sng" algn="ctr" cap="flat" w="0">
                      <a:solidFill>
                        <a:srgbClr val="BB99FF"/>
                      </a:solidFill>
                      <a:prstDash val="solid"/>
                      <a:round/>
                      <a:headEnd type="none" w="med" len="med"/>
                      <a:tailEnd type="none" w="med" len="med"/>
                    </a:lnL>
                    <a:lnR cmpd="sng" algn="ctr" cap="flat" w="0">
                      <a:solidFill>
                        <a:srgbClr val="BB99FF"/>
                      </a:solidFill>
                      <a:prstDash val="solid"/>
                      <a:round/>
                      <a:headEnd type="none" w="med" len="med"/>
                      <a:tailEnd type="none" w="med" len="med"/>
                    </a:lnR>
                    <a:lnT cmpd="sng" algn="ctr" cap="flat" w="0">
                      <a:solidFill>
                        <a:srgbClr val="BB99FF"/>
                      </a:solidFill>
                      <a:prstDash val="solid"/>
                      <a:round/>
                      <a:headEnd type="none" w="med" len="med"/>
                      <a:tailEnd type="none" w="med" len="med"/>
                    </a:lnT>
                    <a:lnB cmpd="sng" algn="ctr" cap="flat" w="0">
                      <a:solidFill>
                        <a:srgbClr val="BB99F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Montserrat"/>
                          <a:ea typeface="Montserrat"/>
                          <a:cs typeface="Montserrat"/>
                          <a:sym typeface="Montserrat"/>
                        </a:rPr>
                        <a:t>97.5%</a:t>
                      </a:r>
                      <a:endParaRPr lang="en-US" sz="1100"/>
                    </a:p>
                  </a:txBody>
                  <a:tcPr marL="95250" marR="95250" marT="95250" marB="95250" anchor="ctr">
                    <a:lnL cmpd="sng" algn="ctr" cap="flat" w="0">
                      <a:solidFill>
                        <a:srgbClr val="BB99FF"/>
                      </a:solidFill>
                      <a:prstDash val="solid"/>
                      <a:round/>
                      <a:headEnd type="none" w="med" len="med"/>
                      <a:tailEnd type="none" w="med" len="med"/>
                    </a:lnL>
                    <a:lnR cmpd="sng" algn="ctr" cap="flat" w="0">
                      <a:solidFill>
                        <a:srgbClr val="BB99FF"/>
                      </a:solidFill>
                      <a:prstDash val="solid"/>
                      <a:round/>
                      <a:headEnd type="none" w="med" len="med"/>
                      <a:tailEnd type="none" w="med" len="med"/>
                    </a:lnR>
                    <a:lnT cmpd="sng" algn="ctr" cap="flat" w="0">
                      <a:solidFill>
                        <a:srgbClr val="BB99FF"/>
                      </a:solidFill>
                      <a:prstDash val="solid"/>
                      <a:round/>
                      <a:headEnd type="none" w="med" len="med"/>
                      <a:tailEnd type="none" w="med" len="med"/>
                    </a:lnT>
                    <a:lnB cmpd="sng" algn="ctr" cap="flat" w="0">
                      <a:solidFill>
                        <a:srgbClr val="BB99FF"/>
                      </a:solidFill>
                      <a:prstDash val="solid"/>
                      <a:round/>
                      <a:headEnd type="none" w="med" len="med"/>
                      <a:tailEnd type="none" w="med" len="med"/>
                    </a:lnB>
                    <a:solidFill>
                      <a:srgbClr val="FFFFFF"/>
                    </a:solidFill>
                  </a:tcPr>
                </a:tc>
              </a:tr>
              <a:tr h="771157">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AUC</a:t>
                      </a:r>
                      <a:endParaRPr lang="en-US" sz="1100"/>
                    </a:p>
                  </a:txBody>
                  <a:tcPr marL="95250" marR="95250" marT="95250" marB="95250" anchor="ctr">
                    <a:lnL cmpd="sng" algn="ctr" cap="flat" w="0">
                      <a:solidFill>
                        <a:srgbClr val="BB99FF"/>
                      </a:solidFill>
                      <a:prstDash val="solid"/>
                      <a:round/>
                      <a:headEnd type="none" w="med" len="med"/>
                      <a:tailEnd type="none" w="med" len="med"/>
                    </a:lnL>
                    <a:lnR cmpd="sng" algn="ctr" cap="flat" w="0">
                      <a:solidFill>
                        <a:srgbClr val="BB99FF"/>
                      </a:solidFill>
                      <a:prstDash val="solid"/>
                      <a:round/>
                      <a:headEnd type="none" w="med" len="med"/>
                      <a:tailEnd type="none" w="med" len="med"/>
                    </a:lnR>
                    <a:lnT cmpd="sng" algn="ctr" cap="flat" w="0">
                      <a:solidFill>
                        <a:srgbClr val="BB99FF"/>
                      </a:solidFill>
                      <a:prstDash val="solid"/>
                      <a:round/>
                      <a:headEnd type="none" w="med" len="med"/>
                      <a:tailEnd type="none" w="med" len="med"/>
                    </a:lnT>
                    <a:lnB cmpd="sng" algn="ctr" cap="flat" w="0">
                      <a:solidFill>
                        <a:srgbClr val="BB99FF"/>
                      </a:solidFill>
                      <a:prstDash val="solid"/>
                      <a:round/>
                      <a:headEnd type="none" w="med" len="med"/>
                      <a:tailEnd type="none" w="med" len="med"/>
                    </a:lnB>
                    <a:solidFill>
                      <a:srgbClr val="DECDFF"/>
                    </a:solidFill>
                  </a:tcPr>
                </a:tc>
                <a:tc>
                  <a:txBody>
                    <a:bodyPr anchor="t" rtlCol="false"/>
                    <a:lstStyle/>
                    <a:p>
                      <a:pPr algn="ctr">
                        <a:lnSpc>
                          <a:spcPts val="2800"/>
                        </a:lnSpc>
                        <a:defRPr/>
                      </a:pPr>
                      <a:r>
                        <a:rPr lang="en-US" sz="2000">
                          <a:solidFill>
                            <a:srgbClr val="000000"/>
                          </a:solidFill>
                          <a:latin typeface="Montserrat"/>
                          <a:ea typeface="Montserrat"/>
                          <a:cs typeface="Montserrat"/>
                          <a:sym typeface="Montserrat"/>
                        </a:rPr>
                        <a:t>99.5%</a:t>
                      </a:r>
                      <a:endParaRPr lang="en-US" sz="1100"/>
                    </a:p>
                  </a:txBody>
                  <a:tcPr marL="95250" marR="95250" marT="95250" marB="95250" anchor="ctr">
                    <a:lnL cmpd="sng" algn="ctr" cap="flat" w="0">
                      <a:solidFill>
                        <a:srgbClr val="BB99FF"/>
                      </a:solidFill>
                      <a:prstDash val="solid"/>
                      <a:round/>
                      <a:headEnd type="none" w="med" len="med"/>
                      <a:tailEnd type="none" w="med" len="med"/>
                    </a:lnL>
                    <a:lnR cmpd="sng" algn="ctr" cap="flat" w="0">
                      <a:solidFill>
                        <a:srgbClr val="BB99FF"/>
                      </a:solidFill>
                      <a:prstDash val="solid"/>
                      <a:round/>
                      <a:headEnd type="none" w="med" len="med"/>
                      <a:tailEnd type="none" w="med" len="med"/>
                    </a:lnR>
                    <a:lnT cmpd="sng" algn="ctr" cap="flat" w="0">
                      <a:solidFill>
                        <a:srgbClr val="BB99FF"/>
                      </a:solidFill>
                      <a:prstDash val="solid"/>
                      <a:round/>
                      <a:headEnd type="none" w="med" len="med"/>
                      <a:tailEnd type="none" w="med" len="med"/>
                    </a:lnT>
                    <a:lnB cmpd="sng" algn="ctr" cap="flat" w="0">
                      <a:solidFill>
                        <a:srgbClr val="BB99F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Montserrat"/>
                          <a:ea typeface="Montserrat"/>
                          <a:cs typeface="Montserrat"/>
                          <a:sym typeface="Montserrat"/>
                        </a:rPr>
                        <a:t>99.7%</a:t>
                      </a:r>
                      <a:endParaRPr lang="en-US" sz="1100"/>
                    </a:p>
                  </a:txBody>
                  <a:tcPr marL="95250" marR="95250" marT="95250" marB="95250" anchor="ctr">
                    <a:lnL cmpd="sng" algn="ctr" cap="flat" w="0">
                      <a:solidFill>
                        <a:srgbClr val="BB99FF"/>
                      </a:solidFill>
                      <a:prstDash val="solid"/>
                      <a:round/>
                      <a:headEnd type="none" w="med" len="med"/>
                      <a:tailEnd type="none" w="med" len="med"/>
                    </a:lnL>
                    <a:lnR cmpd="sng" algn="ctr" cap="flat" w="0">
                      <a:solidFill>
                        <a:srgbClr val="BB99FF"/>
                      </a:solidFill>
                      <a:prstDash val="solid"/>
                      <a:round/>
                      <a:headEnd type="none" w="med" len="med"/>
                      <a:tailEnd type="none" w="med" len="med"/>
                    </a:lnR>
                    <a:lnT cmpd="sng" algn="ctr" cap="flat" w="0">
                      <a:solidFill>
                        <a:srgbClr val="BB99FF"/>
                      </a:solidFill>
                      <a:prstDash val="solid"/>
                      <a:round/>
                      <a:headEnd type="none" w="med" len="med"/>
                      <a:tailEnd type="none" w="med" len="med"/>
                    </a:lnT>
                    <a:lnB cmpd="sng" algn="ctr" cap="flat" w="0">
                      <a:solidFill>
                        <a:srgbClr val="BB99FF"/>
                      </a:solidFill>
                      <a:prstDash val="solid"/>
                      <a:round/>
                      <a:headEnd type="none" w="med" len="med"/>
                      <a:tailEnd type="none" w="med" len="med"/>
                    </a:lnB>
                    <a:solidFill>
                      <a:srgbClr val="FFFFFF"/>
                    </a:solidFill>
                  </a:tcPr>
                </a:tc>
              </a:tr>
            </a:tbl>
          </a:graphicData>
        </a:graphic>
      </p:graphicFrame>
      <p:sp>
        <p:nvSpPr>
          <p:cNvPr name="TextBox 8" id="8"/>
          <p:cNvSpPr txBox="true"/>
          <p:nvPr/>
        </p:nvSpPr>
        <p:spPr>
          <a:xfrm rot="0">
            <a:off x="1028700" y="8104430"/>
            <a:ext cx="16230600" cy="1153870"/>
          </a:xfrm>
          <a:prstGeom prst="rect">
            <a:avLst/>
          </a:prstGeom>
        </p:spPr>
        <p:txBody>
          <a:bodyPr anchor="t" rtlCol="false" tIns="0" lIns="0" bIns="0" rIns="0">
            <a:spAutoFit/>
          </a:bodyPr>
          <a:lstStyle/>
          <a:p>
            <a:pPr algn="just">
              <a:lnSpc>
                <a:spcPts val="3079"/>
              </a:lnSpc>
              <a:spcBef>
                <a:spcPct val="0"/>
              </a:spcBef>
            </a:pPr>
            <a:r>
              <a:rPr lang="en-US" sz="2199">
                <a:solidFill>
                  <a:srgbClr val="000000"/>
                </a:solidFill>
                <a:latin typeface="Montserrat"/>
                <a:ea typeface="Montserrat"/>
                <a:cs typeface="Montserrat"/>
                <a:sym typeface="Montserrat"/>
              </a:rPr>
              <a:t>Bas</a:t>
            </a:r>
            <a:r>
              <a:rPr lang="en-US" sz="2199">
                <a:solidFill>
                  <a:srgbClr val="000000"/>
                </a:solidFill>
                <a:latin typeface="Montserrat"/>
                <a:ea typeface="Montserrat"/>
                <a:cs typeface="Montserrat"/>
                <a:sym typeface="Montserrat"/>
              </a:rPr>
              <a:t>ed on the evaluation metrics, XGBoost outperforms Random Forest as the gradient boosting approach significantly reduces classification errors (FP and FN). This model proves to be more adaptive and effective in distinguishing complex patterns between phishing URLs and benign sites.</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9259" t="0" r="-9259" b="0"/>
            </a:stretch>
          </a:blipFill>
        </p:spPr>
      </p:sp>
      <p:sp>
        <p:nvSpPr>
          <p:cNvPr name="TextBox 3" id="3"/>
          <p:cNvSpPr txBox="true"/>
          <p:nvPr/>
        </p:nvSpPr>
        <p:spPr>
          <a:xfrm rot="0">
            <a:off x="1174644" y="5105400"/>
            <a:ext cx="7652136" cy="3887459"/>
          </a:xfrm>
          <a:prstGeom prst="rect">
            <a:avLst/>
          </a:prstGeom>
        </p:spPr>
        <p:txBody>
          <a:bodyPr anchor="t" rtlCol="false" tIns="0" lIns="0" bIns="0" rIns="0">
            <a:spAutoFit/>
          </a:bodyPr>
          <a:lstStyle/>
          <a:p>
            <a:pPr algn="just">
              <a:lnSpc>
                <a:spcPts val="3080"/>
              </a:lnSpc>
            </a:pPr>
            <a:r>
              <a:rPr lang="en-US" sz="2200">
                <a:solidFill>
                  <a:srgbClr val="002254"/>
                </a:solidFill>
                <a:latin typeface="Montserrat"/>
                <a:ea typeface="Montserrat"/>
                <a:cs typeface="Montserrat"/>
                <a:sym typeface="Montserrat"/>
              </a:rPr>
              <a:t>The Stacking Ens</a:t>
            </a:r>
            <a:r>
              <a:rPr lang="en-US" sz="2200">
                <a:solidFill>
                  <a:srgbClr val="002254"/>
                </a:solidFill>
                <a:latin typeface="Montserrat"/>
                <a:ea typeface="Montserrat"/>
                <a:cs typeface="Montserrat"/>
                <a:sym typeface="Montserrat"/>
              </a:rPr>
              <a:t>emble model combines Random Forest and XGBoost using Meta-Learners Logistic Regression. The evaluation results show that the Stacking Ensemble model achieves an accuracy of 97.5%, confirming a performance improvement compared to the single Random Forest model. Althoug</a:t>
            </a:r>
            <a:r>
              <a:rPr lang="en-US" sz="2200">
                <a:solidFill>
                  <a:srgbClr val="002254"/>
                </a:solidFill>
                <a:latin typeface="Montserrat"/>
                <a:ea typeface="Montserrat"/>
                <a:cs typeface="Montserrat"/>
                <a:sym typeface="Montserrat"/>
              </a:rPr>
              <a:t>h this combination successfully corrected some of the classifi</a:t>
            </a:r>
            <a:r>
              <a:rPr lang="en-US" sz="2200">
                <a:solidFill>
                  <a:srgbClr val="002254"/>
                </a:solidFill>
                <a:latin typeface="Montserrat"/>
                <a:ea typeface="Montserrat"/>
                <a:cs typeface="Montserrat"/>
                <a:sym typeface="Montserrat"/>
              </a:rPr>
              <a:t>cation errors of the base model, its overall performance was not able to surpass the achievement of a single XGBoost (97.6%).</a:t>
            </a:r>
          </a:p>
        </p:txBody>
      </p:sp>
      <p:sp>
        <p:nvSpPr>
          <p:cNvPr name="Freeform 4" id="4"/>
          <p:cNvSpPr/>
          <p:nvPr/>
        </p:nvSpPr>
        <p:spPr>
          <a:xfrm flipH="false" flipV="false" rot="0">
            <a:off x="692764" y="400218"/>
            <a:ext cx="963762" cy="963762"/>
          </a:xfrm>
          <a:custGeom>
            <a:avLst/>
            <a:gdLst/>
            <a:ahLst/>
            <a:cxnLst/>
            <a:rect r="r" b="b" t="t" l="l"/>
            <a:pathLst>
              <a:path h="963762" w="963762">
                <a:moveTo>
                  <a:pt x="0" y="0"/>
                </a:moveTo>
                <a:lnTo>
                  <a:pt x="963761" y="0"/>
                </a:lnTo>
                <a:lnTo>
                  <a:pt x="963761" y="963762"/>
                </a:lnTo>
                <a:lnTo>
                  <a:pt x="0" y="963762"/>
                </a:lnTo>
                <a:lnTo>
                  <a:pt x="0" y="0"/>
                </a:lnTo>
                <a:close/>
              </a:path>
            </a:pathLst>
          </a:custGeom>
          <a:blipFill>
            <a:blip r:embed="rId3"/>
            <a:stretch>
              <a:fillRect l="0" t="0" r="0" b="0"/>
            </a:stretch>
          </a:blipFill>
        </p:spPr>
      </p:sp>
      <p:sp>
        <p:nvSpPr>
          <p:cNvPr name="TextBox 5" id="5"/>
          <p:cNvSpPr txBox="true"/>
          <p:nvPr/>
        </p:nvSpPr>
        <p:spPr>
          <a:xfrm rot="0">
            <a:off x="1028700" y="1876084"/>
            <a:ext cx="16230600" cy="2625576"/>
          </a:xfrm>
          <a:prstGeom prst="rect">
            <a:avLst/>
          </a:prstGeom>
        </p:spPr>
        <p:txBody>
          <a:bodyPr anchor="t" rtlCol="false" tIns="0" lIns="0" bIns="0" rIns="0">
            <a:spAutoFit/>
          </a:bodyPr>
          <a:lstStyle/>
          <a:p>
            <a:pPr algn="l">
              <a:lnSpc>
                <a:spcPts val="7000"/>
              </a:lnSpc>
            </a:pPr>
            <a:r>
              <a:rPr lang="en-US" sz="5000" b="true">
                <a:solidFill>
                  <a:srgbClr val="002254"/>
                </a:solidFill>
                <a:latin typeface="Montserrat Ultra-Bold"/>
                <a:ea typeface="Montserrat Ultra-Bold"/>
                <a:cs typeface="Montserrat Ultra-Bold"/>
                <a:sym typeface="Montserrat Ultra-Bold"/>
              </a:rPr>
              <a:t>Model PerforEvaluation of Stacking Ensemble and Rule-Based Filtering in Phishing Detectionmance</a:t>
            </a:r>
          </a:p>
        </p:txBody>
      </p:sp>
      <p:sp>
        <p:nvSpPr>
          <p:cNvPr name="TextBox 6" id="6"/>
          <p:cNvSpPr txBox="true"/>
          <p:nvPr/>
        </p:nvSpPr>
        <p:spPr>
          <a:xfrm rot="0">
            <a:off x="1864064" y="681990"/>
            <a:ext cx="3686274" cy="346710"/>
          </a:xfrm>
          <a:prstGeom prst="rect">
            <a:avLst/>
          </a:prstGeom>
        </p:spPr>
        <p:txBody>
          <a:bodyPr anchor="t" rtlCol="false" tIns="0" lIns="0" bIns="0" rIns="0">
            <a:spAutoFit/>
          </a:bodyPr>
          <a:lstStyle/>
          <a:p>
            <a:pPr algn="ctr">
              <a:lnSpc>
                <a:spcPts val="2400"/>
              </a:lnSpc>
              <a:spcBef>
                <a:spcPct val="0"/>
              </a:spcBef>
            </a:pPr>
            <a:r>
              <a:rPr lang="en-US" b="true" sz="2400">
                <a:solidFill>
                  <a:srgbClr val="0B3454"/>
                </a:solidFill>
                <a:latin typeface="Poppins Semi-Bold"/>
                <a:ea typeface="Poppins Semi-Bold"/>
                <a:cs typeface="Poppins Semi-Bold"/>
                <a:sym typeface="Poppins Semi-Bold"/>
              </a:rPr>
              <a:t>INSTITUT TEKNOLOGI DEL</a:t>
            </a:r>
          </a:p>
        </p:txBody>
      </p:sp>
      <p:grpSp>
        <p:nvGrpSpPr>
          <p:cNvPr name="Group 7" id="7"/>
          <p:cNvGrpSpPr/>
          <p:nvPr/>
        </p:nvGrpSpPr>
        <p:grpSpPr>
          <a:xfrm rot="5400000">
            <a:off x="4215892" y="-286945"/>
            <a:ext cx="47625" cy="3836200"/>
            <a:chOff x="0" y="0"/>
            <a:chExt cx="12543" cy="1010357"/>
          </a:xfrm>
        </p:grpSpPr>
        <p:sp>
          <p:nvSpPr>
            <p:cNvPr name="Freeform 8" id="8"/>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9" id="9"/>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5400000">
            <a:off x="4215892" y="-103929"/>
            <a:ext cx="47625" cy="3836200"/>
            <a:chOff x="0" y="0"/>
            <a:chExt cx="12543" cy="1010357"/>
          </a:xfrm>
        </p:grpSpPr>
        <p:sp>
          <p:nvSpPr>
            <p:cNvPr name="Freeform 11" id="11"/>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12" id="12"/>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sp>
        <p:nvSpPr>
          <p:cNvPr name="TextBox 13" id="13"/>
          <p:cNvSpPr txBox="true"/>
          <p:nvPr/>
        </p:nvSpPr>
        <p:spPr>
          <a:xfrm rot="0">
            <a:off x="9144000" y="4324300"/>
            <a:ext cx="8115300" cy="4668509"/>
          </a:xfrm>
          <a:prstGeom prst="rect">
            <a:avLst/>
          </a:prstGeom>
        </p:spPr>
        <p:txBody>
          <a:bodyPr anchor="t" rtlCol="false" tIns="0" lIns="0" bIns="0" rIns="0">
            <a:spAutoFit/>
          </a:bodyPr>
          <a:lstStyle/>
          <a:p>
            <a:pPr algn="just">
              <a:lnSpc>
                <a:spcPts val="3080"/>
              </a:lnSpc>
            </a:pPr>
            <a:r>
              <a:rPr lang="en-US" sz="2200">
                <a:solidFill>
                  <a:srgbClr val="002254"/>
                </a:solidFill>
                <a:latin typeface="Montserrat"/>
                <a:ea typeface="Montserrat"/>
                <a:cs typeface="Montserrat"/>
                <a:sym typeface="Montserrat"/>
              </a:rPr>
              <a:t>The Hybrid syst</a:t>
            </a:r>
            <a:r>
              <a:rPr lang="en-US" sz="2200">
                <a:solidFill>
                  <a:srgbClr val="002254"/>
                </a:solidFill>
                <a:latin typeface="Montserrat"/>
                <a:ea typeface="Montserrat"/>
                <a:cs typeface="Montserrat"/>
                <a:sym typeface="Montserrat"/>
              </a:rPr>
              <a:t>em is implemented with a defense-in-depth architecture. In the initial stage, each URL is evaluated by Rule-Based Filtering using a risk score calculation. If a URL has a risk score of ≥ 5, the system will immediately block it and classify it as phishing. Conversely, URLs that pass this stage will be forwarded to the Stacking model for further evaluation.</a:t>
            </a:r>
            <a:r>
              <a:rPr lang="en-US" sz="2200">
                <a:solidFill>
                  <a:srgbClr val="002254"/>
                </a:solidFill>
                <a:latin typeface="Montserrat"/>
                <a:ea typeface="Montserrat"/>
                <a:cs typeface="Montserrat"/>
                <a:sym typeface="Montserrat"/>
              </a:rPr>
              <a:t> This implementation approach is very efficient because it has been proven to reduce the ma</a:t>
            </a:r>
            <a:r>
              <a:rPr lang="en-US" sz="2200">
                <a:solidFill>
                  <a:srgbClr val="002254"/>
                </a:solidFill>
                <a:latin typeface="Montserrat"/>
                <a:ea typeface="Montserrat"/>
                <a:cs typeface="Montserrat"/>
                <a:sym typeface="Montserrat"/>
              </a:rPr>
              <a:t>chine learning processing load by up to 24.5% and speed up computation time, although there is a slight increase in False Positives due to the strict filtering in the initial stage.</a:t>
            </a:r>
          </a:p>
        </p:txBody>
      </p:sp>
      <p:grpSp>
        <p:nvGrpSpPr>
          <p:cNvPr name="Group 14" id="14"/>
          <p:cNvGrpSpPr/>
          <p:nvPr/>
        </p:nvGrpSpPr>
        <p:grpSpPr>
          <a:xfrm rot="5400000">
            <a:off x="13383524" y="7364012"/>
            <a:ext cx="47625" cy="3836200"/>
            <a:chOff x="0" y="0"/>
            <a:chExt cx="12543" cy="1010357"/>
          </a:xfrm>
        </p:grpSpPr>
        <p:sp>
          <p:nvSpPr>
            <p:cNvPr name="Freeform 15" id="15"/>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16" id="16"/>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5400000">
            <a:off x="13383524" y="7547029"/>
            <a:ext cx="47625" cy="3836200"/>
            <a:chOff x="0" y="0"/>
            <a:chExt cx="12543" cy="1010357"/>
          </a:xfrm>
        </p:grpSpPr>
        <p:sp>
          <p:nvSpPr>
            <p:cNvPr name="Freeform 18" id="18"/>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19" id="19"/>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9259" t="0" r="-9259" b="0"/>
            </a:stretch>
          </a:blipFill>
        </p:spPr>
      </p:sp>
      <p:sp>
        <p:nvSpPr>
          <p:cNvPr name="Freeform 3" id="3"/>
          <p:cNvSpPr/>
          <p:nvPr/>
        </p:nvSpPr>
        <p:spPr>
          <a:xfrm flipH="false" flipV="false" rot="0">
            <a:off x="692764" y="400218"/>
            <a:ext cx="963762" cy="963762"/>
          </a:xfrm>
          <a:custGeom>
            <a:avLst/>
            <a:gdLst/>
            <a:ahLst/>
            <a:cxnLst/>
            <a:rect r="r" b="b" t="t" l="l"/>
            <a:pathLst>
              <a:path h="963762" w="963762">
                <a:moveTo>
                  <a:pt x="0" y="0"/>
                </a:moveTo>
                <a:lnTo>
                  <a:pt x="963761" y="0"/>
                </a:lnTo>
                <a:lnTo>
                  <a:pt x="963761" y="963762"/>
                </a:lnTo>
                <a:lnTo>
                  <a:pt x="0" y="963762"/>
                </a:lnTo>
                <a:lnTo>
                  <a:pt x="0" y="0"/>
                </a:lnTo>
                <a:close/>
              </a:path>
            </a:pathLst>
          </a:custGeom>
          <a:blipFill>
            <a:blip r:embed="rId3"/>
            <a:stretch>
              <a:fillRect l="0" t="0" r="0" b="0"/>
            </a:stretch>
          </a:blipFill>
        </p:spPr>
      </p:sp>
      <p:sp>
        <p:nvSpPr>
          <p:cNvPr name="TextBox 4" id="4"/>
          <p:cNvSpPr txBox="true"/>
          <p:nvPr/>
        </p:nvSpPr>
        <p:spPr>
          <a:xfrm rot="0">
            <a:off x="1028700" y="1070536"/>
            <a:ext cx="16386259" cy="1739801"/>
          </a:xfrm>
          <a:prstGeom prst="rect">
            <a:avLst/>
          </a:prstGeom>
        </p:spPr>
        <p:txBody>
          <a:bodyPr anchor="t" rtlCol="false" tIns="0" lIns="0" bIns="0" rIns="0">
            <a:spAutoFit/>
          </a:bodyPr>
          <a:lstStyle/>
          <a:p>
            <a:pPr algn="ctr">
              <a:lnSpc>
                <a:spcPts val="7000"/>
              </a:lnSpc>
            </a:pPr>
            <a:r>
              <a:rPr lang="en-US" sz="5000" b="true">
                <a:solidFill>
                  <a:srgbClr val="002254"/>
                </a:solidFill>
                <a:latin typeface="Montserrat Ultra-Bold"/>
                <a:ea typeface="Montserrat Ultra-Bold"/>
                <a:cs typeface="Montserrat Ultra-Bold"/>
                <a:sym typeface="Montserrat Ultra-Bold"/>
              </a:rPr>
              <a:t>Evaluation of Stacking and Hybrid Models Using Confusion Matrix and Performance Metrics</a:t>
            </a:r>
          </a:p>
        </p:txBody>
      </p:sp>
      <p:sp>
        <p:nvSpPr>
          <p:cNvPr name="TextBox 5" id="5"/>
          <p:cNvSpPr txBox="true"/>
          <p:nvPr/>
        </p:nvSpPr>
        <p:spPr>
          <a:xfrm rot="0">
            <a:off x="1864064" y="681990"/>
            <a:ext cx="3686274" cy="346710"/>
          </a:xfrm>
          <a:prstGeom prst="rect">
            <a:avLst/>
          </a:prstGeom>
        </p:spPr>
        <p:txBody>
          <a:bodyPr anchor="t" rtlCol="false" tIns="0" lIns="0" bIns="0" rIns="0">
            <a:spAutoFit/>
          </a:bodyPr>
          <a:lstStyle/>
          <a:p>
            <a:pPr algn="ctr">
              <a:lnSpc>
                <a:spcPts val="2400"/>
              </a:lnSpc>
              <a:spcBef>
                <a:spcPct val="0"/>
              </a:spcBef>
            </a:pPr>
            <a:r>
              <a:rPr lang="en-US" b="true" sz="2400">
                <a:solidFill>
                  <a:srgbClr val="0B3454"/>
                </a:solidFill>
                <a:latin typeface="Poppins Semi-Bold"/>
                <a:ea typeface="Poppins Semi-Bold"/>
                <a:cs typeface="Poppins Semi-Bold"/>
                <a:sym typeface="Poppins Semi-Bold"/>
              </a:rPr>
              <a:t>INSTITUT TEKNOLOGI DEL</a:t>
            </a:r>
          </a:p>
        </p:txBody>
      </p:sp>
      <p:sp>
        <p:nvSpPr>
          <p:cNvPr name="TextBox 6" id="6"/>
          <p:cNvSpPr txBox="true"/>
          <p:nvPr/>
        </p:nvSpPr>
        <p:spPr>
          <a:xfrm rot="0">
            <a:off x="1028700" y="7323331"/>
            <a:ext cx="16230600" cy="1934845"/>
          </a:xfrm>
          <a:prstGeom prst="rect">
            <a:avLst/>
          </a:prstGeom>
        </p:spPr>
        <p:txBody>
          <a:bodyPr anchor="t" rtlCol="false" tIns="0" lIns="0" bIns="0" rIns="0">
            <a:spAutoFit/>
          </a:bodyPr>
          <a:lstStyle/>
          <a:p>
            <a:pPr algn="just">
              <a:lnSpc>
                <a:spcPts val="3079"/>
              </a:lnSpc>
              <a:spcBef>
                <a:spcPct val="0"/>
              </a:spcBef>
            </a:pPr>
            <a:r>
              <a:rPr lang="en-US" sz="2199">
                <a:solidFill>
                  <a:srgbClr val="000000"/>
                </a:solidFill>
                <a:latin typeface="Montserrat"/>
                <a:ea typeface="Montserrat"/>
                <a:cs typeface="Montserrat"/>
                <a:sym typeface="Montserrat"/>
              </a:rPr>
              <a:t>Bas</a:t>
            </a:r>
            <a:r>
              <a:rPr lang="en-US" sz="2199">
                <a:solidFill>
                  <a:srgbClr val="000000"/>
                </a:solidFill>
                <a:latin typeface="Montserrat"/>
                <a:ea typeface="Montserrat"/>
                <a:cs typeface="Montserrat"/>
                <a:sym typeface="Montserrat"/>
              </a:rPr>
              <a:t>ed on the evaluation results, the Stacking Ensemble model provided the best overall performance with higher accuracy, precision, F1-score, and AUC values ​​and a lower number of false positives. Meanwhile, the Hybrid model had slightly higher recall, indicating better ability in detecting phishing, but with the trade-off of increased false positives. Therefore, Stacking is more optimal for balanced performance, while Hybrid is more suitable for security-oriented approaches.</a:t>
            </a:r>
          </a:p>
        </p:txBody>
      </p:sp>
      <p:graphicFrame>
        <p:nvGraphicFramePr>
          <p:cNvPr name="Table 7" id="7"/>
          <p:cNvGraphicFramePr>
            <a:graphicFrameLocks noGrp="true"/>
          </p:cNvGraphicFramePr>
          <p:nvPr/>
        </p:nvGraphicFramePr>
        <p:xfrm>
          <a:off x="1028700" y="2947422"/>
          <a:ext cx="8343224" cy="4392155"/>
        </p:xfrm>
        <a:graphic>
          <a:graphicData uri="http://schemas.openxmlformats.org/drawingml/2006/table">
            <a:tbl>
              <a:tblPr/>
              <a:tblGrid>
                <a:gridCol w="1986944"/>
                <a:gridCol w="2405749"/>
                <a:gridCol w="2063936"/>
                <a:gridCol w="1886595"/>
              </a:tblGrid>
              <a:tr h="875658">
                <a:tc>
                  <a:txBody>
                    <a:bodyPr anchor="t" rtlCol="false"/>
                    <a:lstStyle/>
                    <a:p>
                      <a:pPr algn="ctr">
                        <a:lnSpc>
                          <a:spcPts val="2520"/>
                        </a:lnSpc>
                        <a:defRPr/>
                      </a:pPr>
                      <a:r>
                        <a:rPr lang="en-US" sz="1800" b="true">
                          <a:solidFill>
                            <a:srgbClr val="000000"/>
                          </a:solidFill>
                          <a:latin typeface="Montserrat Bold"/>
                          <a:ea typeface="Montserrat Bold"/>
                          <a:cs typeface="Montserrat Bold"/>
                          <a:sym typeface="Montserrat Bold"/>
                        </a:rPr>
                        <a:t>Parameter</a:t>
                      </a:r>
                      <a:endParaRPr lang="en-US" sz="1100"/>
                    </a:p>
                  </a:txBody>
                  <a:tcPr marL="47625" marR="47625" marT="47625" marB="47625"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99ACFF"/>
                    </a:solidFill>
                  </a:tcPr>
                </a:tc>
                <a:tc>
                  <a:txBody>
                    <a:bodyPr anchor="t" rtlCol="false"/>
                    <a:lstStyle/>
                    <a:p>
                      <a:pPr algn="ctr">
                        <a:lnSpc>
                          <a:spcPts val="2520"/>
                        </a:lnSpc>
                        <a:defRPr/>
                      </a:pPr>
                      <a:r>
                        <a:rPr lang="en-US" sz="1800" b="true">
                          <a:solidFill>
                            <a:srgbClr val="000000"/>
                          </a:solidFill>
                          <a:latin typeface="Montserrat Bold"/>
                          <a:ea typeface="Montserrat Bold"/>
                          <a:cs typeface="Montserrat Bold"/>
                          <a:sym typeface="Montserrat Bold"/>
                        </a:rPr>
                        <a:t>Keterangan</a:t>
                      </a:r>
                      <a:endParaRPr lang="en-US" sz="1100"/>
                    </a:p>
                  </a:txBody>
                  <a:tcPr marL="47625" marR="47625" marT="47625" marB="47625"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99ACFF"/>
                    </a:solidFill>
                  </a:tcPr>
                </a:tc>
                <a:tc>
                  <a:txBody>
                    <a:bodyPr anchor="t" rtlCol="false"/>
                    <a:lstStyle/>
                    <a:p>
                      <a:pPr algn="ctr">
                        <a:lnSpc>
                          <a:spcPts val="2520"/>
                        </a:lnSpc>
                        <a:defRPr/>
                      </a:pPr>
                      <a:r>
                        <a:rPr lang="en-US" sz="1800" b="true">
                          <a:solidFill>
                            <a:srgbClr val="000000"/>
                          </a:solidFill>
                          <a:latin typeface="Montserrat Bold"/>
                          <a:ea typeface="Montserrat Bold"/>
                          <a:cs typeface="Montserrat Bold"/>
                          <a:sym typeface="Montserrat Bold"/>
                        </a:rPr>
                        <a:t>Stacking Ensemble</a:t>
                      </a:r>
                      <a:endParaRPr lang="en-US" sz="1100"/>
                    </a:p>
                  </a:txBody>
                  <a:tcPr marL="47625" marR="47625" marT="47625" marB="47625"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99ACFF"/>
                    </a:solidFill>
                  </a:tcPr>
                </a:tc>
                <a:tc>
                  <a:txBody>
                    <a:bodyPr anchor="t" rtlCol="false"/>
                    <a:lstStyle/>
                    <a:p>
                      <a:pPr algn="ctr">
                        <a:lnSpc>
                          <a:spcPts val="2520"/>
                        </a:lnSpc>
                        <a:defRPr/>
                      </a:pPr>
                      <a:r>
                        <a:rPr lang="en-US" sz="1800" b="true">
                          <a:solidFill>
                            <a:srgbClr val="000000"/>
                          </a:solidFill>
                          <a:latin typeface="Montserrat Bold"/>
                          <a:ea typeface="Montserrat Bold"/>
                          <a:cs typeface="Montserrat Bold"/>
                          <a:sym typeface="Montserrat Bold"/>
                        </a:rPr>
                        <a:t>Hybrid </a:t>
                      </a:r>
                      <a:endParaRPr lang="en-US" sz="1100"/>
                    </a:p>
                  </a:txBody>
                  <a:tcPr marL="47625" marR="47625" marT="47625" marB="47625"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99ACFF"/>
                    </a:solidFill>
                  </a:tcPr>
                </a:tc>
              </a:tr>
              <a:tr h="884855">
                <a:tc>
                  <a:txBody>
                    <a:bodyPr anchor="t" rtlCol="false"/>
                    <a:lstStyle/>
                    <a:p>
                      <a:pPr algn="ctr">
                        <a:lnSpc>
                          <a:spcPts val="2520"/>
                        </a:lnSpc>
                        <a:defRPr/>
                      </a:pPr>
                      <a:r>
                        <a:rPr lang="en-US" sz="1800" b="true">
                          <a:solidFill>
                            <a:srgbClr val="000000"/>
                          </a:solidFill>
                          <a:latin typeface="Montserrat Bold"/>
                          <a:ea typeface="Montserrat Bold"/>
                          <a:cs typeface="Montserrat Bold"/>
                          <a:sym typeface="Montserrat Bold"/>
                        </a:rPr>
                        <a:t>True Positive (TP)</a:t>
                      </a:r>
                      <a:endParaRPr lang="en-US" sz="1100"/>
                    </a:p>
                  </a:txBody>
                  <a:tcPr marL="47625" marR="47625" marT="47625" marB="47625"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c>
                  <a:txBody>
                    <a:bodyPr anchor="t" rtlCol="false"/>
                    <a:lstStyle/>
                    <a:p>
                      <a:pPr algn="l">
                        <a:lnSpc>
                          <a:spcPts val="2520"/>
                        </a:lnSpc>
                        <a:defRPr/>
                      </a:pPr>
                      <a:r>
                        <a:rPr lang="en-US" sz="1800">
                          <a:solidFill>
                            <a:srgbClr val="000000"/>
                          </a:solidFill>
                          <a:latin typeface="Montserrat"/>
                          <a:ea typeface="Montserrat"/>
                          <a:cs typeface="Montserrat"/>
                          <a:sym typeface="Montserrat"/>
                        </a:rPr>
                        <a:t>Phishing diprediksi Phishing</a:t>
                      </a:r>
                      <a:endParaRPr lang="en-US" sz="1100"/>
                    </a:p>
                  </a:txBody>
                  <a:tcPr marL="47625" marR="47625" marT="47625" marB="47625"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1800">
                          <a:solidFill>
                            <a:srgbClr val="000000"/>
                          </a:solidFill>
                          <a:latin typeface="Montserrat"/>
                          <a:ea typeface="Montserrat"/>
                          <a:cs typeface="Montserrat"/>
                          <a:sym typeface="Montserrat"/>
                        </a:rPr>
                        <a:t>1.112</a:t>
                      </a:r>
                      <a:endParaRPr lang="en-US" sz="1100"/>
                    </a:p>
                  </a:txBody>
                  <a:tcPr marL="47625" marR="47625" marT="47625" marB="47625"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1800">
                          <a:solidFill>
                            <a:srgbClr val="000000"/>
                          </a:solidFill>
                          <a:latin typeface="Montserrat"/>
                          <a:ea typeface="Montserrat"/>
                          <a:cs typeface="Montserrat"/>
                          <a:sym typeface="Montserrat"/>
                        </a:rPr>
                        <a:t>1.118</a:t>
                      </a:r>
                      <a:endParaRPr lang="en-US" sz="1100"/>
                    </a:p>
                  </a:txBody>
                  <a:tcPr marL="47625" marR="47625" marT="47625" marB="47625"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r>
              <a:tr h="875658">
                <a:tc>
                  <a:txBody>
                    <a:bodyPr anchor="t" rtlCol="false"/>
                    <a:lstStyle/>
                    <a:p>
                      <a:pPr algn="ctr">
                        <a:lnSpc>
                          <a:spcPts val="2520"/>
                        </a:lnSpc>
                        <a:defRPr/>
                      </a:pPr>
                      <a:r>
                        <a:rPr lang="en-US" sz="1800" b="true">
                          <a:solidFill>
                            <a:srgbClr val="000000"/>
                          </a:solidFill>
                          <a:latin typeface="Montserrat Bold"/>
                          <a:ea typeface="Montserrat Bold"/>
                          <a:cs typeface="Montserrat Bold"/>
                          <a:sym typeface="Montserrat Bold"/>
                        </a:rPr>
                        <a:t>True Negative (TN)</a:t>
                      </a:r>
                      <a:endParaRPr lang="en-US" sz="1100"/>
                    </a:p>
                  </a:txBody>
                  <a:tcPr marL="47625" marR="47625" marT="47625" marB="47625"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c>
                  <a:txBody>
                    <a:bodyPr anchor="t" rtlCol="false"/>
                    <a:lstStyle/>
                    <a:p>
                      <a:pPr algn="l">
                        <a:lnSpc>
                          <a:spcPts val="2520"/>
                        </a:lnSpc>
                        <a:defRPr/>
                      </a:pPr>
                      <a:r>
                        <a:rPr lang="en-US" sz="1800">
                          <a:solidFill>
                            <a:srgbClr val="000000"/>
                          </a:solidFill>
                          <a:latin typeface="Montserrat"/>
                          <a:ea typeface="Montserrat"/>
                          <a:cs typeface="Montserrat"/>
                          <a:sym typeface="Montserrat"/>
                        </a:rPr>
                        <a:t>Benign diprediksi Benign</a:t>
                      </a:r>
                      <a:endParaRPr lang="en-US" sz="1100"/>
                    </a:p>
                  </a:txBody>
                  <a:tcPr marL="47625" marR="47625" marT="47625" marB="47625"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1800">
                          <a:solidFill>
                            <a:srgbClr val="000000"/>
                          </a:solidFill>
                          <a:latin typeface="Montserrat"/>
                          <a:ea typeface="Montserrat"/>
                          <a:cs typeface="Montserrat"/>
                          <a:sym typeface="Montserrat"/>
                        </a:rPr>
                        <a:t>1.117</a:t>
                      </a:r>
                      <a:endParaRPr lang="en-US" sz="1100"/>
                    </a:p>
                  </a:txBody>
                  <a:tcPr marL="47625" marR="47625" marT="47625" marB="47625"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1800">
                          <a:solidFill>
                            <a:srgbClr val="000000"/>
                          </a:solidFill>
                          <a:latin typeface="Montserrat"/>
                          <a:ea typeface="Montserrat"/>
                          <a:cs typeface="Montserrat"/>
                          <a:sym typeface="Montserrat"/>
                        </a:rPr>
                        <a:t>998</a:t>
                      </a:r>
                      <a:endParaRPr lang="en-US" sz="1100"/>
                    </a:p>
                  </a:txBody>
                  <a:tcPr marL="47625" marR="47625" marT="47625" marB="47625"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r>
              <a:tr h="875658">
                <a:tc>
                  <a:txBody>
                    <a:bodyPr anchor="t" rtlCol="false"/>
                    <a:lstStyle/>
                    <a:p>
                      <a:pPr algn="ctr">
                        <a:lnSpc>
                          <a:spcPts val="2520"/>
                        </a:lnSpc>
                        <a:defRPr/>
                      </a:pPr>
                      <a:r>
                        <a:rPr lang="en-US" sz="1800" b="true">
                          <a:solidFill>
                            <a:srgbClr val="000000"/>
                          </a:solidFill>
                          <a:latin typeface="Montserrat Bold"/>
                          <a:ea typeface="Montserrat Bold"/>
                          <a:cs typeface="Montserrat Bold"/>
                          <a:sym typeface="Montserrat Bold"/>
                        </a:rPr>
                        <a:t>False Positive (FP)</a:t>
                      </a:r>
                      <a:endParaRPr lang="en-US" sz="1100"/>
                    </a:p>
                  </a:txBody>
                  <a:tcPr marL="47625" marR="47625" marT="47625" marB="47625"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c>
                  <a:txBody>
                    <a:bodyPr anchor="t" rtlCol="false"/>
                    <a:lstStyle/>
                    <a:p>
                      <a:pPr algn="l">
                        <a:lnSpc>
                          <a:spcPts val="2520"/>
                        </a:lnSpc>
                        <a:defRPr/>
                      </a:pPr>
                      <a:r>
                        <a:rPr lang="en-US" sz="1800">
                          <a:solidFill>
                            <a:srgbClr val="000000"/>
                          </a:solidFill>
                          <a:latin typeface="Montserrat"/>
                          <a:ea typeface="Montserrat"/>
                          <a:cs typeface="Montserrat"/>
                          <a:sym typeface="Montserrat"/>
                        </a:rPr>
                        <a:t>Benign diprediksi Phishing</a:t>
                      </a:r>
                      <a:endParaRPr lang="en-US" sz="1100"/>
                    </a:p>
                  </a:txBody>
                  <a:tcPr marL="47625" marR="47625" marT="47625" marB="47625"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1800">
                          <a:solidFill>
                            <a:srgbClr val="000000"/>
                          </a:solidFill>
                          <a:latin typeface="Montserrat"/>
                          <a:ea typeface="Montserrat"/>
                          <a:cs typeface="Montserrat"/>
                          <a:sym typeface="Montserrat"/>
                        </a:rPr>
                        <a:t>26</a:t>
                      </a:r>
                      <a:endParaRPr lang="en-US" sz="1100"/>
                    </a:p>
                  </a:txBody>
                  <a:tcPr marL="47625" marR="47625" marT="47625" marB="47625"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1800">
                          <a:solidFill>
                            <a:srgbClr val="000000"/>
                          </a:solidFill>
                          <a:latin typeface="Montserrat"/>
                          <a:ea typeface="Montserrat"/>
                          <a:cs typeface="Montserrat"/>
                          <a:sym typeface="Montserrat"/>
                        </a:rPr>
                        <a:t>145</a:t>
                      </a:r>
                      <a:endParaRPr lang="en-US" sz="1100"/>
                    </a:p>
                  </a:txBody>
                  <a:tcPr marL="47625" marR="47625" marT="47625" marB="47625"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r>
              <a:tr h="880328">
                <a:tc>
                  <a:txBody>
                    <a:bodyPr anchor="t" rtlCol="false"/>
                    <a:lstStyle/>
                    <a:p>
                      <a:pPr algn="ctr">
                        <a:lnSpc>
                          <a:spcPts val="2520"/>
                        </a:lnSpc>
                        <a:defRPr/>
                      </a:pPr>
                      <a:r>
                        <a:rPr lang="en-US" sz="1800" b="true">
                          <a:solidFill>
                            <a:srgbClr val="000000"/>
                          </a:solidFill>
                          <a:latin typeface="Montserrat Bold"/>
                          <a:ea typeface="Montserrat Bold"/>
                          <a:cs typeface="Montserrat Bold"/>
                          <a:sym typeface="Montserrat Bold"/>
                        </a:rPr>
                        <a:t>False Negative (FN)</a:t>
                      </a:r>
                      <a:endParaRPr lang="en-US" sz="1100"/>
                    </a:p>
                  </a:txBody>
                  <a:tcPr marL="47625" marR="47625" marT="47625" marB="47625"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c>
                  <a:txBody>
                    <a:bodyPr anchor="t" rtlCol="false"/>
                    <a:lstStyle/>
                    <a:p>
                      <a:pPr algn="l">
                        <a:lnSpc>
                          <a:spcPts val="2520"/>
                        </a:lnSpc>
                        <a:defRPr/>
                      </a:pPr>
                      <a:r>
                        <a:rPr lang="en-US" sz="1800">
                          <a:solidFill>
                            <a:srgbClr val="000000"/>
                          </a:solidFill>
                          <a:latin typeface="Montserrat"/>
                          <a:ea typeface="Montserrat"/>
                          <a:cs typeface="Montserrat"/>
                          <a:sym typeface="Montserrat"/>
                        </a:rPr>
                        <a:t>Phishing diprediksi Benign</a:t>
                      </a:r>
                      <a:endParaRPr lang="en-US" sz="1100"/>
                    </a:p>
                  </a:txBody>
                  <a:tcPr marL="47625" marR="47625" marT="47625" marB="47625"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1800">
                          <a:solidFill>
                            <a:srgbClr val="000000"/>
                          </a:solidFill>
                          <a:latin typeface="Montserrat"/>
                          <a:ea typeface="Montserrat"/>
                          <a:cs typeface="Montserrat"/>
                          <a:sym typeface="Montserrat"/>
                        </a:rPr>
                        <a:t>31</a:t>
                      </a:r>
                      <a:endParaRPr lang="en-US" sz="1100"/>
                    </a:p>
                  </a:txBody>
                  <a:tcPr marL="47625" marR="47625" marT="47625" marB="47625"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1800">
                          <a:solidFill>
                            <a:srgbClr val="000000"/>
                          </a:solidFill>
                          <a:latin typeface="Montserrat"/>
                          <a:ea typeface="Montserrat"/>
                          <a:cs typeface="Montserrat"/>
                          <a:sym typeface="Montserrat"/>
                        </a:rPr>
                        <a:t>25</a:t>
                      </a:r>
                      <a:endParaRPr lang="en-US" sz="1100"/>
                    </a:p>
                  </a:txBody>
                  <a:tcPr marL="47625" marR="47625" marT="47625" marB="47625"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r>
            </a:tbl>
          </a:graphicData>
        </a:graphic>
      </p:graphicFrame>
      <p:graphicFrame>
        <p:nvGraphicFramePr>
          <p:cNvPr name="Table 8" id="8"/>
          <p:cNvGraphicFramePr>
            <a:graphicFrameLocks noGrp="true"/>
          </p:cNvGraphicFramePr>
          <p:nvPr/>
        </p:nvGraphicFramePr>
        <p:xfrm>
          <a:off x="9944100" y="2948764"/>
          <a:ext cx="7334250" cy="4305490"/>
        </p:xfrm>
        <a:graphic>
          <a:graphicData uri="http://schemas.openxmlformats.org/drawingml/2006/table">
            <a:tbl>
              <a:tblPr/>
              <a:tblGrid>
                <a:gridCol w="2444750"/>
                <a:gridCol w="2531569"/>
                <a:gridCol w="2357931"/>
              </a:tblGrid>
              <a:tr h="944511">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Metrik Evaluasi</a:t>
                      </a:r>
                      <a:endParaRPr lang="en-US" sz="1100"/>
                    </a:p>
                  </a:txBody>
                  <a:tcPr marL="47625" marR="47625" marT="47625" marB="47625" anchor="ctr">
                    <a:lnL cmpd="sng" algn="ctr" cap="flat" w="0">
                      <a:solidFill>
                        <a:srgbClr val="BB99FF"/>
                      </a:solidFill>
                      <a:prstDash val="solid"/>
                      <a:round/>
                      <a:headEnd type="none" w="med" len="med"/>
                      <a:tailEnd type="none" w="med" len="med"/>
                    </a:lnL>
                    <a:lnR cmpd="sng" algn="ctr" cap="flat" w="0">
                      <a:solidFill>
                        <a:srgbClr val="BB99FF"/>
                      </a:solidFill>
                      <a:prstDash val="solid"/>
                      <a:round/>
                      <a:headEnd type="none" w="med" len="med"/>
                      <a:tailEnd type="none" w="med" len="med"/>
                    </a:lnR>
                    <a:lnT cmpd="sng" algn="ctr" cap="flat" w="0">
                      <a:solidFill>
                        <a:srgbClr val="BB99FF"/>
                      </a:solidFill>
                      <a:prstDash val="solid"/>
                      <a:round/>
                      <a:headEnd type="none" w="med" len="med"/>
                      <a:tailEnd type="none" w="med" len="med"/>
                    </a:lnT>
                    <a:lnB cmpd="sng" algn="ctr" cap="flat" w="0">
                      <a:solidFill>
                        <a:srgbClr val="BB99FF"/>
                      </a:solidFill>
                      <a:prstDash val="solid"/>
                      <a:round/>
                      <a:headEnd type="none" w="med" len="med"/>
                      <a:tailEnd type="none" w="med" len="med"/>
                    </a:lnB>
                    <a:solidFill>
                      <a:srgbClr val="BB99FF"/>
                    </a:solidFill>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Stacking Ensemble</a:t>
                      </a:r>
                      <a:endParaRPr lang="en-US" sz="1100"/>
                    </a:p>
                  </a:txBody>
                  <a:tcPr marL="47625" marR="47625" marT="47625" marB="47625" anchor="ctr">
                    <a:lnL cmpd="sng" algn="ctr" cap="flat" w="0">
                      <a:solidFill>
                        <a:srgbClr val="BB99FF"/>
                      </a:solidFill>
                      <a:prstDash val="solid"/>
                      <a:round/>
                      <a:headEnd type="none" w="med" len="med"/>
                      <a:tailEnd type="none" w="med" len="med"/>
                    </a:lnL>
                    <a:lnR cmpd="sng" algn="ctr" cap="flat" w="0">
                      <a:solidFill>
                        <a:srgbClr val="BB99FF"/>
                      </a:solidFill>
                      <a:prstDash val="solid"/>
                      <a:round/>
                      <a:headEnd type="none" w="med" len="med"/>
                      <a:tailEnd type="none" w="med" len="med"/>
                    </a:lnR>
                    <a:lnT cmpd="sng" algn="ctr" cap="flat" w="0">
                      <a:solidFill>
                        <a:srgbClr val="BB99FF"/>
                      </a:solidFill>
                      <a:prstDash val="solid"/>
                      <a:round/>
                      <a:headEnd type="none" w="med" len="med"/>
                      <a:tailEnd type="none" w="med" len="med"/>
                    </a:lnT>
                    <a:lnB cmpd="sng" algn="ctr" cap="flat" w="0">
                      <a:solidFill>
                        <a:srgbClr val="BB99FF"/>
                      </a:solidFill>
                      <a:prstDash val="solid"/>
                      <a:round/>
                      <a:headEnd type="none" w="med" len="med"/>
                      <a:tailEnd type="none" w="med" len="med"/>
                    </a:lnB>
                    <a:solidFill>
                      <a:srgbClr val="BB99FF"/>
                    </a:solidFill>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Hybrid </a:t>
                      </a:r>
                      <a:endParaRPr lang="en-US" sz="1100"/>
                    </a:p>
                  </a:txBody>
                  <a:tcPr marL="47625" marR="47625" marT="47625" marB="47625" anchor="ctr">
                    <a:lnL cmpd="sng" algn="ctr" cap="flat" w="0">
                      <a:solidFill>
                        <a:srgbClr val="BB99FF"/>
                      </a:solidFill>
                      <a:prstDash val="solid"/>
                      <a:round/>
                      <a:headEnd type="none" w="med" len="med"/>
                      <a:tailEnd type="none" w="med" len="med"/>
                    </a:lnL>
                    <a:lnR cmpd="sng" algn="ctr" cap="flat" w="0">
                      <a:solidFill>
                        <a:srgbClr val="BB99FF"/>
                      </a:solidFill>
                      <a:prstDash val="solid"/>
                      <a:round/>
                      <a:headEnd type="none" w="med" len="med"/>
                      <a:tailEnd type="none" w="med" len="med"/>
                    </a:lnR>
                    <a:lnT cmpd="sng" algn="ctr" cap="flat" w="0">
                      <a:solidFill>
                        <a:srgbClr val="BB99FF"/>
                      </a:solidFill>
                      <a:prstDash val="solid"/>
                      <a:round/>
                      <a:headEnd type="none" w="med" len="med"/>
                      <a:tailEnd type="none" w="med" len="med"/>
                    </a:lnT>
                    <a:lnB cmpd="sng" algn="ctr" cap="flat" w="0">
                      <a:solidFill>
                        <a:srgbClr val="BB99FF"/>
                      </a:solidFill>
                      <a:prstDash val="solid"/>
                      <a:round/>
                      <a:headEnd type="none" w="med" len="med"/>
                      <a:tailEnd type="none" w="med" len="med"/>
                    </a:lnB>
                    <a:solidFill>
                      <a:srgbClr val="BB99FF"/>
                    </a:solidFill>
                  </a:tcPr>
                </a:tc>
              </a:tr>
              <a:tr h="679904">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Accuracy</a:t>
                      </a:r>
                      <a:endParaRPr lang="en-US" sz="1100"/>
                    </a:p>
                  </a:txBody>
                  <a:tcPr marL="47625" marR="47625" marT="47625" marB="47625" anchor="ctr">
                    <a:lnL cmpd="sng" algn="ctr" cap="flat" w="0">
                      <a:solidFill>
                        <a:srgbClr val="BB99FF"/>
                      </a:solidFill>
                      <a:prstDash val="solid"/>
                      <a:round/>
                      <a:headEnd type="none" w="med" len="med"/>
                      <a:tailEnd type="none" w="med" len="med"/>
                    </a:lnL>
                    <a:lnR cmpd="sng" algn="ctr" cap="flat" w="0">
                      <a:solidFill>
                        <a:srgbClr val="BB99FF"/>
                      </a:solidFill>
                      <a:prstDash val="solid"/>
                      <a:round/>
                      <a:headEnd type="none" w="med" len="med"/>
                      <a:tailEnd type="none" w="med" len="med"/>
                    </a:lnR>
                    <a:lnT cmpd="sng" algn="ctr" cap="flat" w="0">
                      <a:solidFill>
                        <a:srgbClr val="BB99FF"/>
                      </a:solidFill>
                      <a:prstDash val="solid"/>
                      <a:round/>
                      <a:headEnd type="none" w="med" len="med"/>
                      <a:tailEnd type="none" w="med" len="med"/>
                    </a:lnT>
                    <a:lnB cmpd="sng" algn="ctr" cap="flat" w="0">
                      <a:solidFill>
                        <a:srgbClr val="BB99FF"/>
                      </a:solidFill>
                      <a:prstDash val="solid"/>
                      <a:round/>
                      <a:headEnd type="none" w="med" len="med"/>
                      <a:tailEnd type="none" w="med" len="med"/>
                    </a:lnB>
                    <a:solidFill>
                      <a:srgbClr val="DECDFF"/>
                    </a:solidFill>
                  </a:tcPr>
                </a:tc>
                <a:tc>
                  <a:txBody>
                    <a:bodyPr anchor="t" rtlCol="false"/>
                    <a:lstStyle/>
                    <a:p>
                      <a:pPr algn="ctr">
                        <a:lnSpc>
                          <a:spcPts val="2800"/>
                        </a:lnSpc>
                        <a:defRPr/>
                      </a:pPr>
                      <a:r>
                        <a:rPr lang="en-US" sz="2000">
                          <a:solidFill>
                            <a:srgbClr val="000000"/>
                          </a:solidFill>
                          <a:latin typeface="Montserrat"/>
                          <a:ea typeface="Montserrat"/>
                          <a:cs typeface="Montserrat"/>
                          <a:sym typeface="Montserrat"/>
                        </a:rPr>
                        <a:t>97.5%</a:t>
                      </a:r>
                      <a:endParaRPr lang="en-US" sz="1100"/>
                    </a:p>
                  </a:txBody>
                  <a:tcPr marL="47625" marR="47625" marT="47625" marB="47625" anchor="ctr">
                    <a:lnL cmpd="sng" algn="ctr" cap="flat" w="0">
                      <a:solidFill>
                        <a:srgbClr val="BB99FF"/>
                      </a:solidFill>
                      <a:prstDash val="solid"/>
                      <a:round/>
                      <a:headEnd type="none" w="med" len="med"/>
                      <a:tailEnd type="none" w="med" len="med"/>
                    </a:lnL>
                    <a:lnR cmpd="sng" algn="ctr" cap="flat" w="0">
                      <a:solidFill>
                        <a:srgbClr val="BB99FF"/>
                      </a:solidFill>
                      <a:prstDash val="solid"/>
                      <a:round/>
                      <a:headEnd type="none" w="med" len="med"/>
                      <a:tailEnd type="none" w="med" len="med"/>
                    </a:lnR>
                    <a:lnT cmpd="sng" algn="ctr" cap="flat" w="0">
                      <a:solidFill>
                        <a:srgbClr val="BB99FF"/>
                      </a:solidFill>
                      <a:prstDash val="solid"/>
                      <a:round/>
                      <a:headEnd type="none" w="med" len="med"/>
                      <a:tailEnd type="none" w="med" len="med"/>
                    </a:lnT>
                    <a:lnB cmpd="sng" algn="ctr" cap="flat" w="0">
                      <a:solidFill>
                        <a:srgbClr val="BB99F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Montserrat"/>
                          <a:ea typeface="Montserrat"/>
                          <a:cs typeface="Montserrat"/>
                          <a:sym typeface="Montserrat"/>
                        </a:rPr>
                        <a:t>92.5%</a:t>
                      </a:r>
                      <a:endParaRPr lang="en-US" sz="1100"/>
                    </a:p>
                  </a:txBody>
                  <a:tcPr marL="47625" marR="47625" marT="47625" marB="47625" anchor="ctr">
                    <a:lnL cmpd="sng" algn="ctr" cap="flat" w="0">
                      <a:solidFill>
                        <a:srgbClr val="BB99FF"/>
                      </a:solidFill>
                      <a:prstDash val="solid"/>
                      <a:round/>
                      <a:headEnd type="none" w="med" len="med"/>
                      <a:tailEnd type="none" w="med" len="med"/>
                    </a:lnL>
                    <a:lnR cmpd="sng" algn="ctr" cap="flat" w="0">
                      <a:solidFill>
                        <a:srgbClr val="BB99FF"/>
                      </a:solidFill>
                      <a:prstDash val="solid"/>
                      <a:round/>
                      <a:headEnd type="none" w="med" len="med"/>
                      <a:tailEnd type="none" w="med" len="med"/>
                    </a:lnR>
                    <a:lnT cmpd="sng" algn="ctr" cap="flat" w="0">
                      <a:solidFill>
                        <a:srgbClr val="BB99FF"/>
                      </a:solidFill>
                      <a:prstDash val="solid"/>
                      <a:round/>
                      <a:headEnd type="none" w="med" len="med"/>
                      <a:tailEnd type="none" w="med" len="med"/>
                    </a:lnT>
                    <a:lnB cmpd="sng" algn="ctr" cap="flat" w="0">
                      <a:solidFill>
                        <a:srgbClr val="BB99FF"/>
                      </a:solidFill>
                      <a:prstDash val="solid"/>
                      <a:round/>
                      <a:headEnd type="none" w="med" len="med"/>
                      <a:tailEnd type="none" w="med" len="med"/>
                    </a:lnB>
                    <a:solidFill>
                      <a:srgbClr val="FFFFFF"/>
                    </a:solidFill>
                  </a:tcPr>
                </a:tc>
              </a:tr>
              <a:tr h="623843">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Precision</a:t>
                      </a:r>
                      <a:endParaRPr lang="en-US" sz="1100"/>
                    </a:p>
                  </a:txBody>
                  <a:tcPr marL="47625" marR="47625" marT="47625" marB="47625" anchor="ctr">
                    <a:lnL cmpd="sng" algn="ctr" cap="flat" w="0">
                      <a:solidFill>
                        <a:srgbClr val="BB99FF"/>
                      </a:solidFill>
                      <a:prstDash val="solid"/>
                      <a:round/>
                      <a:headEnd type="none" w="med" len="med"/>
                      <a:tailEnd type="none" w="med" len="med"/>
                    </a:lnL>
                    <a:lnR cmpd="sng" algn="ctr" cap="flat" w="0">
                      <a:solidFill>
                        <a:srgbClr val="BB99FF"/>
                      </a:solidFill>
                      <a:prstDash val="solid"/>
                      <a:round/>
                      <a:headEnd type="none" w="med" len="med"/>
                      <a:tailEnd type="none" w="med" len="med"/>
                    </a:lnR>
                    <a:lnT cmpd="sng" algn="ctr" cap="flat" w="0">
                      <a:solidFill>
                        <a:srgbClr val="BB99FF"/>
                      </a:solidFill>
                      <a:prstDash val="solid"/>
                      <a:round/>
                      <a:headEnd type="none" w="med" len="med"/>
                      <a:tailEnd type="none" w="med" len="med"/>
                    </a:lnT>
                    <a:lnB cmpd="sng" algn="ctr" cap="flat" w="0">
                      <a:solidFill>
                        <a:srgbClr val="BB99FF"/>
                      </a:solidFill>
                      <a:prstDash val="solid"/>
                      <a:round/>
                      <a:headEnd type="none" w="med" len="med"/>
                      <a:tailEnd type="none" w="med" len="med"/>
                    </a:lnB>
                    <a:solidFill>
                      <a:srgbClr val="DECDFF"/>
                    </a:solidFill>
                  </a:tcPr>
                </a:tc>
                <a:tc>
                  <a:txBody>
                    <a:bodyPr anchor="t" rtlCol="false"/>
                    <a:lstStyle/>
                    <a:p>
                      <a:pPr algn="ctr">
                        <a:lnSpc>
                          <a:spcPts val="2800"/>
                        </a:lnSpc>
                        <a:defRPr/>
                      </a:pPr>
                      <a:r>
                        <a:rPr lang="en-US" sz="2000">
                          <a:solidFill>
                            <a:srgbClr val="000000"/>
                          </a:solidFill>
                          <a:latin typeface="Montserrat"/>
                          <a:ea typeface="Montserrat"/>
                          <a:cs typeface="Montserrat"/>
                          <a:sym typeface="Montserrat"/>
                        </a:rPr>
                        <a:t>97.7%</a:t>
                      </a:r>
                      <a:endParaRPr lang="en-US" sz="1100"/>
                    </a:p>
                  </a:txBody>
                  <a:tcPr marL="47625" marR="47625" marT="47625" marB="47625" anchor="ctr">
                    <a:lnL cmpd="sng" algn="ctr" cap="flat" w="0">
                      <a:solidFill>
                        <a:srgbClr val="BB99FF"/>
                      </a:solidFill>
                      <a:prstDash val="solid"/>
                      <a:round/>
                      <a:headEnd type="none" w="med" len="med"/>
                      <a:tailEnd type="none" w="med" len="med"/>
                    </a:lnL>
                    <a:lnR cmpd="sng" algn="ctr" cap="flat" w="0">
                      <a:solidFill>
                        <a:srgbClr val="BB99FF"/>
                      </a:solidFill>
                      <a:prstDash val="solid"/>
                      <a:round/>
                      <a:headEnd type="none" w="med" len="med"/>
                      <a:tailEnd type="none" w="med" len="med"/>
                    </a:lnR>
                    <a:lnT cmpd="sng" algn="ctr" cap="flat" w="0">
                      <a:solidFill>
                        <a:srgbClr val="BB99FF"/>
                      </a:solidFill>
                      <a:prstDash val="solid"/>
                      <a:round/>
                      <a:headEnd type="none" w="med" len="med"/>
                      <a:tailEnd type="none" w="med" len="med"/>
                    </a:lnT>
                    <a:lnB cmpd="sng" algn="ctr" cap="flat" w="0">
                      <a:solidFill>
                        <a:srgbClr val="BB99F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Montserrat"/>
                          <a:ea typeface="Montserrat"/>
                          <a:cs typeface="Montserrat"/>
                          <a:sym typeface="Montserrat"/>
                        </a:rPr>
                        <a:t>88.5%</a:t>
                      </a:r>
                      <a:endParaRPr lang="en-US" sz="1100"/>
                    </a:p>
                  </a:txBody>
                  <a:tcPr marL="47625" marR="47625" marT="47625" marB="47625" anchor="ctr">
                    <a:lnL cmpd="sng" algn="ctr" cap="flat" w="0">
                      <a:solidFill>
                        <a:srgbClr val="BB99FF"/>
                      </a:solidFill>
                      <a:prstDash val="solid"/>
                      <a:round/>
                      <a:headEnd type="none" w="med" len="med"/>
                      <a:tailEnd type="none" w="med" len="med"/>
                    </a:lnL>
                    <a:lnR cmpd="sng" algn="ctr" cap="flat" w="0">
                      <a:solidFill>
                        <a:srgbClr val="BB99FF"/>
                      </a:solidFill>
                      <a:prstDash val="solid"/>
                      <a:round/>
                      <a:headEnd type="none" w="med" len="med"/>
                      <a:tailEnd type="none" w="med" len="med"/>
                    </a:lnR>
                    <a:lnT cmpd="sng" algn="ctr" cap="flat" w="0">
                      <a:solidFill>
                        <a:srgbClr val="BB99FF"/>
                      </a:solidFill>
                      <a:prstDash val="solid"/>
                      <a:round/>
                      <a:headEnd type="none" w="med" len="med"/>
                      <a:tailEnd type="none" w="med" len="med"/>
                    </a:lnT>
                    <a:lnB cmpd="sng" algn="ctr" cap="flat" w="0">
                      <a:solidFill>
                        <a:srgbClr val="BB99FF"/>
                      </a:solidFill>
                      <a:prstDash val="solid"/>
                      <a:round/>
                      <a:headEnd type="none" w="med" len="med"/>
                      <a:tailEnd type="none" w="med" len="med"/>
                    </a:lnB>
                    <a:solidFill>
                      <a:srgbClr val="FFFFFF"/>
                    </a:solidFill>
                  </a:tcPr>
                </a:tc>
              </a:tr>
              <a:tr h="698228">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Recall</a:t>
                      </a:r>
                      <a:endParaRPr lang="en-US" sz="1100"/>
                    </a:p>
                  </a:txBody>
                  <a:tcPr marL="47625" marR="47625" marT="47625" marB="47625" anchor="ctr">
                    <a:lnL cmpd="sng" algn="ctr" cap="flat" w="0">
                      <a:solidFill>
                        <a:srgbClr val="BB99FF"/>
                      </a:solidFill>
                      <a:prstDash val="solid"/>
                      <a:round/>
                      <a:headEnd type="none" w="med" len="med"/>
                      <a:tailEnd type="none" w="med" len="med"/>
                    </a:lnL>
                    <a:lnR cmpd="sng" algn="ctr" cap="flat" w="0">
                      <a:solidFill>
                        <a:srgbClr val="BB99FF"/>
                      </a:solidFill>
                      <a:prstDash val="solid"/>
                      <a:round/>
                      <a:headEnd type="none" w="med" len="med"/>
                      <a:tailEnd type="none" w="med" len="med"/>
                    </a:lnR>
                    <a:lnT cmpd="sng" algn="ctr" cap="flat" w="0">
                      <a:solidFill>
                        <a:srgbClr val="BB99FF"/>
                      </a:solidFill>
                      <a:prstDash val="solid"/>
                      <a:round/>
                      <a:headEnd type="none" w="med" len="med"/>
                      <a:tailEnd type="none" w="med" len="med"/>
                    </a:lnT>
                    <a:lnB cmpd="sng" algn="ctr" cap="flat" w="0">
                      <a:solidFill>
                        <a:srgbClr val="BB99FF"/>
                      </a:solidFill>
                      <a:prstDash val="solid"/>
                      <a:round/>
                      <a:headEnd type="none" w="med" len="med"/>
                      <a:tailEnd type="none" w="med" len="med"/>
                    </a:lnB>
                    <a:solidFill>
                      <a:srgbClr val="DECDFF"/>
                    </a:solidFill>
                  </a:tcPr>
                </a:tc>
                <a:tc>
                  <a:txBody>
                    <a:bodyPr anchor="t" rtlCol="false"/>
                    <a:lstStyle/>
                    <a:p>
                      <a:pPr algn="ctr">
                        <a:lnSpc>
                          <a:spcPts val="2800"/>
                        </a:lnSpc>
                        <a:defRPr/>
                      </a:pPr>
                      <a:r>
                        <a:rPr lang="en-US" sz="2000">
                          <a:solidFill>
                            <a:srgbClr val="000000"/>
                          </a:solidFill>
                          <a:latin typeface="Montserrat"/>
                          <a:ea typeface="Montserrat"/>
                          <a:cs typeface="Montserrat"/>
                          <a:sym typeface="Montserrat"/>
                        </a:rPr>
                        <a:t>97.2%</a:t>
                      </a:r>
                      <a:endParaRPr lang="en-US" sz="1100"/>
                    </a:p>
                  </a:txBody>
                  <a:tcPr marL="47625" marR="47625" marT="47625" marB="47625" anchor="ctr">
                    <a:lnL cmpd="sng" algn="ctr" cap="flat" w="0">
                      <a:solidFill>
                        <a:srgbClr val="BB99FF"/>
                      </a:solidFill>
                      <a:prstDash val="solid"/>
                      <a:round/>
                      <a:headEnd type="none" w="med" len="med"/>
                      <a:tailEnd type="none" w="med" len="med"/>
                    </a:lnL>
                    <a:lnR cmpd="sng" algn="ctr" cap="flat" w="0">
                      <a:solidFill>
                        <a:srgbClr val="BB99FF"/>
                      </a:solidFill>
                      <a:prstDash val="solid"/>
                      <a:round/>
                      <a:headEnd type="none" w="med" len="med"/>
                      <a:tailEnd type="none" w="med" len="med"/>
                    </a:lnR>
                    <a:lnT cmpd="sng" algn="ctr" cap="flat" w="0">
                      <a:solidFill>
                        <a:srgbClr val="BB99FF"/>
                      </a:solidFill>
                      <a:prstDash val="solid"/>
                      <a:round/>
                      <a:headEnd type="none" w="med" len="med"/>
                      <a:tailEnd type="none" w="med" len="med"/>
                    </a:lnT>
                    <a:lnB cmpd="sng" algn="ctr" cap="flat" w="0">
                      <a:solidFill>
                        <a:srgbClr val="BB99F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Montserrat"/>
                          <a:ea typeface="Montserrat"/>
                          <a:cs typeface="Montserrat"/>
                          <a:sym typeface="Montserrat"/>
                        </a:rPr>
                        <a:t>97.8%</a:t>
                      </a:r>
                      <a:endParaRPr lang="en-US" sz="1100"/>
                    </a:p>
                  </a:txBody>
                  <a:tcPr marL="47625" marR="47625" marT="47625" marB="47625" anchor="ctr">
                    <a:lnL cmpd="sng" algn="ctr" cap="flat" w="0">
                      <a:solidFill>
                        <a:srgbClr val="BB99FF"/>
                      </a:solidFill>
                      <a:prstDash val="solid"/>
                      <a:round/>
                      <a:headEnd type="none" w="med" len="med"/>
                      <a:tailEnd type="none" w="med" len="med"/>
                    </a:lnL>
                    <a:lnR cmpd="sng" algn="ctr" cap="flat" w="0">
                      <a:solidFill>
                        <a:srgbClr val="BB99FF"/>
                      </a:solidFill>
                      <a:prstDash val="solid"/>
                      <a:round/>
                      <a:headEnd type="none" w="med" len="med"/>
                      <a:tailEnd type="none" w="med" len="med"/>
                    </a:lnR>
                    <a:lnT cmpd="sng" algn="ctr" cap="flat" w="0">
                      <a:solidFill>
                        <a:srgbClr val="BB99FF"/>
                      </a:solidFill>
                      <a:prstDash val="solid"/>
                      <a:round/>
                      <a:headEnd type="none" w="med" len="med"/>
                      <a:tailEnd type="none" w="med" len="med"/>
                    </a:lnT>
                    <a:lnB cmpd="sng" algn="ctr" cap="flat" w="0">
                      <a:solidFill>
                        <a:srgbClr val="BB99FF"/>
                      </a:solidFill>
                      <a:prstDash val="solid"/>
                      <a:round/>
                      <a:headEnd type="none" w="med" len="med"/>
                      <a:tailEnd type="none" w="med" len="med"/>
                    </a:lnB>
                    <a:solidFill>
                      <a:srgbClr val="FFFFFF"/>
                    </a:solidFill>
                  </a:tcPr>
                </a:tc>
              </a:tr>
              <a:tr h="686444">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F1-Score</a:t>
                      </a:r>
                      <a:endParaRPr lang="en-US" sz="1100"/>
                    </a:p>
                  </a:txBody>
                  <a:tcPr marL="47625" marR="47625" marT="47625" marB="47625" anchor="ctr">
                    <a:lnL cmpd="sng" algn="ctr" cap="flat" w="0">
                      <a:solidFill>
                        <a:srgbClr val="BB99FF"/>
                      </a:solidFill>
                      <a:prstDash val="solid"/>
                      <a:round/>
                      <a:headEnd type="none" w="med" len="med"/>
                      <a:tailEnd type="none" w="med" len="med"/>
                    </a:lnL>
                    <a:lnR cmpd="sng" algn="ctr" cap="flat" w="0">
                      <a:solidFill>
                        <a:srgbClr val="BB99FF"/>
                      </a:solidFill>
                      <a:prstDash val="solid"/>
                      <a:round/>
                      <a:headEnd type="none" w="med" len="med"/>
                      <a:tailEnd type="none" w="med" len="med"/>
                    </a:lnR>
                    <a:lnT cmpd="sng" algn="ctr" cap="flat" w="0">
                      <a:solidFill>
                        <a:srgbClr val="BB99FF"/>
                      </a:solidFill>
                      <a:prstDash val="solid"/>
                      <a:round/>
                      <a:headEnd type="none" w="med" len="med"/>
                      <a:tailEnd type="none" w="med" len="med"/>
                    </a:lnT>
                    <a:lnB cmpd="sng" algn="ctr" cap="flat" w="0">
                      <a:solidFill>
                        <a:srgbClr val="BB99FF"/>
                      </a:solidFill>
                      <a:prstDash val="solid"/>
                      <a:round/>
                      <a:headEnd type="none" w="med" len="med"/>
                      <a:tailEnd type="none" w="med" len="med"/>
                    </a:lnB>
                    <a:solidFill>
                      <a:srgbClr val="DECDFF"/>
                    </a:solidFill>
                  </a:tcPr>
                </a:tc>
                <a:tc>
                  <a:txBody>
                    <a:bodyPr anchor="t" rtlCol="false"/>
                    <a:lstStyle/>
                    <a:p>
                      <a:pPr algn="ctr">
                        <a:lnSpc>
                          <a:spcPts val="2800"/>
                        </a:lnSpc>
                        <a:defRPr/>
                      </a:pPr>
                      <a:r>
                        <a:rPr lang="en-US" sz="2000">
                          <a:solidFill>
                            <a:srgbClr val="000000"/>
                          </a:solidFill>
                          <a:latin typeface="Montserrat"/>
                          <a:ea typeface="Montserrat"/>
                          <a:cs typeface="Montserrat"/>
                          <a:sym typeface="Montserrat"/>
                        </a:rPr>
                        <a:t>97.5%</a:t>
                      </a:r>
                      <a:endParaRPr lang="en-US" sz="1100"/>
                    </a:p>
                  </a:txBody>
                  <a:tcPr marL="47625" marR="47625" marT="47625" marB="47625" anchor="ctr">
                    <a:lnL cmpd="sng" algn="ctr" cap="flat" w="0">
                      <a:solidFill>
                        <a:srgbClr val="BB99FF"/>
                      </a:solidFill>
                      <a:prstDash val="solid"/>
                      <a:round/>
                      <a:headEnd type="none" w="med" len="med"/>
                      <a:tailEnd type="none" w="med" len="med"/>
                    </a:lnL>
                    <a:lnR cmpd="sng" algn="ctr" cap="flat" w="0">
                      <a:solidFill>
                        <a:srgbClr val="BB99FF"/>
                      </a:solidFill>
                      <a:prstDash val="solid"/>
                      <a:round/>
                      <a:headEnd type="none" w="med" len="med"/>
                      <a:tailEnd type="none" w="med" len="med"/>
                    </a:lnR>
                    <a:lnT cmpd="sng" algn="ctr" cap="flat" w="0">
                      <a:solidFill>
                        <a:srgbClr val="BB99FF"/>
                      </a:solidFill>
                      <a:prstDash val="solid"/>
                      <a:round/>
                      <a:headEnd type="none" w="med" len="med"/>
                      <a:tailEnd type="none" w="med" len="med"/>
                    </a:lnT>
                    <a:lnB cmpd="sng" algn="ctr" cap="flat" w="0">
                      <a:solidFill>
                        <a:srgbClr val="BB99F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Montserrat"/>
                          <a:ea typeface="Montserrat"/>
                          <a:cs typeface="Montserrat"/>
                          <a:sym typeface="Montserrat"/>
                        </a:rPr>
                        <a:t>92.9%</a:t>
                      </a:r>
                      <a:endParaRPr lang="en-US" sz="1100"/>
                    </a:p>
                  </a:txBody>
                  <a:tcPr marL="47625" marR="47625" marT="47625" marB="47625" anchor="ctr">
                    <a:lnL cmpd="sng" algn="ctr" cap="flat" w="0">
                      <a:solidFill>
                        <a:srgbClr val="BB99FF"/>
                      </a:solidFill>
                      <a:prstDash val="solid"/>
                      <a:round/>
                      <a:headEnd type="none" w="med" len="med"/>
                      <a:tailEnd type="none" w="med" len="med"/>
                    </a:lnL>
                    <a:lnR cmpd="sng" algn="ctr" cap="flat" w="0">
                      <a:solidFill>
                        <a:srgbClr val="BB99FF"/>
                      </a:solidFill>
                      <a:prstDash val="solid"/>
                      <a:round/>
                      <a:headEnd type="none" w="med" len="med"/>
                      <a:tailEnd type="none" w="med" len="med"/>
                    </a:lnR>
                    <a:lnT cmpd="sng" algn="ctr" cap="flat" w="0">
                      <a:solidFill>
                        <a:srgbClr val="BB99FF"/>
                      </a:solidFill>
                      <a:prstDash val="solid"/>
                      <a:round/>
                      <a:headEnd type="none" w="med" len="med"/>
                      <a:tailEnd type="none" w="med" len="med"/>
                    </a:lnT>
                    <a:lnB cmpd="sng" algn="ctr" cap="flat" w="0">
                      <a:solidFill>
                        <a:srgbClr val="BB99FF"/>
                      </a:solidFill>
                      <a:prstDash val="solid"/>
                      <a:round/>
                      <a:headEnd type="none" w="med" len="med"/>
                      <a:tailEnd type="none" w="med" len="med"/>
                    </a:lnB>
                    <a:solidFill>
                      <a:srgbClr val="FFFFFF"/>
                    </a:solidFill>
                  </a:tcPr>
                </a:tc>
              </a:tr>
              <a:tr h="672560">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AUC</a:t>
                      </a:r>
                      <a:endParaRPr lang="en-US" sz="1100"/>
                    </a:p>
                  </a:txBody>
                  <a:tcPr marL="47625" marR="47625" marT="47625" marB="47625" anchor="ctr">
                    <a:lnL cmpd="sng" algn="ctr" cap="flat" w="0">
                      <a:solidFill>
                        <a:srgbClr val="BB99FF"/>
                      </a:solidFill>
                      <a:prstDash val="solid"/>
                      <a:round/>
                      <a:headEnd type="none" w="med" len="med"/>
                      <a:tailEnd type="none" w="med" len="med"/>
                    </a:lnL>
                    <a:lnR cmpd="sng" algn="ctr" cap="flat" w="0">
                      <a:solidFill>
                        <a:srgbClr val="BB99FF"/>
                      </a:solidFill>
                      <a:prstDash val="solid"/>
                      <a:round/>
                      <a:headEnd type="none" w="med" len="med"/>
                      <a:tailEnd type="none" w="med" len="med"/>
                    </a:lnR>
                    <a:lnT cmpd="sng" algn="ctr" cap="flat" w="0">
                      <a:solidFill>
                        <a:srgbClr val="BB99FF"/>
                      </a:solidFill>
                      <a:prstDash val="solid"/>
                      <a:round/>
                      <a:headEnd type="none" w="med" len="med"/>
                      <a:tailEnd type="none" w="med" len="med"/>
                    </a:lnT>
                    <a:lnB cmpd="sng" algn="ctr" cap="flat" w="0">
                      <a:solidFill>
                        <a:srgbClr val="BB99FF"/>
                      </a:solidFill>
                      <a:prstDash val="solid"/>
                      <a:round/>
                      <a:headEnd type="none" w="med" len="med"/>
                      <a:tailEnd type="none" w="med" len="med"/>
                    </a:lnB>
                    <a:solidFill>
                      <a:srgbClr val="DECDFF"/>
                    </a:solidFill>
                  </a:tcPr>
                </a:tc>
                <a:tc>
                  <a:txBody>
                    <a:bodyPr anchor="t" rtlCol="false"/>
                    <a:lstStyle/>
                    <a:p>
                      <a:pPr algn="ctr">
                        <a:lnSpc>
                          <a:spcPts val="2800"/>
                        </a:lnSpc>
                        <a:defRPr/>
                      </a:pPr>
                      <a:r>
                        <a:rPr lang="en-US" sz="2000">
                          <a:solidFill>
                            <a:srgbClr val="000000"/>
                          </a:solidFill>
                          <a:latin typeface="Montserrat"/>
                          <a:ea typeface="Montserrat"/>
                          <a:cs typeface="Montserrat"/>
                          <a:sym typeface="Montserrat"/>
                        </a:rPr>
                        <a:t>99.6%</a:t>
                      </a:r>
                      <a:endParaRPr lang="en-US" sz="1100"/>
                    </a:p>
                  </a:txBody>
                  <a:tcPr marL="47625" marR="47625" marT="47625" marB="47625" anchor="ctr">
                    <a:lnL cmpd="sng" algn="ctr" cap="flat" w="0">
                      <a:solidFill>
                        <a:srgbClr val="BB99FF"/>
                      </a:solidFill>
                      <a:prstDash val="solid"/>
                      <a:round/>
                      <a:headEnd type="none" w="med" len="med"/>
                      <a:tailEnd type="none" w="med" len="med"/>
                    </a:lnL>
                    <a:lnR cmpd="sng" algn="ctr" cap="flat" w="0">
                      <a:solidFill>
                        <a:srgbClr val="BB99FF"/>
                      </a:solidFill>
                      <a:prstDash val="solid"/>
                      <a:round/>
                      <a:headEnd type="none" w="med" len="med"/>
                      <a:tailEnd type="none" w="med" len="med"/>
                    </a:lnR>
                    <a:lnT cmpd="sng" algn="ctr" cap="flat" w="0">
                      <a:solidFill>
                        <a:srgbClr val="BB99FF"/>
                      </a:solidFill>
                      <a:prstDash val="solid"/>
                      <a:round/>
                      <a:headEnd type="none" w="med" len="med"/>
                      <a:tailEnd type="none" w="med" len="med"/>
                    </a:lnT>
                    <a:lnB cmpd="sng" algn="ctr" cap="flat" w="0">
                      <a:solidFill>
                        <a:srgbClr val="BB99F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Montserrat"/>
                          <a:ea typeface="Montserrat"/>
                          <a:cs typeface="Montserrat"/>
                          <a:sym typeface="Montserrat"/>
                        </a:rPr>
                        <a:t>98.7%</a:t>
                      </a:r>
                      <a:endParaRPr lang="en-US" sz="1100"/>
                    </a:p>
                  </a:txBody>
                  <a:tcPr marL="47625" marR="47625" marT="47625" marB="47625" anchor="ctr">
                    <a:lnL cmpd="sng" algn="ctr" cap="flat" w="0">
                      <a:solidFill>
                        <a:srgbClr val="BB99FF"/>
                      </a:solidFill>
                      <a:prstDash val="solid"/>
                      <a:round/>
                      <a:headEnd type="none" w="med" len="med"/>
                      <a:tailEnd type="none" w="med" len="med"/>
                    </a:lnL>
                    <a:lnR cmpd="sng" algn="ctr" cap="flat" w="0">
                      <a:solidFill>
                        <a:srgbClr val="BB99FF"/>
                      </a:solidFill>
                      <a:prstDash val="solid"/>
                      <a:round/>
                      <a:headEnd type="none" w="med" len="med"/>
                      <a:tailEnd type="none" w="med" len="med"/>
                    </a:lnR>
                    <a:lnT cmpd="sng" algn="ctr" cap="flat" w="0">
                      <a:solidFill>
                        <a:srgbClr val="BB99FF"/>
                      </a:solidFill>
                      <a:prstDash val="solid"/>
                      <a:round/>
                      <a:headEnd type="none" w="med" len="med"/>
                      <a:tailEnd type="none" w="med" len="med"/>
                    </a:lnT>
                    <a:lnB cmpd="sng" algn="ctr" cap="flat" w="0">
                      <a:solidFill>
                        <a:srgbClr val="BB99F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9259" t="0" r="-9259" b="0"/>
            </a:stretch>
          </a:blipFill>
        </p:spPr>
      </p:sp>
      <p:grpSp>
        <p:nvGrpSpPr>
          <p:cNvPr name="Group 3" id="3"/>
          <p:cNvGrpSpPr/>
          <p:nvPr/>
        </p:nvGrpSpPr>
        <p:grpSpPr>
          <a:xfrm rot="0">
            <a:off x="17398178" y="-234246"/>
            <a:ext cx="330630" cy="10755493"/>
            <a:chOff x="0" y="0"/>
            <a:chExt cx="87079" cy="2832722"/>
          </a:xfrm>
        </p:grpSpPr>
        <p:sp>
          <p:nvSpPr>
            <p:cNvPr name="Freeform 4" id="4"/>
            <p:cNvSpPr/>
            <p:nvPr/>
          </p:nvSpPr>
          <p:spPr>
            <a:xfrm flipH="false" flipV="false" rot="0">
              <a:off x="0" y="0"/>
              <a:ext cx="87079" cy="2832722"/>
            </a:xfrm>
            <a:custGeom>
              <a:avLst/>
              <a:gdLst/>
              <a:ahLst/>
              <a:cxnLst/>
              <a:rect r="r" b="b" t="t" l="l"/>
              <a:pathLst>
                <a:path h="2832722" w="87079">
                  <a:moveTo>
                    <a:pt x="0" y="0"/>
                  </a:moveTo>
                  <a:lnTo>
                    <a:pt x="87079" y="0"/>
                  </a:lnTo>
                  <a:lnTo>
                    <a:pt x="87079" y="2832722"/>
                  </a:lnTo>
                  <a:lnTo>
                    <a:pt x="0" y="2832722"/>
                  </a:lnTo>
                  <a:close/>
                </a:path>
              </a:pathLst>
            </a:custGeom>
            <a:solidFill>
              <a:srgbClr val="002254"/>
            </a:solidFill>
          </p:spPr>
        </p:sp>
        <p:sp>
          <p:nvSpPr>
            <p:cNvPr name="TextBox 5" id="5"/>
            <p:cNvSpPr txBox="true"/>
            <p:nvPr/>
          </p:nvSpPr>
          <p:spPr>
            <a:xfrm>
              <a:off x="0" y="-38100"/>
              <a:ext cx="87079" cy="2870822"/>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6723937" y="-234246"/>
            <a:ext cx="330630" cy="10755493"/>
            <a:chOff x="0" y="0"/>
            <a:chExt cx="87079" cy="2832722"/>
          </a:xfrm>
        </p:grpSpPr>
        <p:sp>
          <p:nvSpPr>
            <p:cNvPr name="Freeform 7" id="7"/>
            <p:cNvSpPr/>
            <p:nvPr/>
          </p:nvSpPr>
          <p:spPr>
            <a:xfrm flipH="false" flipV="false" rot="0">
              <a:off x="0" y="0"/>
              <a:ext cx="87079" cy="2832722"/>
            </a:xfrm>
            <a:custGeom>
              <a:avLst/>
              <a:gdLst/>
              <a:ahLst/>
              <a:cxnLst/>
              <a:rect r="r" b="b" t="t" l="l"/>
              <a:pathLst>
                <a:path h="2832722" w="87079">
                  <a:moveTo>
                    <a:pt x="0" y="0"/>
                  </a:moveTo>
                  <a:lnTo>
                    <a:pt x="87079" y="0"/>
                  </a:lnTo>
                  <a:lnTo>
                    <a:pt x="87079" y="2832722"/>
                  </a:lnTo>
                  <a:lnTo>
                    <a:pt x="0" y="2832722"/>
                  </a:lnTo>
                  <a:close/>
                </a:path>
              </a:pathLst>
            </a:custGeom>
            <a:solidFill>
              <a:srgbClr val="002254"/>
            </a:solidFill>
          </p:spPr>
        </p:sp>
        <p:sp>
          <p:nvSpPr>
            <p:cNvPr name="TextBox 8" id="8"/>
            <p:cNvSpPr txBox="true"/>
            <p:nvPr/>
          </p:nvSpPr>
          <p:spPr>
            <a:xfrm>
              <a:off x="0" y="-38100"/>
              <a:ext cx="87079" cy="2870822"/>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692764" y="400218"/>
            <a:ext cx="963762" cy="963762"/>
          </a:xfrm>
          <a:custGeom>
            <a:avLst/>
            <a:gdLst/>
            <a:ahLst/>
            <a:cxnLst/>
            <a:rect r="r" b="b" t="t" l="l"/>
            <a:pathLst>
              <a:path h="963762" w="963762">
                <a:moveTo>
                  <a:pt x="0" y="0"/>
                </a:moveTo>
                <a:lnTo>
                  <a:pt x="963761" y="0"/>
                </a:lnTo>
                <a:lnTo>
                  <a:pt x="963761" y="963762"/>
                </a:lnTo>
                <a:lnTo>
                  <a:pt x="0" y="963762"/>
                </a:lnTo>
                <a:lnTo>
                  <a:pt x="0" y="0"/>
                </a:lnTo>
                <a:close/>
              </a:path>
            </a:pathLst>
          </a:custGeom>
          <a:blipFill>
            <a:blip r:embed="rId3"/>
            <a:stretch>
              <a:fillRect l="0" t="0" r="0" b="0"/>
            </a:stretch>
          </a:blipFill>
        </p:spPr>
      </p:sp>
      <p:sp>
        <p:nvSpPr>
          <p:cNvPr name="Freeform 10" id="10"/>
          <p:cNvSpPr/>
          <p:nvPr/>
        </p:nvSpPr>
        <p:spPr>
          <a:xfrm flipH="false" flipV="false" rot="0">
            <a:off x="3013468" y="2456942"/>
            <a:ext cx="11301259" cy="6088553"/>
          </a:xfrm>
          <a:custGeom>
            <a:avLst/>
            <a:gdLst/>
            <a:ahLst/>
            <a:cxnLst/>
            <a:rect r="r" b="b" t="t" l="l"/>
            <a:pathLst>
              <a:path h="6088553" w="11301259">
                <a:moveTo>
                  <a:pt x="0" y="0"/>
                </a:moveTo>
                <a:lnTo>
                  <a:pt x="11301259" y="0"/>
                </a:lnTo>
                <a:lnTo>
                  <a:pt x="11301259" y="6088553"/>
                </a:lnTo>
                <a:lnTo>
                  <a:pt x="0" y="6088553"/>
                </a:lnTo>
                <a:lnTo>
                  <a:pt x="0" y="0"/>
                </a:lnTo>
                <a:close/>
              </a:path>
            </a:pathLst>
          </a:custGeom>
          <a:blipFill>
            <a:blip r:embed="rId4"/>
            <a:stretch>
              <a:fillRect l="0" t="0" r="0" b="0"/>
            </a:stretch>
          </a:blipFill>
        </p:spPr>
      </p:sp>
      <p:sp>
        <p:nvSpPr>
          <p:cNvPr name="TextBox 11" id="11"/>
          <p:cNvSpPr txBox="true"/>
          <p:nvPr/>
        </p:nvSpPr>
        <p:spPr>
          <a:xfrm rot="0">
            <a:off x="2215283" y="1152525"/>
            <a:ext cx="12181597" cy="1304417"/>
          </a:xfrm>
          <a:prstGeom prst="rect">
            <a:avLst/>
          </a:prstGeom>
        </p:spPr>
        <p:txBody>
          <a:bodyPr anchor="t" rtlCol="false" tIns="0" lIns="0" bIns="0" rIns="0">
            <a:spAutoFit/>
          </a:bodyPr>
          <a:lstStyle/>
          <a:p>
            <a:pPr algn="ctr">
              <a:lnSpc>
                <a:spcPts val="5043"/>
              </a:lnSpc>
            </a:pPr>
            <a:r>
              <a:rPr lang="en-US" b="true" sz="5199">
                <a:solidFill>
                  <a:srgbClr val="002254"/>
                </a:solidFill>
                <a:latin typeface="Montserrat Ultra-Bold"/>
                <a:ea typeface="Montserrat Ultra-Bold"/>
                <a:cs typeface="Montserrat Ultra-Bold"/>
                <a:sym typeface="Montserrat Ultra-Bold"/>
              </a:rPr>
              <a:t>COMPARATIVE EXPERIMENTS ACROSS MODELS</a:t>
            </a:r>
          </a:p>
        </p:txBody>
      </p:sp>
      <p:sp>
        <p:nvSpPr>
          <p:cNvPr name="TextBox 12" id="12"/>
          <p:cNvSpPr txBox="true"/>
          <p:nvPr/>
        </p:nvSpPr>
        <p:spPr>
          <a:xfrm rot="0">
            <a:off x="1864064" y="681990"/>
            <a:ext cx="3686274" cy="346710"/>
          </a:xfrm>
          <a:prstGeom prst="rect">
            <a:avLst/>
          </a:prstGeom>
        </p:spPr>
        <p:txBody>
          <a:bodyPr anchor="t" rtlCol="false" tIns="0" lIns="0" bIns="0" rIns="0">
            <a:spAutoFit/>
          </a:bodyPr>
          <a:lstStyle/>
          <a:p>
            <a:pPr algn="ctr">
              <a:lnSpc>
                <a:spcPts val="2400"/>
              </a:lnSpc>
              <a:spcBef>
                <a:spcPct val="0"/>
              </a:spcBef>
            </a:pPr>
            <a:r>
              <a:rPr lang="en-US" b="true" sz="2400">
                <a:solidFill>
                  <a:srgbClr val="0B3454"/>
                </a:solidFill>
                <a:latin typeface="Poppins Semi-Bold"/>
                <a:ea typeface="Poppins Semi-Bold"/>
                <a:cs typeface="Poppins Semi-Bold"/>
                <a:sym typeface="Poppins Semi-Bold"/>
              </a:rPr>
              <a:t>INSTITUT TEKNOLOGI DEL</a:t>
            </a:r>
          </a:p>
        </p:txBody>
      </p:sp>
      <p:sp>
        <p:nvSpPr>
          <p:cNvPr name="TextBox 13" id="13"/>
          <p:cNvSpPr txBox="true"/>
          <p:nvPr/>
        </p:nvSpPr>
        <p:spPr>
          <a:xfrm rot="0">
            <a:off x="1656525" y="8659795"/>
            <a:ext cx="14015145" cy="1001569"/>
          </a:xfrm>
          <a:prstGeom prst="rect">
            <a:avLst/>
          </a:prstGeom>
        </p:spPr>
        <p:txBody>
          <a:bodyPr anchor="t" rtlCol="false" tIns="0" lIns="0" bIns="0" rIns="0">
            <a:spAutoFit/>
          </a:bodyPr>
          <a:lstStyle/>
          <a:p>
            <a:pPr algn="just">
              <a:lnSpc>
                <a:spcPts val="2659"/>
              </a:lnSpc>
              <a:spcBef>
                <a:spcPct val="0"/>
              </a:spcBef>
            </a:pPr>
            <a:r>
              <a:rPr lang="en-US" sz="1899">
                <a:solidFill>
                  <a:srgbClr val="000000"/>
                </a:solidFill>
                <a:latin typeface="Montserrat"/>
                <a:ea typeface="Montserrat"/>
                <a:cs typeface="Montserrat"/>
                <a:sym typeface="Montserrat"/>
              </a:rPr>
              <a:t>On the 40-URL real-world test, Random Forest, XGBoost, and Stacking Ensemble achieved equal accuracy (87.5%). After integrating Rule-Based Filtering, accuracy increased to 90.0% and recall rose to 95.0%, demonstrating its role in reducing missed phishing detections.</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9259" t="0" r="-9259" b="0"/>
            </a:stretch>
          </a:blipFill>
        </p:spPr>
      </p:sp>
      <p:sp>
        <p:nvSpPr>
          <p:cNvPr name="Freeform 3" id="3"/>
          <p:cNvSpPr/>
          <p:nvPr/>
        </p:nvSpPr>
        <p:spPr>
          <a:xfrm flipH="false" flipV="false" rot="0">
            <a:off x="692764" y="400218"/>
            <a:ext cx="963762" cy="963762"/>
          </a:xfrm>
          <a:custGeom>
            <a:avLst/>
            <a:gdLst/>
            <a:ahLst/>
            <a:cxnLst/>
            <a:rect r="r" b="b" t="t" l="l"/>
            <a:pathLst>
              <a:path h="963762" w="963762">
                <a:moveTo>
                  <a:pt x="0" y="0"/>
                </a:moveTo>
                <a:lnTo>
                  <a:pt x="963761" y="0"/>
                </a:lnTo>
                <a:lnTo>
                  <a:pt x="963761" y="963762"/>
                </a:lnTo>
                <a:lnTo>
                  <a:pt x="0" y="963762"/>
                </a:lnTo>
                <a:lnTo>
                  <a:pt x="0" y="0"/>
                </a:lnTo>
                <a:close/>
              </a:path>
            </a:pathLst>
          </a:custGeom>
          <a:blipFill>
            <a:blip r:embed="rId3"/>
            <a:stretch>
              <a:fillRect l="0" t="0" r="0" b="0"/>
            </a:stretch>
          </a:blipFill>
        </p:spPr>
      </p:sp>
      <p:sp>
        <p:nvSpPr>
          <p:cNvPr name="TextBox 4" id="4"/>
          <p:cNvSpPr txBox="true"/>
          <p:nvPr/>
        </p:nvSpPr>
        <p:spPr>
          <a:xfrm rot="0">
            <a:off x="3473870" y="914400"/>
            <a:ext cx="11340260" cy="1028750"/>
          </a:xfrm>
          <a:prstGeom prst="rect">
            <a:avLst/>
          </a:prstGeom>
        </p:spPr>
        <p:txBody>
          <a:bodyPr anchor="t" rtlCol="false" tIns="0" lIns="0" bIns="0" rIns="0">
            <a:spAutoFit/>
          </a:bodyPr>
          <a:lstStyle/>
          <a:p>
            <a:pPr algn="ctr">
              <a:lnSpc>
                <a:spcPts val="8400"/>
              </a:lnSpc>
            </a:pPr>
            <a:r>
              <a:rPr lang="en-US" sz="6000" b="true">
                <a:solidFill>
                  <a:srgbClr val="002254"/>
                </a:solidFill>
                <a:latin typeface="Montserrat Ultra-Bold"/>
                <a:ea typeface="Montserrat Ultra-Bold"/>
                <a:cs typeface="Montserrat Ultra-Bold"/>
                <a:sym typeface="Montserrat Ultra-Bold"/>
              </a:rPr>
              <a:t>DISCUSSION</a:t>
            </a:r>
          </a:p>
        </p:txBody>
      </p:sp>
      <p:sp>
        <p:nvSpPr>
          <p:cNvPr name="TextBox 5" id="5"/>
          <p:cNvSpPr txBox="true"/>
          <p:nvPr/>
        </p:nvSpPr>
        <p:spPr>
          <a:xfrm rot="0">
            <a:off x="1864064" y="681990"/>
            <a:ext cx="3686274" cy="346710"/>
          </a:xfrm>
          <a:prstGeom prst="rect">
            <a:avLst/>
          </a:prstGeom>
        </p:spPr>
        <p:txBody>
          <a:bodyPr anchor="t" rtlCol="false" tIns="0" lIns="0" bIns="0" rIns="0">
            <a:spAutoFit/>
          </a:bodyPr>
          <a:lstStyle/>
          <a:p>
            <a:pPr algn="ctr">
              <a:lnSpc>
                <a:spcPts val="2400"/>
              </a:lnSpc>
              <a:spcBef>
                <a:spcPct val="0"/>
              </a:spcBef>
            </a:pPr>
            <a:r>
              <a:rPr lang="en-US" b="true" sz="2400">
                <a:solidFill>
                  <a:srgbClr val="0B3454"/>
                </a:solidFill>
                <a:latin typeface="Poppins Semi-Bold"/>
                <a:ea typeface="Poppins Semi-Bold"/>
                <a:cs typeface="Poppins Semi-Bold"/>
                <a:sym typeface="Poppins Semi-Bold"/>
              </a:rPr>
              <a:t>INSTITUT TEKNOLOGI DEL</a:t>
            </a:r>
          </a:p>
        </p:txBody>
      </p:sp>
      <p:sp>
        <p:nvSpPr>
          <p:cNvPr name="TextBox 6" id="6"/>
          <p:cNvSpPr txBox="true"/>
          <p:nvPr/>
        </p:nvSpPr>
        <p:spPr>
          <a:xfrm rot="0">
            <a:off x="1028700" y="2803966"/>
            <a:ext cx="16230600" cy="1653441"/>
          </a:xfrm>
          <a:prstGeom prst="rect">
            <a:avLst/>
          </a:prstGeom>
        </p:spPr>
        <p:txBody>
          <a:bodyPr anchor="t" rtlCol="false" tIns="0" lIns="0" bIns="0" rIns="0">
            <a:spAutoFit/>
          </a:bodyPr>
          <a:lstStyle/>
          <a:p>
            <a:pPr algn="just">
              <a:lnSpc>
                <a:spcPts val="3359"/>
              </a:lnSpc>
              <a:spcBef>
                <a:spcPct val="0"/>
              </a:spcBef>
            </a:pPr>
            <a:r>
              <a:rPr lang="en-US" sz="2399">
                <a:solidFill>
                  <a:srgbClr val="000000"/>
                </a:solidFill>
                <a:latin typeface="Montserrat"/>
                <a:ea typeface="Montserrat"/>
                <a:cs typeface="Montserrat"/>
                <a:sym typeface="Montserrat"/>
              </a:rPr>
              <a:t>Hybri</a:t>
            </a:r>
            <a:r>
              <a:rPr lang="en-US" sz="2399">
                <a:solidFill>
                  <a:srgbClr val="000000"/>
                </a:solidFill>
                <a:latin typeface="Montserrat"/>
                <a:ea typeface="Montserrat"/>
                <a:cs typeface="Montserrat"/>
                <a:sym typeface="Montserrat"/>
              </a:rPr>
              <a:t>d models accelerate the machine learning process by applying rule-based filtering early on. High-risk URLs are classified directly without going through the ML model, reducing the amount of data processed by the stacking model. This reduces computational overhead and speeds up inference time. However, this approach has the trade-off of increasing false positives due to stricter rules in the early stages.</a:t>
            </a:r>
          </a:p>
        </p:txBody>
      </p:sp>
      <p:graphicFrame>
        <p:nvGraphicFramePr>
          <p:cNvPr name="Table 7" id="7"/>
          <p:cNvGraphicFramePr>
            <a:graphicFrameLocks noGrp="true"/>
          </p:cNvGraphicFramePr>
          <p:nvPr/>
        </p:nvGraphicFramePr>
        <p:xfrm>
          <a:off x="1457292" y="4848682"/>
          <a:ext cx="15373416" cy="4610136"/>
        </p:xfrm>
        <a:graphic>
          <a:graphicData uri="http://schemas.openxmlformats.org/drawingml/2006/table">
            <a:tbl>
              <a:tblPr/>
              <a:tblGrid>
                <a:gridCol w="3506307"/>
                <a:gridCol w="2728507"/>
                <a:gridCol w="3480381"/>
                <a:gridCol w="5658220"/>
              </a:tblGrid>
              <a:tr h="791433">
                <a:tc>
                  <a:txBody>
                    <a:bodyPr anchor="t" rtlCol="false"/>
                    <a:lstStyle/>
                    <a:p>
                      <a:pPr algn="ctr">
                        <a:lnSpc>
                          <a:spcPts val="2239"/>
                        </a:lnSpc>
                        <a:defRPr/>
                      </a:pPr>
                      <a:r>
                        <a:rPr lang="en-US" sz="1599" b="true">
                          <a:solidFill>
                            <a:srgbClr val="000000"/>
                          </a:solidFill>
                          <a:latin typeface="Poppins Bold"/>
                          <a:ea typeface="Poppins Bold"/>
                          <a:cs typeface="Poppins Bold"/>
                          <a:sym typeface="Poppins Bold"/>
                        </a:rPr>
                        <a:t>Aspect</a:t>
                      </a:r>
                      <a:endParaRPr lang="en-US" sz="1100"/>
                    </a:p>
                  </a:txBody>
                  <a:tcPr marL="47625" marR="47625" marT="47625" marB="47625"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99ACFF"/>
                    </a:solidFill>
                  </a:tcPr>
                </a:tc>
                <a:tc>
                  <a:txBody>
                    <a:bodyPr anchor="t" rtlCol="false"/>
                    <a:lstStyle/>
                    <a:p>
                      <a:pPr algn="ctr">
                        <a:lnSpc>
                          <a:spcPts val="2239"/>
                        </a:lnSpc>
                        <a:defRPr/>
                      </a:pPr>
                      <a:r>
                        <a:rPr lang="en-US" sz="1599" b="true">
                          <a:solidFill>
                            <a:srgbClr val="000000"/>
                          </a:solidFill>
                          <a:latin typeface="Poppins Bold"/>
                          <a:ea typeface="Poppins Bold"/>
                          <a:cs typeface="Poppins Bold"/>
                          <a:sym typeface="Poppins Bold"/>
                        </a:rPr>
                        <a:t>Hybrid (Rule-Based + Stacking)</a:t>
                      </a:r>
                      <a:endParaRPr lang="en-US" sz="1100"/>
                    </a:p>
                  </a:txBody>
                  <a:tcPr marL="47625" marR="47625" marT="47625" marB="47625"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99ACFF"/>
                    </a:solidFill>
                  </a:tcPr>
                </a:tc>
                <a:tc>
                  <a:txBody>
                    <a:bodyPr anchor="t" rtlCol="false"/>
                    <a:lstStyle/>
                    <a:p>
                      <a:pPr algn="ctr">
                        <a:lnSpc>
                          <a:spcPts val="2239"/>
                        </a:lnSpc>
                        <a:defRPr/>
                      </a:pPr>
                      <a:r>
                        <a:rPr lang="en-US" sz="1599" b="true">
                          <a:solidFill>
                            <a:srgbClr val="000000"/>
                          </a:solidFill>
                          <a:latin typeface="Poppins Bold"/>
                          <a:ea typeface="Poppins Bold"/>
                          <a:cs typeface="Poppins Bold"/>
                          <a:sym typeface="Poppins Bold"/>
                        </a:rPr>
                        <a:t>Analysis</a:t>
                      </a:r>
                      <a:endParaRPr lang="en-US" sz="1100"/>
                    </a:p>
                  </a:txBody>
                  <a:tcPr marL="47625" marR="47625" marT="47625" marB="47625"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99ACFF"/>
                    </a:solidFill>
                  </a:tcPr>
                </a:tc>
                <a:tc>
                  <a:txBody>
                    <a:bodyPr anchor="t" rtlCol="false"/>
                    <a:lstStyle/>
                    <a:p>
                      <a:pPr algn="ctr">
                        <a:lnSpc>
                          <a:spcPts val="2239"/>
                        </a:lnSpc>
                        <a:defRPr/>
                      </a:pPr>
                      <a:r>
                        <a:rPr lang="en-US" sz="1599" b="true">
                          <a:solidFill>
                            <a:srgbClr val="000000"/>
                          </a:solidFill>
                          <a:latin typeface="Poppins Bold"/>
                          <a:ea typeface="Poppins Bold"/>
                          <a:cs typeface="Poppins Bold"/>
                          <a:sym typeface="Poppins Bold"/>
                        </a:rPr>
                        <a:t>Stacking</a:t>
                      </a:r>
                      <a:endParaRPr lang="en-US" sz="1100"/>
                    </a:p>
                  </a:txBody>
                  <a:tcPr marL="47625" marR="47625" marT="47625" marB="47625"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99ACFF"/>
                    </a:solidFill>
                  </a:tcPr>
                </a:tc>
              </a:tr>
              <a:tr h="605454">
                <a:tc>
                  <a:txBody>
                    <a:bodyPr anchor="t" rtlCol="false"/>
                    <a:lstStyle/>
                    <a:p>
                      <a:pPr algn="ctr">
                        <a:lnSpc>
                          <a:spcPts val="2239"/>
                        </a:lnSpc>
                        <a:defRPr/>
                      </a:pPr>
                      <a:r>
                        <a:rPr lang="en-US" sz="1599">
                          <a:solidFill>
                            <a:srgbClr val="000000"/>
                          </a:solidFill>
                          <a:latin typeface="Poppins"/>
                          <a:ea typeface="Poppins"/>
                          <a:cs typeface="Poppins"/>
                          <a:sym typeface="Poppins"/>
                        </a:rPr>
                        <a:t>Total URLs</a:t>
                      </a:r>
                      <a:endParaRPr lang="en-US" sz="1100"/>
                    </a:p>
                  </a:txBody>
                  <a:tcPr marL="47625" marR="47625" marT="47625" marB="47625"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2239"/>
                        </a:lnSpc>
                        <a:defRPr/>
                      </a:pPr>
                      <a:r>
                        <a:rPr lang="en-US" sz="1599">
                          <a:solidFill>
                            <a:srgbClr val="000000"/>
                          </a:solidFill>
                          <a:latin typeface="Poppins"/>
                          <a:ea typeface="Poppins"/>
                          <a:cs typeface="Poppins"/>
                          <a:sym typeface="Poppins"/>
                        </a:rPr>
                        <a:t>2286</a:t>
                      </a:r>
                      <a:endParaRPr lang="en-US" sz="1100"/>
                    </a:p>
                  </a:txBody>
                  <a:tcPr marL="47625" marR="47625" marT="47625" marB="47625"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2239"/>
                        </a:lnSpc>
                        <a:defRPr/>
                      </a:pPr>
                      <a:r>
                        <a:rPr lang="en-US" sz="1599">
                          <a:solidFill>
                            <a:srgbClr val="000000"/>
                          </a:solidFill>
                          <a:latin typeface="Poppins"/>
                          <a:ea typeface="Poppins"/>
                          <a:cs typeface="Poppins"/>
                          <a:sym typeface="Poppins"/>
                        </a:rPr>
                        <a:t>Same</a:t>
                      </a:r>
                      <a:endParaRPr lang="en-US" sz="1100"/>
                    </a:p>
                  </a:txBody>
                  <a:tcPr marL="47625" marR="47625" marT="47625" marB="47625"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2239"/>
                        </a:lnSpc>
                        <a:defRPr/>
                      </a:pPr>
                      <a:r>
                        <a:rPr lang="en-US" sz="1599">
                          <a:solidFill>
                            <a:srgbClr val="000000"/>
                          </a:solidFill>
                          <a:latin typeface="Poppins"/>
                          <a:ea typeface="Poppins"/>
                          <a:cs typeface="Poppins"/>
                          <a:sym typeface="Poppins"/>
                        </a:rPr>
                        <a:t>2286</a:t>
                      </a:r>
                      <a:endParaRPr lang="en-US" sz="1100"/>
                    </a:p>
                  </a:txBody>
                  <a:tcPr marL="47625" marR="47625" marT="47625" marB="47625"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r>
              <a:tr h="791433">
                <a:tc>
                  <a:txBody>
                    <a:bodyPr anchor="t" rtlCol="false"/>
                    <a:lstStyle/>
                    <a:p>
                      <a:pPr algn="ctr">
                        <a:lnSpc>
                          <a:spcPts val="2239"/>
                        </a:lnSpc>
                        <a:defRPr/>
                      </a:pPr>
                      <a:r>
                        <a:rPr lang="en-US" sz="1599">
                          <a:solidFill>
                            <a:srgbClr val="000000"/>
                          </a:solidFill>
                          <a:latin typeface="Poppins"/>
                          <a:ea typeface="Poppins"/>
                          <a:cs typeface="Poppins"/>
                          <a:sym typeface="Poppins"/>
                        </a:rPr>
                        <a:t>URLs Processed by Rule-Based</a:t>
                      </a:r>
                      <a:endParaRPr lang="en-US" sz="1100"/>
                    </a:p>
                  </a:txBody>
                  <a:tcPr marL="47625" marR="47625" marT="47625" marB="47625"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2239"/>
                        </a:lnSpc>
                        <a:defRPr/>
                      </a:pPr>
                      <a:r>
                        <a:rPr lang="en-US" sz="1599">
                          <a:solidFill>
                            <a:srgbClr val="000000"/>
                          </a:solidFill>
                          <a:latin typeface="Poppins"/>
                          <a:ea typeface="Poppins"/>
                          <a:cs typeface="Poppins"/>
                          <a:sym typeface="Poppins"/>
                        </a:rPr>
                        <a:t>560 URL</a:t>
                      </a:r>
                      <a:endParaRPr lang="en-US" sz="1100"/>
                    </a:p>
                    <a:p>
                      <a:pPr algn="ctr">
                        <a:lnSpc>
                          <a:spcPts val="2239"/>
                        </a:lnSpc>
                      </a:pPr>
                      <a:r>
                        <a:rPr lang="en-US" sz="1599">
                          <a:solidFill>
                            <a:srgbClr val="000000"/>
                          </a:solidFill>
                          <a:latin typeface="Poppins"/>
                          <a:ea typeface="Poppins"/>
                          <a:cs typeface="Poppins"/>
                          <a:sym typeface="Poppins"/>
                        </a:rPr>
                        <a:t>24.5%</a:t>
                      </a:r>
                    </a:p>
                  </a:txBody>
                  <a:tcPr marL="47625" marR="47625" marT="47625" marB="47625"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2239"/>
                        </a:lnSpc>
                        <a:defRPr/>
                      </a:pPr>
                      <a:r>
                        <a:rPr lang="en-US" sz="1599">
                          <a:solidFill>
                            <a:srgbClr val="000000"/>
                          </a:solidFill>
                          <a:latin typeface="Poppins"/>
                          <a:ea typeface="Poppins"/>
                          <a:cs typeface="Poppins"/>
                          <a:sym typeface="Poppins"/>
                        </a:rPr>
                        <a:t>Hybrid reduces ML workload</a:t>
                      </a:r>
                      <a:endParaRPr lang="en-US" sz="1100"/>
                    </a:p>
                  </a:txBody>
                  <a:tcPr marL="47625" marR="47625" marT="47625" marB="47625"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2239"/>
                        </a:lnSpc>
                        <a:defRPr/>
                      </a:pPr>
                      <a:r>
                        <a:rPr lang="en-US" sz="1599">
                          <a:solidFill>
                            <a:srgbClr val="000000"/>
                          </a:solidFill>
                          <a:latin typeface="Poppins"/>
                          <a:ea typeface="Poppins"/>
                          <a:cs typeface="Poppins"/>
                          <a:sym typeface="Poppins"/>
                        </a:rPr>
                        <a:t>0 (0%)</a:t>
                      </a:r>
                      <a:endParaRPr lang="en-US" sz="1100"/>
                    </a:p>
                  </a:txBody>
                  <a:tcPr marL="47625" marR="47625" marT="47625" marB="47625"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r>
              <a:tr h="605454">
                <a:tc>
                  <a:txBody>
                    <a:bodyPr anchor="t" rtlCol="false"/>
                    <a:lstStyle/>
                    <a:p>
                      <a:pPr algn="ctr">
                        <a:lnSpc>
                          <a:spcPts val="2239"/>
                        </a:lnSpc>
                        <a:defRPr/>
                      </a:pPr>
                      <a:r>
                        <a:rPr lang="en-US" sz="1599">
                          <a:solidFill>
                            <a:srgbClr val="000000"/>
                          </a:solidFill>
                          <a:latin typeface="Poppins"/>
                          <a:ea typeface="Poppins"/>
                          <a:cs typeface="Poppins"/>
                          <a:sym typeface="Poppins"/>
                        </a:rPr>
                        <a:t>URLs Processed by ML</a:t>
                      </a:r>
                      <a:endParaRPr lang="en-US" sz="1100"/>
                    </a:p>
                  </a:txBody>
                  <a:tcPr marL="47625" marR="47625" marT="47625" marB="47625"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2239"/>
                        </a:lnSpc>
                        <a:defRPr/>
                      </a:pPr>
                      <a:r>
                        <a:rPr lang="en-US" sz="1599">
                          <a:solidFill>
                            <a:srgbClr val="000000"/>
                          </a:solidFill>
                          <a:latin typeface="Poppins"/>
                          <a:ea typeface="Poppins"/>
                          <a:cs typeface="Poppins"/>
                          <a:sym typeface="Poppins"/>
                        </a:rPr>
                        <a:t>1.726(75.5%)</a:t>
                      </a:r>
                      <a:endParaRPr lang="en-US" sz="1100"/>
                    </a:p>
                  </a:txBody>
                  <a:tcPr marL="47625" marR="47625" marT="47625" marB="47625"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2239"/>
                        </a:lnSpc>
                        <a:defRPr/>
                      </a:pPr>
                      <a:r>
                        <a:rPr lang="en-US" sz="1599">
                          <a:solidFill>
                            <a:srgbClr val="000000"/>
                          </a:solidFill>
                          <a:latin typeface="Poppins"/>
                          <a:ea typeface="Poppins"/>
                          <a:cs typeface="Poppins"/>
                          <a:sym typeface="Poppins"/>
                        </a:rPr>
                        <a:t>Reduced computational load</a:t>
                      </a:r>
                      <a:endParaRPr lang="en-US" sz="1100"/>
                    </a:p>
                  </a:txBody>
                  <a:tcPr marL="47625" marR="47625" marT="47625" marB="47625"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2239"/>
                        </a:lnSpc>
                        <a:defRPr/>
                      </a:pPr>
                      <a:r>
                        <a:rPr lang="en-US" sz="1599">
                          <a:solidFill>
                            <a:srgbClr val="000000"/>
                          </a:solidFill>
                          <a:latin typeface="Poppins"/>
                          <a:ea typeface="Poppins"/>
                          <a:cs typeface="Poppins"/>
                          <a:sym typeface="Poppins"/>
                        </a:rPr>
                        <a:t>2,286 (100%)</a:t>
                      </a:r>
                      <a:endParaRPr lang="en-US" sz="1100"/>
                    </a:p>
                  </a:txBody>
                  <a:tcPr marL="47625" marR="47625" marT="47625" marB="47625"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r>
              <a:tr h="605454">
                <a:tc>
                  <a:txBody>
                    <a:bodyPr anchor="t" rtlCol="false"/>
                    <a:lstStyle/>
                    <a:p>
                      <a:pPr algn="ctr">
                        <a:lnSpc>
                          <a:spcPts val="2239"/>
                        </a:lnSpc>
                        <a:defRPr/>
                      </a:pPr>
                      <a:r>
                        <a:rPr lang="en-US" sz="1599">
                          <a:solidFill>
                            <a:srgbClr val="000000"/>
                          </a:solidFill>
                          <a:latin typeface="Poppins"/>
                          <a:ea typeface="Poppins"/>
                          <a:cs typeface="Poppins"/>
                          <a:sym typeface="Poppins"/>
                        </a:rPr>
                        <a:t>Batch Time (seconds)</a:t>
                      </a:r>
                      <a:endParaRPr lang="en-US" sz="1100"/>
                    </a:p>
                  </a:txBody>
                  <a:tcPr marL="47625" marR="47625" marT="47625" marB="47625"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2239"/>
                        </a:lnSpc>
                        <a:defRPr/>
                      </a:pPr>
                      <a:r>
                        <a:rPr lang="en-US" sz="1599">
                          <a:solidFill>
                            <a:srgbClr val="000000"/>
                          </a:solidFill>
                          <a:latin typeface="Poppins"/>
                          <a:ea typeface="Poppins"/>
                          <a:cs typeface="Poppins"/>
                          <a:sym typeface="Poppins"/>
                        </a:rPr>
                        <a:t>0.1736</a:t>
                      </a:r>
                      <a:endParaRPr lang="en-US" sz="1100"/>
                    </a:p>
                  </a:txBody>
                  <a:tcPr marL="47625" marR="47625" marT="47625" marB="47625"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2239"/>
                        </a:lnSpc>
                        <a:defRPr/>
                      </a:pPr>
                      <a:r>
                        <a:rPr lang="en-US" sz="1599">
                          <a:solidFill>
                            <a:srgbClr val="000000"/>
                          </a:solidFill>
                          <a:latin typeface="Poppins"/>
                          <a:ea typeface="Poppins"/>
                          <a:cs typeface="Poppins"/>
                          <a:sym typeface="Poppins"/>
                        </a:rPr>
                        <a:t>12.0% faster</a:t>
                      </a:r>
                      <a:endParaRPr lang="en-US" sz="1100"/>
                    </a:p>
                  </a:txBody>
                  <a:tcPr marL="47625" marR="47625" marT="47625" marB="47625"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2239"/>
                        </a:lnSpc>
                        <a:defRPr/>
                      </a:pPr>
                      <a:r>
                        <a:rPr lang="en-US" sz="1599">
                          <a:solidFill>
                            <a:srgbClr val="000000"/>
                          </a:solidFill>
                          <a:latin typeface="Poppins"/>
                          <a:ea typeface="Poppins"/>
                          <a:cs typeface="Poppins"/>
                          <a:sym typeface="Poppins"/>
                        </a:rPr>
                        <a:t>0.1972</a:t>
                      </a:r>
                      <a:endParaRPr lang="en-US" sz="1100"/>
                    </a:p>
                  </a:txBody>
                  <a:tcPr marL="47625" marR="47625" marT="47625" marB="47625"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r>
              <a:tr h="605454">
                <a:tc>
                  <a:txBody>
                    <a:bodyPr anchor="t" rtlCol="false"/>
                    <a:lstStyle/>
                    <a:p>
                      <a:pPr algn="ctr">
                        <a:lnSpc>
                          <a:spcPts val="2239"/>
                        </a:lnSpc>
                        <a:defRPr/>
                      </a:pPr>
                      <a:r>
                        <a:rPr lang="en-US" sz="1599">
                          <a:solidFill>
                            <a:srgbClr val="000000"/>
                          </a:solidFill>
                          <a:latin typeface="Poppins"/>
                          <a:ea typeface="Poppins"/>
                          <a:cs typeface="Poppins"/>
                          <a:sym typeface="Poppins"/>
                        </a:rPr>
                        <a:t>Time Reduction</a:t>
                      </a:r>
                      <a:endParaRPr lang="en-US" sz="1100"/>
                    </a:p>
                  </a:txBody>
                  <a:tcPr marL="47625" marR="47625" marT="47625" marB="47625"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2239"/>
                        </a:lnSpc>
                        <a:defRPr/>
                      </a:pPr>
                      <a:r>
                        <a:rPr lang="en-US" sz="1599">
                          <a:solidFill>
                            <a:srgbClr val="000000"/>
                          </a:solidFill>
                          <a:latin typeface="Poppins"/>
                          <a:ea typeface="Poppins"/>
                          <a:cs typeface="Poppins"/>
                          <a:sym typeface="Poppins"/>
                        </a:rPr>
                        <a:t>0.0236 seconds</a:t>
                      </a:r>
                      <a:endParaRPr lang="en-US" sz="1100"/>
                    </a:p>
                  </a:txBody>
                  <a:tcPr marL="47625" marR="47625" marT="47625" marB="47625"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2239"/>
                        </a:lnSpc>
                        <a:defRPr/>
                      </a:pPr>
                      <a:r>
                        <a:rPr lang="en-US" sz="1599">
                          <a:solidFill>
                            <a:srgbClr val="000000"/>
                          </a:solidFill>
                          <a:latin typeface="Poppins"/>
                          <a:ea typeface="Poppins"/>
                          <a:cs typeface="Poppins"/>
                          <a:sym typeface="Poppins"/>
                        </a:rPr>
                        <a:t>Small but measurable efficiency gain</a:t>
                      </a:r>
                      <a:endParaRPr lang="en-US" sz="1100"/>
                    </a:p>
                  </a:txBody>
                  <a:tcPr marL="47625" marR="47625" marT="47625" marB="47625"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2239"/>
                        </a:lnSpc>
                        <a:defRPr/>
                      </a:pPr>
                      <a:r>
                        <a:rPr lang="en-US" sz="1599">
                          <a:solidFill>
                            <a:srgbClr val="000000"/>
                          </a:solidFill>
                          <a:latin typeface="Poppins"/>
                          <a:ea typeface="Poppins"/>
                          <a:cs typeface="Poppins"/>
                          <a:sym typeface="Poppins"/>
                        </a:rPr>
                        <a:t>–</a:t>
                      </a:r>
                      <a:endParaRPr lang="en-US" sz="1100"/>
                    </a:p>
                  </a:txBody>
                  <a:tcPr marL="47625" marR="47625" marT="47625" marB="47625"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r>
              <a:tr h="605454">
                <a:tc>
                  <a:txBody>
                    <a:bodyPr anchor="t" rtlCol="false"/>
                    <a:lstStyle/>
                    <a:p>
                      <a:pPr algn="ctr">
                        <a:lnSpc>
                          <a:spcPts val="2239"/>
                        </a:lnSpc>
                        <a:defRPr/>
                      </a:pPr>
                      <a:r>
                        <a:rPr lang="en-US" sz="1599">
                          <a:solidFill>
                            <a:srgbClr val="000000"/>
                          </a:solidFill>
                          <a:latin typeface="Poppins"/>
                          <a:ea typeface="Poppins"/>
                          <a:cs typeface="Poppins"/>
                          <a:sym typeface="Poppins"/>
                        </a:rPr>
                        <a:t>Throughput (URLs/s)</a:t>
                      </a:r>
                      <a:endParaRPr lang="en-US" sz="1100"/>
                    </a:p>
                  </a:txBody>
                  <a:tcPr marL="47625" marR="47625" marT="47625" marB="47625"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2239"/>
                        </a:lnSpc>
                        <a:defRPr/>
                      </a:pPr>
                      <a:r>
                        <a:rPr lang="en-US" sz="1599">
                          <a:solidFill>
                            <a:srgbClr val="000000"/>
                          </a:solidFill>
                          <a:latin typeface="Poppins"/>
                          <a:ea typeface="Poppins"/>
                          <a:cs typeface="Poppins"/>
                          <a:sym typeface="Poppins"/>
                        </a:rPr>
                        <a:t>13.164,7</a:t>
                      </a:r>
                      <a:endParaRPr lang="en-US" sz="1100"/>
                    </a:p>
                  </a:txBody>
                  <a:tcPr marL="47625" marR="47625" marT="47625" marB="47625"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2239"/>
                        </a:lnSpc>
                        <a:defRPr/>
                      </a:pPr>
                      <a:r>
                        <a:rPr lang="en-US" sz="1599">
                          <a:solidFill>
                            <a:srgbClr val="000000"/>
                          </a:solidFill>
                          <a:latin typeface="Poppins"/>
                          <a:ea typeface="Poppins"/>
                          <a:cs typeface="Poppins"/>
                          <a:sym typeface="Poppins"/>
                        </a:rPr>
                        <a:t>Slightly higher in Hybrid</a:t>
                      </a:r>
                      <a:endParaRPr lang="en-US" sz="1100"/>
                    </a:p>
                  </a:txBody>
                  <a:tcPr marL="47625" marR="47625" marT="47625" marB="47625"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c>
                  <a:txBody>
                    <a:bodyPr anchor="t" rtlCol="false"/>
                    <a:lstStyle/>
                    <a:p>
                      <a:pPr algn="ctr">
                        <a:lnSpc>
                          <a:spcPts val="2239"/>
                        </a:lnSpc>
                        <a:defRPr/>
                      </a:pPr>
                      <a:r>
                        <a:rPr lang="en-US" sz="1599">
                          <a:solidFill>
                            <a:srgbClr val="000000"/>
                          </a:solidFill>
                          <a:latin typeface="Poppins"/>
                          <a:ea typeface="Poppins"/>
                          <a:cs typeface="Poppins"/>
                          <a:sym typeface="Poppins"/>
                        </a:rPr>
                        <a:t>11.593,1</a:t>
                      </a:r>
                      <a:endParaRPr lang="en-US" sz="1100"/>
                    </a:p>
                  </a:txBody>
                  <a:tcPr marL="47625" marR="47625" marT="47625" marB="47625"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9259" t="0" r="-9259" b="0"/>
            </a:stretch>
          </a:blipFill>
        </p:spPr>
      </p:sp>
      <p:grpSp>
        <p:nvGrpSpPr>
          <p:cNvPr name="Group 3" id="3"/>
          <p:cNvGrpSpPr/>
          <p:nvPr/>
        </p:nvGrpSpPr>
        <p:grpSpPr>
          <a:xfrm rot="0">
            <a:off x="-329739" y="-237765"/>
            <a:ext cx="2060453" cy="11245354"/>
            <a:chOff x="0" y="0"/>
            <a:chExt cx="542671" cy="2961739"/>
          </a:xfrm>
        </p:grpSpPr>
        <p:sp>
          <p:nvSpPr>
            <p:cNvPr name="Freeform 4" id="4"/>
            <p:cNvSpPr/>
            <p:nvPr/>
          </p:nvSpPr>
          <p:spPr>
            <a:xfrm flipH="false" flipV="false" rot="0">
              <a:off x="0" y="0"/>
              <a:ext cx="542671" cy="2961739"/>
            </a:xfrm>
            <a:custGeom>
              <a:avLst/>
              <a:gdLst/>
              <a:ahLst/>
              <a:cxnLst/>
              <a:rect r="r" b="b" t="t" l="l"/>
              <a:pathLst>
                <a:path h="2961739" w="542671">
                  <a:moveTo>
                    <a:pt x="0" y="0"/>
                  </a:moveTo>
                  <a:lnTo>
                    <a:pt x="542671" y="0"/>
                  </a:lnTo>
                  <a:lnTo>
                    <a:pt x="542671" y="2961739"/>
                  </a:lnTo>
                  <a:lnTo>
                    <a:pt x="0" y="2961739"/>
                  </a:lnTo>
                  <a:close/>
                </a:path>
              </a:pathLst>
            </a:custGeom>
            <a:solidFill>
              <a:srgbClr val="002254"/>
            </a:solidFill>
          </p:spPr>
        </p:sp>
        <p:sp>
          <p:nvSpPr>
            <p:cNvPr name="TextBox 5" id="5"/>
            <p:cNvSpPr txBox="true"/>
            <p:nvPr/>
          </p:nvSpPr>
          <p:spPr>
            <a:xfrm>
              <a:off x="0" y="-38100"/>
              <a:ext cx="542671" cy="2999839"/>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5927912" y="6148578"/>
            <a:ext cx="2060453" cy="11245354"/>
            <a:chOff x="0" y="0"/>
            <a:chExt cx="542671" cy="2961739"/>
          </a:xfrm>
        </p:grpSpPr>
        <p:sp>
          <p:nvSpPr>
            <p:cNvPr name="Freeform 7" id="7"/>
            <p:cNvSpPr/>
            <p:nvPr/>
          </p:nvSpPr>
          <p:spPr>
            <a:xfrm flipH="false" flipV="false" rot="0">
              <a:off x="0" y="0"/>
              <a:ext cx="542671" cy="2961739"/>
            </a:xfrm>
            <a:custGeom>
              <a:avLst/>
              <a:gdLst/>
              <a:ahLst/>
              <a:cxnLst/>
              <a:rect r="r" b="b" t="t" l="l"/>
              <a:pathLst>
                <a:path h="2961739" w="542671">
                  <a:moveTo>
                    <a:pt x="0" y="0"/>
                  </a:moveTo>
                  <a:lnTo>
                    <a:pt x="542671" y="0"/>
                  </a:lnTo>
                  <a:lnTo>
                    <a:pt x="542671" y="2961739"/>
                  </a:lnTo>
                  <a:lnTo>
                    <a:pt x="0" y="2961739"/>
                  </a:lnTo>
                  <a:close/>
                </a:path>
              </a:pathLst>
            </a:custGeom>
            <a:solidFill>
              <a:srgbClr val="002254"/>
            </a:solidFill>
          </p:spPr>
        </p:sp>
        <p:sp>
          <p:nvSpPr>
            <p:cNvPr name="TextBox 8" id="8"/>
            <p:cNvSpPr txBox="true"/>
            <p:nvPr/>
          </p:nvSpPr>
          <p:spPr>
            <a:xfrm>
              <a:off x="0" y="-38100"/>
              <a:ext cx="542671" cy="2999839"/>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2321605" y="2520906"/>
            <a:ext cx="13130278" cy="5680064"/>
          </a:xfrm>
          <a:prstGeom prst="rect">
            <a:avLst/>
          </a:prstGeom>
        </p:spPr>
        <p:txBody>
          <a:bodyPr anchor="t" rtlCol="false" tIns="0" lIns="0" bIns="0" rIns="0">
            <a:spAutoFit/>
          </a:bodyPr>
          <a:lstStyle/>
          <a:p>
            <a:pPr algn="just">
              <a:lnSpc>
                <a:spcPts val="3500"/>
              </a:lnSpc>
            </a:pPr>
            <a:r>
              <a:rPr lang="en-US" sz="2500">
                <a:solidFill>
                  <a:srgbClr val="002254"/>
                </a:solidFill>
                <a:latin typeface="Montserrat"/>
                <a:ea typeface="Montserrat"/>
                <a:cs typeface="Montserrat"/>
                <a:sym typeface="Montserrat"/>
              </a:rPr>
              <a:t>The implementation of the hybrid approach offers advantages in terms of computational efficiency. By implementing Rule-Based Filtering at the initial stage, 24.5% of URLs were </a:t>
            </a:r>
            <a:r>
              <a:rPr lang="en-US" sz="2500">
                <a:solidFill>
                  <a:srgbClr val="002254"/>
                </a:solidFill>
                <a:latin typeface="Montserrat"/>
                <a:ea typeface="Montserrat"/>
                <a:cs typeface="Montserrat"/>
                <a:sym typeface="Montserrat"/>
              </a:rPr>
              <a:t>successfully filtered without going through the machine learning process, reducing the computational burden and speeding up inference time by up to 12.0%, as well as increasing system throughput. This demonstrates the effectiveness of the hybrid approach in optimizing the use of computing resources.</a:t>
            </a:r>
          </a:p>
          <a:p>
            <a:pPr algn="just">
              <a:lnSpc>
                <a:spcPts val="3500"/>
              </a:lnSpc>
            </a:pPr>
          </a:p>
          <a:p>
            <a:pPr algn="just">
              <a:lnSpc>
                <a:spcPts val="3500"/>
              </a:lnSpc>
            </a:pPr>
            <a:r>
              <a:rPr lang="en-US" sz="2500">
                <a:solidFill>
                  <a:srgbClr val="002254"/>
                </a:solidFill>
                <a:latin typeface="Montserrat"/>
                <a:ea typeface="Montserrat"/>
                <a:cs typeface="Montserrat"/>
                <a:sym typeface="Montserrat"/>
              </a:rPr>
              <a:t>Furthermore, in terms of system intelligence and resilience, the Stacking model is able to capture complex and non-linear phishing manipulation patterns, which cannot be detected by static rules in rule-based filtering. Thus, the combination of these two approaches results in a system that is not only efficient but also adaptive to the development of increasingly complex phishing attack patterns.</a:t>
            </a:r>
          </a:p>
        </p:txBody>
      </p:sp>
      <p:grpSp>
        <p:nvGrpSpPr>
          <p:cNvPr name="Group 10" id="10"/>
          <p:cNvGrpSpPr/>
          <p:nvPr/>
        </p:nvGrpSpPr>
        <p:grpSpPr>
          <a:xfrm rot="5400000">
            <a:off x="13383524" y="7364012"/>
            <a:ext cx="47625" cy="3836200"/>
            <a:chOff x="0" y="0"/>
            <a:chExt cx="12543" cy="1010357"/>
          </a:xfrm>
        </p:grpSpPr>
        <p:sp>
          <p:nvSpPr>
            <p:cNvPr name="Freeform 11" id="11"/>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12" id="12"/>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5400000">
            <a:off x="13383524" y="7547029"/>
            <a:ext cx="47625" cy="3836200"/>
            <a:chOff x="0" y="0"/>
            <a:chExt cx="12543" cy="1010357"/>
          </a:xfrm>
        </p:grpSpPr>
        <p:sp>
          <p:nvSpPr>
            <p:cNvPr name="Freeform 14" id="14"/>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15" id="15"/>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false" rot="0">
            <a:off x="692764" y="400218"/>
            <a:ext cx="963762" cy="963762"/>
          </a:xfrm>
          <a:custGeom>
            <a:avLst/>
            <a:gdLst/>
            <a:ahLst/>
            <a:cxnLst/>
            <a:rect r="r" b="b" t="t" l="l"/>
            <a:pathLst>
              <a:path h="963762" w="963762">
                <a:moveTo>
                  <a:pt x="0" y="0"/>
                </a:moveTo>
                <a:lnTo>
                  <a:pt x="963761" y="0"/>
                </a:lnTo>
                <a:lnTo>
                  <a:pt x="963761" y="963762"/>
                </a:lnTo>
                <a:lnTo>
                  <a:pt x="0" y="963762"/>
                </a:lnTo>
                <a:lnTo>
                  <a:pt x="0" y="0"/>
                </a:lnTo>
                <a:close/>
              </a:path>
            </a:pathLst>
          </a:custGeom>
          <a:blipFill>
            <a:blip r:embed="rId3"/>
            <a:stretch>
              <a:fillRect l="0" t="0" r="0" b="0"/>
            </a:stretch>
          </a:blipFill>
        </p:spPr>
      </p:sp>
      <p:sp>
        <p:nvSpPr>
          <p:cNvPr name="TextBox 17" id="17"/>
          <p:cNvSpPr txBox="true"/>
          <p:nvPr/>
        </p:nvSpPr>
        <p:spPr>
          <a:xfrm rot="0">
            <a:off x="1864064" y="681990"/>
            <a:ext cx="3686274" cy="346710"/>
          </a:xfrm>
          <a:prstGeom prst="rect">
            <a:avLst/>
          </a:prstGeom>
        </p:spPr>
        <p:txBody>
          <a:bodyPr anchor="t" rtlCol="false" tIns="0" lIns="0" bIns="0" rIns="0">
            <a:spAutoFit/>
          </a:bodyPr>
          <a:lstStyle/>
          <a:p>
            <a:pPr algn="ctr">
              <a:lnSpc>
                <a:spcPts val="2400"/>
              </a:lnSpc>
              <a:spcBef>
                <a:spcPct val="0"/>
              </a:spcBef>
            </a:pPr>
            <a:r>
              <a:rPr lang="en-US" b="true" sz="2400">
                <a:solidFill>
                  <a:srgbClr val="0B3454"/>
                </a:solidFill>
                <a:latin typeface="Poppins Semi-Bold"/>
                <a:ea typeface="Poppins Semi-Bold"/>
                <a:cs typeface="Poppins Semi-Bold"/>
                <a:sym typeface="Poppins Semi-Bold"/>
              </a:rPr>
              <a:t>INSTITUT TEKNOLOGI DEL</a:t>
            </a:r>
          </a:p>
        </p:txBody>
      </p:sp>
      <p:grpSp>
        <p:nvGrpSpPr>
          <p:cNvPr name="Group 18" id="18"/>
          <p:cNvGrpSpPr/>
          <p:nvPr/>
        </p:nvGrpSpPr>
        <p:grpSpPr>
          <a:xfrm rot="5400000">
            <a:off x="4215892" y="-286945"/>
            <a:ext cx="47625" cy="3836200"/>
            <a:chOff x="0" y="0"/>
            <a:chExt cx="12543" cy="1010357"/>
          </a:xfrm>
        </p:grpSpPr>
        <p:sp>
          <p:nvSpPr>
            <p:cNvPr name="Freeform 19" id="19"/>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20" id="20"/>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grpSp>
        <p:nvGrpSpPr>
          <p:cNvPr name="Group 21" id="21"/>
          <p:cNvGrpSpPr/>
          <p:nvPr/>
        </p:nvGrpSpPr>
        <p:grpSpPr>
          <a:xfrm rot="5400000">
            <a:off x="4215892" y="-103929"/>
            <a:ext cx="47625" cy="3836200"/>
            <a:chOff x="0" y="0"/>
            <a:chExt cx="12543" cy="1010357"/>
          </a:xfrm>
        </p:grpSpPr>
        <p:sp>
          <p:nvSpPr>
            <p:cNvPr name="Freeform 22" id="22"/>
            <p:cNvSpPr/>
            <p:nvPr/>
          </p:nvSpPr>
          <p:spPr>
            <a:xfrm flipH="false" flipV="false" rot="0">
              <a:off x="0" y="0"/>
              <a:ext cx="12543" cy="1010357"/>
            </a:xfrm>
            <a:custGeom>
              <a:avLst/>
              <a:gdLst/>
              <a:ahLst/>
              <a:cxnLst/>
              <a:rect r="r" b="b" t="t" l="l"/>
              <a:pathLst>
                <a:path h="1010357" w="12543">
                  <a:moveTo>
                    <a:pt x="0" y="0"/>
                  </a:moveTo>
                  <a:lnTo>
                    <a:pt x="12543" y="0"/>
                  </a:lnTo>
                  <a:lnTo>
                    <a:pt x="12543" y="1010357"/>
                  </a:lnTo>
                  <a:lnTo>
                    <a:pt x="0" y="1010357"/>
                  </a:lnTo>
                  <a:close/>
                </a:path>
              </a:pathLst>
            </a:custGeom>
            <a:solidFill>
              <a:srgbClr val="002254"/>
            </a:solidFill>
          </p:spPr>
        </p:sp>
        <p:sp>
          <p:nvSpPr>
            <p:cNvPr name="TextBox 23" id="23"/>
            <p:cNvSpPr txBox="true"/>
            <p:nvPr/>
          </p:nvSpPr>
          <p:spPr>
            <a:xfrm>
              <a:off x="0" y="-38100"/>
              <a:ext cx="12543" cy="1048457"/>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9259" t="0" r="-9259" b="0"/>
            </a:stretch>
          </a:blipFill>
        </p:spPr>
      </p:sp>
      <p:grpSp>
        <p:nvGrpSpPr>
          <p:cNvPr name="Group 3" id="3"/>
          <p:cNvGrpSpPr/>
          <p:nvPr/>
        </p:nvGrpSpPr>
        <p:grpSpPr>
          <a:xfrm rot="0">
            <a:off x="17398178" y="-234246"/>
            <a:ext cx="330630" cy="10755493"/>
            <a:chOff x="0" y="0"/>
            <a:chExt cx="87079" cy="2832722"/>
          </a:xfrm>
        </p:grpSpPr>
        <p:sp>
          <p:nvSpPr>
            <p:cNvPr name="Freeform 4" id="4"/>
            <p:cNvSpPr/>
            <p:nvPr/>
          </p:nvSpPr>
          <p:spPr>
            <a:xfrm flipH="false" flipV="false" rot="0">
              <a:off x="0" y="0"/>
              <a:ext cx="87079" cy="2832722"/>
            </a:xfrm>
            <a:custGeom>
              <a:avLst/>
              <a:gdLst/>
              <a:ahLst/>
              <a:cxnLst/>
              <a:rect r="r" b="b" t="t" l="l"/>
              <a:pathLst>
                <a:path h="2832722" w="87079">
                  <a:moveTo>
                    <a:pt x="0" y="0"/>
                  </a:moveTo>
                  <a:lnTo>
                    <a:pt x="87079" y="0"/>
                  </a:lnTo>
                  <a:lnTo>
                    <a:pt x="87079" y="2832722"/>
                  </a:lnTo>
                  <a:lnTo>
                    <a:pt x="0" y="2832722"/>
                  </a:lnTo>
                  <a:close/>
                </a:path>
              </a:pathLst>
            </a:custGeom>
            <a:solidFill>
              <a:srgbClr val="002254"/>
            </a:solidFill>
          </p:spPr>
        </p:sp>
        <p:sp>
          <p:nvSpPr>
            <p:cNvPr name="TextBox 5" id="5"/>
            <p:cNvSpPr txBox="true"/>
            <p:nvPr/>
          </p:nvSpPr>
          <p:spPr>
            <a:xfrm>
              <a:off x="0" y="-38100"/>
              <a:ext cx="87079" cy="2870822"/>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1028700" y="3444874"/>
            <a:ext cx="10742082" cy="1698626"/>
          </a:xfrm>
          <a:prstGeom prst="rect">
            <a:avLst/>
          </a:prstGeom>
        </p:spPr>
        <p:txBody>
          <a:bodyPr anchor="t" rtlCol="false" tIns="0" lIns="0" bIns="0" rIns="0">
            <a:spAutoFit/>
          </a:bodyPr>
          <a:lstStyle/>
          <a:p>
            <a:pPr algn="l">
              <a:lnSpc>
                <a:spcPts val="13999"/>
              </a:lnSpc>
            </a:pPr>
            <a:r>
              <a:rPr lang="en-US" sz="9999" b="true">
                <a:solidFill>
                  <a:srgbClr val="002254"/>
                </a:solidFill>
                <a:latin typeface="Montserrat Ultra-Bold"/>
                <a:ea typeface="Montserrat Ultra-Bold"/>
                <a:cs typeface="Montserrat Ultra-Bold"/>
                <a:sym typeface="Montserrat Ultra-Bold"/>
              </a:rPr>
              <a:t>TERIMA KASIH</a:t>
            </a:r>
          </a:p>
        </p:txBody>
      </p:sp>
      <p:grpSp>
        <p:nvGrpSpPr>
          <p:cNvPr name="Group 7" id="7"/>
          <p:cNvGrpSpPr/>
          <p:nvPr/>
        </p:nvGrpSpPr>
        <p:grpSpPr>
          <a:xfrm rot="0">
            <a:off x="16723937" y="-234246"/>
            <a:ext cx="330630" cy="10755493"/>
            <a:chOff x="0" y="0"/>
            <a:chExt cx="87079" cy="2832722"/>
          </a:xfrm>
        </p:grpSpPr>
        <p:sp>
          <p:nvSpPr>
            <p:cNvPr name="Freeform 8" id="8"/>
            <p:cNvSpPr/>
            <p:nvPr/>
          </p:nvSpPr>
          <p:spPr>
            <a:xfrm flipH="false" flipV="false" rot="0">
              <a:off x="0" y="0"/>
              <a:ext cx="87079" cy="2832722"/>
            </a:xfrm>
            <a:custGeom>
              <a:avLst/>
              <a:gdLst/>
              <a:ahLst/>
              <a:cxnLst/>
              <a:rect r="r" b="b" t="t" l="l"/>
              <a:pathLst>
                <a:path h="2832722" w="87079">
                  <a:moveTo>
                    <a:pt x="0" y="0"/>
                  </a:moveTo>
                  <a:lnTo>
                    <a:pt x="87079" y="0"/>
                  </a:lnTo>
                  <a:lnTo>
                    <a:pt x="87079" y="2832722"/>
                  </a:lnTo>
                  <a:lnTo>
                    <a:pt x="0" y="2832722"/>
                  </a:lnTo>
                  <a:close/>
                </a:path>
              </a:pathLst>
            </a:custGeom>
            <a:solidFill>
              <a:srgbClr val="002254"/>
            </a:solidFill>
          </p:spPr>
        </p:sp>
        <p:sp>
          <p:nvSpPr>
            <p:cNvPr name="TextBox 9" id="9"/>
            <p:cNvSpPr txBox="true"/>
            <p:nvPr/>
          </p:nvSpPr>
          <p:spPr>
            <a:xfrm>
              <a:off x="0" y="-38100"/>
              <a:ext cx="87079" cy="2870822"/>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1174644" y="6503034"/>
            <a:ext cx="7717514" cy="514364"/>
          </a:xfrm>
          <a:prstGeom prst="rect">
            <a:avLst/>
          </a:prstGeom>
        </p:spPr>
        <p:txBody>
          <a:bodyPr anchor="t" rtlCol="false" tIns="0" lIns="0" bIns="0" rIns="0">
            <a:spAutoFit/>
          </a:bodyPr>
          <a:lstStyle/>
          <a:p>
            <a:pPr algn="l">
              <a:lnSpc>
                <a:spcPts val="4200"/>
              </a:lnSpc>
            </a:pPr>
            <a:r>
              <a:rPr lang="en-US" sz="3000" b="true">
                <a:solidFill>
                  <a:srgbClr val="002254"/>
                </a:solidFill>
                <a:latin typeface="Montserrat Medium"/>
                <a:ea typeface="Montserrat Medium"/>
                <a:cs typeface="Montserrat Medium"/>
                <a:sym typeface="Montserrat Medium"/>
              </a:rPr>
              <a:t>Presentation By: </a:t>
            </a:r>
            <a:r>
              <a:rPr lang="en-US" sz="3000" b="true">
                <a:solidFill>
                  <a:srgbClr val="002254"/>
                </a:solidFill>
                <a:latin typeface="Montserrat Bold"/>
                <a:ea typeface="Montserrat Bold"/>
                <a:cs typeface="Montserrat Bold"/>
                <a:sym typeface="Montserrat Bold"/>
              </a:rPr>
              <a:t>TASI-2526-115</a:t>
            </a:r>
          </a:p>
        </p:txBody>
      </p:sp>
      <p:sp>
        <p:nvSpPr>
          <p:cNvPr name="Freeform 11" id="11"/>
          <p:cNvSpPr/>
          <p:nvPr/>
        </p:nvSpPr>
        <p:spPr>
          <a:xfrm flipH="false" flipV="false" rot="0">
            <a:off x="692764" y="400218"/>
            <a:ext cx="963762" cy="963762"/>
          </a:xfrm>
          <a:custGeom>
            <a:avLst/>
            <a:gdLst/>
            <a:ahLst/>
            <a:cxnLst/>
            <a:rect r="r" b="b" t="t" l="l"/>
            <a:pathLst>
              <a:path h="963762" w="963762">
                <a:moveTo>
                  <a:pt x="0" y="0"/>
                </a:moveTo>
                <a:lnTo>
                  <a:pt x="963761" y="0"/>
                </a:lnTo>
                <a:lnTo>
                  <a:pt x="963761" y="963762"/>
                </a:lnTo>
                <a:lnTo>
                  <a:pt x="0" y="963762"/>
                </a:lnTo>
                <a:lnTo>
                  <a:pt x="0" y="0"/>
                </a:lnTo>
                <a:close/>
              </a:path>
            </a:pathLst>
          </a:custGeom>
          <a:blipFill>
            <a:blip r:embed="rId3"/>
            <a:stretch>
              <a:fillRect l="0" t="0" r="0" b="0"/>
            </a:stretch>
          </a:blipFill>
        </p:spPr>
      </p:sp>
      <p:sp>
        <p:nvSpPr>
          <p:cNvPr name="TextBox 12" id="12"/>
          <p:cNvSpPr txBox="true"/>
          <p:nvPr/>
        </p:nvSpPr>
        <p:spPr>
          <a:xfrm rot="0">
            <a:off x="1864064" y="681990"/>
            <a:ext cx="3686274" cy="346710"/>
          </a:xfrm>
          <a:prstGeom prst="rect">
            <a:avLst/>
          </a:prstGeom>
        </p:spPr>
        <p:txBody>
          <a:bodyPr anchor="t" rtlCol="false" tIns="0" lIns="0" bIns="0" rIns="0">
            <a:spAutoFit/>
          </a:bodyPr>
          <a:lstStyle/>
          <a:p>
            <a:pPr algn="ctr">
              <a:lnSpc>
                <a:spcPts val="2400"/>
              </a:lnSpc>
              <a:spcBef>
                <a:spcPct val="0"/>
              </a:spcBef>
            </a:pPr>
            <a:r>
              <a:rPr lang="en-US" b="true" sz="2400">
                <a:solidFill>
                  <a:srgbClr val="0B3454"/>
                </a:solidFill>
                <a:latin typeface="Poppins Semi-Bold"/>
                <a:ea typeface="Poppins Semi-Bold"/>
                <a:cs typeface="Poppins Semi-Bold"/>
                <a:sym typeface="Poppins Semi-Bold"/>
              </a:rPr>
              <a:t>INSTITUT TEKNOLOGI DEL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DAG3PqINDjY</dc:identifier>
  <dcterms:modified xsi:type="dcterms:W3CDTF">2011-08-01T06:04:30Z</dcterms:modified>
  <cp:revision>1</cp:revision>
  <dc:title>TASI-2526-115-Presentasi_Sidang_Akhir</dc:title>
</cp:coreProperties>
</file>